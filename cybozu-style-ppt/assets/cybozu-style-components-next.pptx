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10912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" y="960120"/>
            <a:ext cx="896112" cy="365760"/>
          </a:xfrm>
          <a:prstGeom prst="roundRect">
            <a:avLst>
              <a:gd name="adj" fmla="val 45000"/>
            </a:avLst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987552"/>
            <a:ext cx="384048" cy="292608"/>
          </a:xfrm>
          <a:prstGeom prst="ellipse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26464" y="914400"/>
            <a:ext cx="384048" cy="365760"/>
          </a:xfrm>
          <a:prstGeom prst="ellipse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078992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kintone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658368" y="1572768"/>
            <a:ext cx="5394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cybozu-ish editable PPT components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85800" y="248716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身份识别来自 kintone/cybozu，审美标准重新定义为干净、可编辑、业务导向。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3054096"/>
            <a:ext cx="1234440" cy="310896"/>
          </a:xfrm>
          <a:prstGeom prst="roundRect">
            <a:avLst>
              <a:gd name="adj" fmla="val 35294"/>
            </a:avLst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3141147"/>
            <a:ext cx="1014984" cy="10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native shapes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084832" y="3054096"/>
            <a:ext cx="1353312" cy="310896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94560" y="3141147"/>
            <a:ext cx="1133856" cy="10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clean hierarchy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11880" y="3054096"/>
            <a:ext cx="1499616" cy="310896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21608" y="3141147"/>
            <a:ext cx="1280160" cy="10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business modules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89320" y="1051560"/>
            <a:ext cx="2468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89320" y="1051560"/>
            <a:ext cx="2468880" cy="329184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53912" y="1170432"/>
            <a:ext cx="822960" cy="82296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44968" y="1143000"/>
            <a:ext cx="420624" cy="128016"/>
          </a:xfrm>
          <a:prstGeom prst="roundRect">
            <a:avLst>
              <a:gd name="adj" fmla="val 28571"/>
            </a:avLst>
          </a:prstGeom>
          <a:solidFill>
            <a:srgbClr val="D9DEE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0488" y="1581912"/>
            <a:ext cx="1036930" cy="1216152"/>
          </a:xfrm>
          <a:prstGeom prst="roundRect">
            <a:avLst>
              <a:gd name="adj" fmla="val 3527"/>
            </a:avLst>
          </a:prstGeom>
          <a:solidFill>
            <a:srgbClr val="F6F8FA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36792" y="1764792"/>
            <a:ext cx="118872" cy="118872"/>
          </a:xfrm>
          <a:prstGeom prst="ellipse">
            <a:avLst/>
          </a:prstGeom>
          <a:solidFill>
            <a:srgbClr val="F8C4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37960" y="1792224"/>
            <a:ext cx="641909" cy="45720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37960" y="1892808"/>
            <a:ext cx="444398" cy="36576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2084832"/>
            <a:ext cx="118872" cy="118872"/>
          </a:xfrm>
          <a:prstGeom prst="ellipse">
            <a:avLst/>
          </a:prstGeom>
          <a:solidFill>
            <a:srgbClr val="21A6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37960" y="2112264"/>
            <a:ext cx="641909" cy="45720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37960" y="2212848"/>
            <a:ext cx="444398" cy="36576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36792" y="2404872"/>
            <a:ext cx="118872" cy="118872"/>
          </a:xfrm>
          <a:prstGeom prst="ellipse">
            <a:avLst/>
          </a:prstGeom>
          <a:solidFill>
            <a:srgbClr val="F19A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37960" y="2432304"/>
            <a:ext cx="641909" cy="45720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37960" y="2532888"/>
            <a:ext cx="444398" cy="36576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36792" y="2724912"/>
            <a:ext cx="118872" cy="118872"/>
          </a:xfrm>
          <a:prstGeom prst="ellipse">
            <a:avLst/>
          </a:prstGeom>
          <a:solidFill>
            <a:srgbClr val="4BAE6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37960" y="2752344"/>
            <a:ext cx="641909" cy="45720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37960" y="2852928"/>
            <a:ext cx="444398" cy="36576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36792" y="3044952"/>
            <a:ext cx="118872" cy="118872"/>
          </a:xfrm>
          <a:prstGeom prst="ellipse">
            <a:avLst/>
          </a:prstGeom>
          <a:solidFill>
            <a:srgbClr val="3B82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37960" y="3072384"/>
            <a:ext cx="641909" cy="45720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37960" y="3172968"/>
            <a:ext cx="444398" cy="36576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22515" y="2304288"/>
            <a:ext cx="182880" cy="457200"/>
          </a:xfrm>
          <a:prstGeom prst="roundRect">
            <a:avLst>
              <a:gd name="adj" fmla="val 15000"/>
            </a:avLst>
          </a:prstGeom>
          <a:solidFill>
            <a:srgbClr val="F8C4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33411" y="2167128"/>
            <a:ext cx="182880" cy="594360"/>
          </a:xfrm>
          <a:prstGeom prst="roundRect">
            <a:avLst>
              <a:gd name="adj" fmla="val 15000"/>
            </a:avLst>
          </a:prstGeom>
          <a:solidFill>
            <a:srgbClr val="21A6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944307" y="2029968"/>
            <a:ext cx="182880" cy="731520"/>
          </a:xfrm>
          <a:prstGeom prst="roundRect">
            <a:avLst>
              <a:gd name="adj" fmla="val 15000"/>
            </a:avLst>
          </a:prstGeom>
          <a:solidFill>
            <a:srgbClr val="4BAE6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55203" y="1892808"/>
            <a:ext cx="182880" cy="868680"/>
          </a:xfrm>
          <a:prstGeom prst="roundRect">
            <a:avLst>
              <a:gd name="adj" fmla="val 15000"/>
            </a:avLst>
          </a:prstGeom>
          <a:solidFill>
            <a:srgbClr val="F19A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70648" y="1984248"/>
            <a:ext cx="621792" cy="621792"/>
          </a:xfrm>
          <a:prstGeom prst="ellipse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598664" y="2112264"/>
            <a:ext cx="365760" cy="365760"/>
          </a:xfrm>
          <a:prstGeom prst="ellipse">
            <a:avLst/>
          </a:prstGeom>
          <a:solidFill>
            <a:srgbClr val="4BAE65"/>
          </a:solidFill>
          <a:ln w="12700">
            <a:solidFill>
              <a:srgbClr val="4BAE6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63640" y="3456432"/>
            <a:ext cx="1024128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3970">
            <a:solidFill>
              <a:srgbClr val="F8C4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91656" y="3593592"/>
            <a:ext cx="256032" cy="256032"/>
          </a:xfrm>
          <a:prstGeom prst="ellipse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39128" y="3584448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現場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6739128" y="3767328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input</a:t>
            </a:r>
            <a:endParaRPr lang="en-US" sz="560" dirty="0"/>
          </a:p>
        </p:txBody>
      </p:sp>
      <p:sp>
        <p:nvSpPr>
          <p:cNvPr id="46" name="Shape 44"/>
          <p:cNvSpPr/>
          <p:nvPr/>
        </p:nvSpPr>
        <p:spPr>
          <a:xfrm>
            <a:off x="7452360" y="3456432"/>
            <a:ext cx="1024128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3970">
            <a:solidFill>
              <a:srgbClr val="21A6B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580376" y="3593592"/>
            <a:ext cx="256032" cy="256032"/>
          </a:xfrm>
          <a:prstGeom prst="ellipse">
            <a:avLst/>
          </a:prstGeom>
          <a:solidFill>
            <a:srgbClr val="21A6B7"/>
          </a:solidFill>
          <a:ln w="12700">
            <a:solidFill>
              <a:srgbClr val="21A6B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927848" y="3584448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7927848" y="3767328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approve</a:t>
            </a:r>
            <a:endParaRPr lang="en-US" sz="5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10912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38912"/>
            <a:ext cx="128016" cy="109728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9260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 / section chrome patterns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13232" y="658368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cybozu-ish component library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8183880" y="47365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685800" y="1143000"/>
            <a:ext cx="3611880" cy="2514600"/>
          </a:xfrm>
          <a:prstGeom prst="roundRect">
            <a:avLst>
              <a:gd name="adj" fmla="val 2909"/>
            </a:avLst>
          </a:prstGeom>
          <a:solidFill>
            <a:srgbClr val="FFF9E8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143000"/>
            <a:ext cx="361188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" y="1618488"/>
            <a:ext cx="813816" cy="310896"/>
          </a:xfrm>
          <a:prstGeom prst="roundRect">
            <a:avLst>
              <a:gd name="adj" fmla="val 52941"/>
            </a:avLst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1645920"/>
            <a:ext cx="384048" cy="292608"/>
          </a:xfrm>
          <a:prstGeom prst="ellipse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0" y="1572768"/>
            <a:ext cx="384048" cy="365760"/>
          </a:xfrm>
          <a:prstGeom prst="ellipse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16152" y="1737360"/>
            <a:ext cx="722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kintone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1024128" y="21488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大きな主張を先に置く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42416" y="278892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白 / 浅米色 + 黄色规则线。标题强，说明短。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4800600" y="1143000"/>
            <a:ext cx="3611880" cy="2514600"/>
          </a:xfrm>
          <a:prstGeom prst="roundRect">
            <a:avLst>
              <a:gd name="adj" fmla="val 2909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57800" y="1874520"/>
            <a:ext cx="2194560" cy="0"/>
          </a:xfrm>
          <a:prstGeom prst="line">
            <a:avLst/>
          </a:prstGeom>
          <a:noFill/>
          <a:ln w="12700">
            <a:solidFill>
              <a:srgbClr val="8A94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57800" y="1444752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E8A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01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5257800" y="20574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业务改善の全体像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276088" y="27614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slides should feel calm, not decorative.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10912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38912"/>
            <a:ext cx="128016" cy="109728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9260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Problem / insight card set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13232" y="658368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cybozu-ish component library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8183880" y="47365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658368" y="932688"/>
            <a:ext cx="841248" cy="310896"/>
          </a:xfrm>
          <a:prstGeom prst="roundRect">
            <a:avLst>
              <a:gd name="adj" fmla="val 35294"/>
            </a:avLst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019739"/>
            <a:ext cx="621792" cy="10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課題整理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58368" y="1417320"/>
            <a:ext cx="37490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417320"/>
            <a:ext cx="73152" cy="107899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5256" y="1645920"/>
            <a:ext cx="384048" cy="384048"/>
          </a:xfrm>
          <a:prstGeom prst="ellipse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5256" y="174650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40" dirty="0"/>
          </a:p>
        </p:txBody>
      </p:sp>
      <p:sp>
        <p:nvSpPr>
          <p:cNvPr id="14" name="Text 12"/>
          <p:cNvSpPr/>
          <p:nvPr/>
        </p:nvSpPr>
        <p:spPr>
          <a:xfrm>
            <a:off x="1444752" y="1627632"/>
            <a:ext cx="2761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情報が散在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1444752" y="1984248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紙、Excel、メールに分かれ、最新版と担当が見えない。</a:t>
            </a:r>
            <a:endParaRPr lang="en-US" sz="730" dirty="0"/>
          </a:p>
        </p:txBody>
      </p:sp>
      <p:sp>
        <p:nvSpPr>
          <p:cNvPr id="16" name="Shape 14"/>
          <p:cNvSpPr/>
          <p:nvPr/>
        </p:nvSpPr>
        <p:spPr>
          <a:xfrm>
            <a:off x="4709160" y="1417320"/>
            <a:ext cx="37490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1417320"/>
            <a:ext cx="73152" cy="1078992"/>
          </a:xfrm>
          <a:prstGeom prst="rect">
            <a:avLst/>
          </a:prstGeom>
          <a:solidFill>
            <a:srgbClr val="F19A2A"/>
          </a:solidFill>
          <a:ln w="12700">
            <a:solidFill>
              <a:srgbClr val="F19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56048" y="1645920"/>
            <a:ext cx="384048" cy="384048"/>
          </a:xfrm>
          <a:prstGeom prst="ellipse">
            <a:avLst/>
          </a:prstGeom>
          <a:solidFill>
            <a:srgbClr val="F19A2A"/>
          </a:solidFill>
          <a:ln w="12700">
            <a:solidFill>
              <a:srgbClr val="F19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174650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40" dirty="0"/>
          </a:p>
        </p:txBody>
      </p:sp>
      <p:sp>
        <p:nvSpPr>
          <p:cNvPr id="20" name="Text 18"/>
          <p:cNvSpPr/>
          <p:nvPr/>
        </p:nvSpPr>
        <p:spPr>
          <a:xfrm>
            <a:off x="5495544" y="1627632"/>
            <a:ext cx="2761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承認が遅い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5495544" y="1984248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確認、差戻し、証跡管理が人に依存する。</a:t>
            </a:r>
            <a:endParaRPr lang="en-US" sz="730" dirty="0"/>
          </a:p>
        </p:txBody>
      </p:sp>
      <p:sp>
        <p:nvSpPr>
          <p:cNvPr id="22" name="Shape 20"/>
          <p:cNvSpPr/>
          <p:nvPr/>
        </p:nvSpPr>
        <p:spPr>
          <a:xfrm>
            <a:off x="658368" y="2907792"/>
            <a:ext cx="37490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" y="2907792"/>
            <a:ext cx="73152" cy="1078992"/>
          </a:xfrm>
          <a:prstGeom prst="rect">
            <a:avLst/>
          </a:prstGeom>
          <a:solidFill>
            <a:srgbClr val="21A6B7"/>
          </a:solidFill>
          <a:ln w="12700">
            <a:solidFill>
              <a:srgbClr val="21A6B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5256" y="3136392"/>
            <a:ext cx="384048" cy="384048"/>
          </a:xfrm>
          <a:prstGeom prst="ellipse">
            <a:avLst/>
          </a:prstGeom>
          <a:solidFill>
            <a:srgbClr val="21A6B7"/>
          </a:solidFill>
          <a:ln w="12700">
            <a:solidFill>
              <a:srgbClr val="21A6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5256" y="323697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1444752" y="3118104"/>
            <a:ext cx="2761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集計が属人化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1444752" y="3474720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転記と集計が増え、改善の判断が遅れる。</a:t>
            </a:r>
            <a:endParaRPr lang="en-US" sz="730" dirty="0"/>
          </a:p>
        </p:txBody>
      </p:sp>
      <p:sp>
        <p:nvSpPr>
          <p:cNvPr id="28" name="Shape 26"/>
          <p:cNvSpPr/>
          <p:nvPr/>
        </p:nvSpPr>
        <p:spPr>
          <a:xfrm>
            <a:off x="4709160" y="2907792"/>
            <a:ext cx="37490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2907792"/>
            <a:ext cx="73152" cy="1078992"/>
          </a:xfrm>
          <a:prstGeom prst="rect">
            <a:avLst/>
          </a:prstGeom>
          <a:solidFill>
            <a:srgbClr val="4BAE65"/>
          </a:solidFill>
          <a:ln w="12700">
            <a:solidFill>
              <a:srgbClr val="4BAE6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56048" y="3136392"/>
            <a:ext cx="384048" cy="384048"/>
          </a:xfrm>
          <a:prstGeom prst="ellipse">
            <a:avLst/>
          </a:prstGeom>
          <a:solidFill>
            <a:srgbClr val="4BAE65"/>
          </a:solidFill>
          <a:ln w="12700">
            <a:solidFill>
              <a:srgbClr val="4BAE6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56048" y="323697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5495544" y="3118104"/>
            <a:ext cx="2761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横展開しにくい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5495544" y="3474720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業務ごとに型が違い、成功パターンを再利用できない。</a:t>
            </a:r>
            <a:endParaRPr lang="en-US" sz="7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10912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38912"/>
            <a:ext cx="128016" cy="109728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9260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 pack icon tile set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13232" y="658368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cybozu-ish component library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8183880" y="47365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777240" y="1234440"/>
            <a:ext cx="2011680" cy="2697480"/>
          </a:xfrm>
          <a:prstGeom prst="roundRect">
            <a:avLst>
              <a:gd name="adj" fmla="val 4545"/>
            </a:avLst>
          </a:prstGeom>
          <a:solidFill>
            <a:srgbClr val="FFF9E8"/>
          </a:solidFill>
          <a:ln w="13970">
            <a:solidFill>
              <a:srgbClr val="F8C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14813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マスター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143000" y="1965960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F19A2A"/>
          </a:solidFill>
          <a:ln w="12700">
            <a:solidFill>
              <a:srgbClr val="F19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1505834" y="2363907"/>
            <a:ext cx="128748" cy="35113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112264"/>
            <a:ext cx="585216" cy="105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60120" y="2624328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カレンダー</a:t>
            </a:r>
            <a:endParaRPr lang="en-US" sz="620" dirty="0"/>
          </a:p>
        </p:txBody>
      </p:sp>
      <p:sp>
        <p:nvSpPr>
          <p:cNvPr id="14" name="Shape 12"/>
          <p:cNvSpPr/>
          <p:nvPr/>
        </p:nvSpPr>
        <p:spPr>
          <a:xfrm>
            <a:off x="1847088" y="1965960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21A6B7"/>
          </a:solidFill>
          <a:ln w="12700">
            <a:solidFill>
              <a:srgbClr val="21A6B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2700000">
            <a:off x="2209922" y="2363907"/>
            <a:ext cx="128748" cy="35113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47088" y="2112264"/>
            <a:ext cx="585216" cy="105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664208" y="2624328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社員</a:t>
            </a:r>
            <a:endParaRPr lang="en-US" sz="620" dirty="0"/>
          </a:p>
        </p:txBody>
      </p:sp>
      <p:sp>
        <p:nvSpPr>
          <p:cNvPr id="18" name="Shape 16"/>
          <p:cNvSpPr/>
          <p:nvPr/>
        </p:nvSpPr>
        <p:spPr>
          <a:xfrm>
            <a:off x="3154680" y="2377440"/>
            <a:ext cx="548640" cy="438912"/>
          </a:xfrm>
          <a:prstGeom prst="chevron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77640" y="1051560"/>
            <a:ext cx="4251960" cy="3063240"/>
          </a:xfrm>
          <a:prstGeom prst="roundRect">
            <a:avLst>
              <a:gd name="adj" fmla="val 2985"/>
            </a:avLst>
          </a:prstGeom>
          <a:solidFill>
            <a:srgbClr val="FFF9E8"/>
          </a:solidFill>
          <a:ln w="13970">
            <a:solidFill>
              <a:srgbClr val="F8C4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85232" y="12984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業務アプリ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26280" y="1847088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4BAE65"/>
          </a:solidFill>
          <a:ln w="12700">
            <a:solidFill>
              <a:srgbClr val="4BAE6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2700000">
            <a:off x="4889114" y="2245035"/>
            <a:ext cx="128748" cy="35113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1993392"/>
            <a:ext cx="585216" cy="105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343400" y="2505456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申請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5285232" y="1847088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E65A4F"/>
          </a:solidFill>
          <a:ln w="12700">
            <a:solidFill>
              <a:srgbClr val="E65A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2700000">
            <a:off x="5648066" y="2245035"/>
            <a:ext cx="128748" cy="35113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85232" y="1993392"/>
            <a:ext cx="585216" cy="105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102352" y="2505456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承認</a:t>
            </a:r>
            <a:endParaRPr lang="en-US" sz="620" dirty="0"/>
          </a:p>
        </p:txBody>
      </p:sp>
      <p:sp>
        <p:nvSpPr>
          <p:cNvPr id="29" name="Shape 27"/>
          <p:cNvSpPr/>
          <p:nvPr/>
        </p:nvSpPr>
        <p:spPr>
          <a:xfrm>
            <a:off x="6044184" y="1847088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2700000">
            <a:off x="6407018" y="2245035"/>
            <a:ext cx="128748" cy="35113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44184" y="1993392"/>
            <a:ext cx="585216" cy="105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861304" y="2505456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報告</a:t>
            </a:r>
            <a:endParaRPr lang="en-US" sz="620" dirty="0"/>
          </a:p>
        </p:txBody>
      </p:sp>
      <p:sp>
        <p:nvSpPr>
          <p:cNvPr id="33" name="Shape 31"/>
          <p:cNvSpPr/>
          <p:nvPr/>
        </p:nvSpPr>
        <p:spPr>
          <a:xfrm>
            <a:off x="6803136" y="1847088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21A6B7"/>
          </a:solidFill>
          <a:ln w="12700">
            <a:solidFill>
              <a:srgbClr val="21A6B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2700000">
            <a:off x="7165970" y="2245035"/>
            <a:ext cx="128748" cy="35113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03136" y="1993392"/>
            <a:ext cx="585216" cy="105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620256" y="2505456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集計</a:t>
            </a:r>
            <a:endParaRPr lang="en-US" sz="620" dirty="0"/>
          </a:p>
        </p:txBody>
      </p:sp>
      <p:sp>
        <p:nvSpPr>
          <p:cNvPr id="37" name="Shape 35"/>
          <p:cNvSpPr/>
          <p:nvPr/>
        </p:nvSpPr>
        <p:spPr>
          <a:xfrm>
            <a:off x="4892040" y="2852928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F19A2A"/>
          </a:solidFill>
          <a:ln w="12700">
            <a:solidFill>
              <a:srgbClr val="F19A2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2700000">
            <a:off x="5254874" y="3250875"/>
            <a:ext cx="128748" cy="35113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2999232"/>
            <a:ext cx="585216" cy="105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4709160" y="3511296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分析</a:t>
            </a:r>
            <a:endParaRPr lang="en-US" sz="620" dirty="0"/>
          </a:p>
        </p:txBody>
      </p:sp>
      <p:sp>
        <p:nvSpPr>
          <p:cNvPr id="41" name="Shape 39"/>
          <p:cNvSpPr/>
          <p:nvPr/>
        </p:nvSpPr>
        <p:spPr>
          <a:xfrm>
            <a:off x="6437376" y="2852928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4BAE65"/>
          </a:solidFill>
          <a:ln w="12700">
            <a:solidFill>
              <a:srgbClr val="4BAE6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2700000">
            <a:off x="6800210" y="3250875"/>
            <a:ext cx="128748" cy="35113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37376" y="2999232"/>
            <a:ext cx="585216" cy="105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6254496" y="3511296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</a:t>
            </a:r>
            <a:endParaRPr lang="en-US" sz="620" dirty="0"/>
          </a:p>
        </p:txBody>
      </p:sp>
      <p:sp>
        <p:nvSpPr>
          <p:cNvPr id="45" name="Shape 43"/>
          <p:cNvSpPr/>
          <p:nvPr/>
        </p:nvSpPr>
        <p:spPr>
          <a:xfrm>
            <a:off x="4297680" y="3776472"/>
            <a:ext cx="3611880" cy="16459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62272" y="3813048"/>
            <a:ext cx="3273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pack map: repeatable, editable, not screenshot-first</a:t>
            </a:r>
            <a:endParaRPr lang="en-US" sz="6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10912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38912"/>
            <a:ext cx="128016" cy="109728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9260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Workflow / process components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13232" y="658368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cybozu-ish component library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8183880" y="47365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713232" y="1508760"/>
            <a:ext cx="148132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7780">
            <a:solidFill>
              <a:srgbClr val="F8C4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7008" y="960120"/>
            <a:ext cx="493776" cy="493776"/>
          </a:xfrm>
          <a:prstGeom prst="ellipse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088136"/>
            <a:ext cx="493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914400" y="175564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申請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121408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現場が入力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322576" y="1901952"/>
            <a:ext cx="402336" cy="237744"/>
          </a:xfrm>
          <a:prstGeom prst="rightArrow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70632" y="1508760"/>
            <a:ext cx="148132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7780">
            <a:solidFill>
              <a:srgbClr val="21A6B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64408" y="960120"/>
            <a:ext cx="493776" cy="493776"/>
          </a:xfrm>
          <a:prstGeom prst="ellipse">
            <a:avLst/>
          </a:prstGeom>
          <a:solidFill>
            <a:srgbClr val="21A6B7"/>
          </a:solidFill>
          <a:ln w="12700">
            <a:solidFill>
              <a:srgbClr val="21A6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64408" y="1088136"/>
            <a:ext cx="493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2971800" y="175564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971800" y="2121408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担当が確認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379976" y="1901952"/>
            <a:ext cx="402336" cy="237744"/>
          </a:xfrm>
          <a:prstGeom prst="rightArrow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28032" y="1508760"/>
            <a:ext cx="148132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7780">
            <a:solidFill>
              <a:srgbClr val="F19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21808" y="960120"/>
            <a:ext cx="493776" cy="493776"/>
          </a:xfrm>
          <a:prstGeom prst="ellipse">
            <a:avLst/>
          </a:prstGeom>
          <a:solidFill>
            <a:srgbClr val="F19A2A"/>
          </a:solidFill>
          <a:ln w="12700">
            <a:solidFill>
              <a:srgbClr val="F19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21808" y="1088136"/>
            <a:ext cx="493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029200" y="175564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承認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29200" y="2121408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上長が判断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437376" y="1901952"/>
            <a:ext cx="402336" cy="237744"/>
          </a:xfrm>
          <a:prstGeom prst="rightArrow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1508760"/>
            <a:ext cx="148132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7780">
            <a:solidFill>
              <a:srgbClr val="4BAE6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79208" y="960120"/>
            <a:ext cx="493776" cy="493776"/>
          </a:xfrm>
          <a:prstGeom prst="ellipse">
            <a:avLst/>
          </a:prstGeom>
          <a:solidFill>
            <a:srgbClr val="4BAE65"/>
          </a:solidFill>
          <a:ln w="12700">
            <a:solidFill>
              <a:srgbClr val="4BAE6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79208" y="1088136"/>
            <a:ext cx="493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7086600" y="175564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集計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086600" y="2121408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自動で可視化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097280" y="3401568"/>
            <a:ext cx="6949440" cy="530352"/>
          </a:xfrm>
          <a:prstGeom prst="roundRect">
            <a:avLst>
              <a:gd name="adj" fmla="val 27586"/>
            </a:avLst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80160" y="356616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抜け漏れを減らし、進捗と証跡を同じ画面で確認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10912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38912"/>
            <a:ext cx="128016" cy="109728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9260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Dashboard mockup + callout pattern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13232" y="658368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cybozu-ish component library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8183880" y="47365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713232" y="1143000"/>
            <a:ext cx="4069080" cy="2816352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143000"/>
            <a:ext cx="4069080" cy="329184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1261872"/>
            <a:ext cx="822960" cy="82296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69080" y="1234440"/>
            <a:ext cx="420624" cy="128016"/>
          </a:xfrm>
          <a:prstGeom prst="roundRect">
            <a:avLst>
              <a:gd name="adj" fmla="val 28571"/>
            </a:avLst>
          </a:prstGeom>
          <a:solidFill>
            <a:srgbClr val="D9DEE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1673352"/>
            <a:ext cx="1709014" cy="2066544"/>
          </a:xfrm>
          <a:prstGeom prst="roundRect">
            <a:avLst>
              <a:gd name="adj" fmla="val 2140"/>
            </a:avLst>
          </a:prstGeom>
          <a:solidFill>
            <a:srgbClr val="F6F8FA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0704" y="1856232"/>
            <a:ext cx="118872" cy="118872"/>
          </a:xfrm>
          <a:prstGeom prst="ellipse">
            <a:avLst/>
          </a:prstGeom>
          <a:solidFill>
            <a:srgbClr val="F8C4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61872" y="1883664"/>
            <a:ext cx="1057961" cy="45720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61872" y="1984248"/>
            <a:ext cx="732434" cy="36576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0704" y="2176272"/>
            <a:ext cx="118872" cy="118872"/>
          </a:xfrm>
          <a:prstGeom prst="ellipse">
            <a:avLst/>
          </a:prstGeom>
          <a:solidFill>
            <a:srgbClr val="21A6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61872" y="2203704"/>
            <a:ext cx="1057961" cy="45720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61872" y="2304288"/>
            <a:ext cx="732434" cy="36576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0704" y="2496312"/>
            <a:ext cx="118872" cy="118872"/>
          </a:xfrm>
          <a:prstGeom prst="ellipse">
            <a:avLst/>
          </a:prstGeom>
          <a:solidFill>
            <a:srgbClr val="F19A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61872" y="2523744"/>
            <a:ext cx="1057961" cy="45720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61872" y="2624328"/>
            <a:ext cx="732434" cy="36576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0704" y="2816352"/>
            <a:ext cx="118872" cy="118872"/>
          </a:xfrm>
          <a:prstGeom prst="ellipse">
            <a:avLst/>
          </a:prstGeom>
          <a:solidFill>
            <a:srgbClr val="4BAE6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61872" y="2843784"/>
            <a:ext cx="1057961" cy="45720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61872" y="2944368"/>
            <a:ext cx="732434" cy="36576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60704" y="3136392"/>
            <a:ext cx="118872" cy="118872"/>
          </a:xfrm>
          <a:prstGeom prst="ellipse">
            <a:avLst/>
          </a:prstGeom>
          <a:solidFill>
            <a:srgbClr val="3B82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61872" y="3163824"/>
            <a:ext cx="1057961" cy="45720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61872" y="3264408"/>
            <a:ext cx="732434" cy="36576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10535" y="3246120"/>
            <a:ext cx="182880" cy="457200"/>
          </a:xfrm>
          <a:prstGeom prst="roundRect">
            <a:avLst>
              <a:gd name="adj" fmla="val 15000"/>
            </a:avLst>
          </a:prstGeom>
          <a:solidFill>
            <a:srgbClr val="F8C4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21431" y="3108960"/>
            <a:ext cx="182880" cy="594360"/>
          </a:xfrm>
          <a:prstGeom prst="roundRect">
            <a:avLst>
              <a:gd name="adj" fmla="val 15000"/>
            </a:avLst>
          </a:prstGeom>
          <a:solidFill>
            <a:srgbClr val="21A6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32327" y="2971800"/>
            <a:ext cx="182880" cy="731520"/>
          </a:xfrm>
          <a:prstGeom prst="roundRect">
            <a:avLst>
              <a:gd name="adj" fmla="val 15000"/>
            </a:avLst>
          </a:prstGeom>
          <a:solidFill>
            <a:srgbClr val="4BAE6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3223" y="2834640"/>
            <a:ext cx="182880" cy="868680"/>
          </a:xfrm>
          <a:prstGeom prst="roundRect">
            <a:avLst>
              <a:gd name="adj" fmla="val 15000"/>
            </a:avLst>
          </a:prstGeom>
          <a:solidFill>
            <a:srgbClr val="F19A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94760" y="2926080"/>
            <a:ext cx="621792" cy="621792"/>
          </a:xfrm>
          <a:prstGeom prst="ellipse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922776" y="3054096"/>
            <a:ext cx="365760" cy="365760"/>
          </a:xfrm>
          <a:prstGeom prst="ellipse">
            <a:avLst/>
          </a:prstGeom>
          <a:solidFill>
            <a:srgbClr val="4BAE65"/>
          </a:solidFill>
          <a:ln w="12700">
            <a:solidFill>
              <a:srgbClr val="4BAE6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38928" y="1170432"/>
            <a:ext cx="3154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F8C4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16200000">
            <a:off x="5029200" y="1412931"/>
            <a:ext cx="182880" cy="164592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85232" y="1289304"/>
            <a:ext cx="2898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状況を一画面で確認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5285232" y="1536192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一覧、グラフ、アラートを同じ文脈で見せる。</a:t>
            </a:r>
            <a:endParaRPr lang="en-US" sz="680" dirty="0"/>
          </a:p>
        </p:txBody>
      </p:sp>
      <p:sp>
        <p:nvSpPr>
          <p:cNvPr id="38" name="Shape 36"/>
          <p:cNvSpPr/>
          <p:nvPr/>
        </p:nvSpPr>
        <p:spPr>
          <a:xfrm>
            <a:off x="5138928" y="2176272"/>
            <a:ext cx="3154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21A6B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16200000">
            <a:off x="5029200" y="2418771"/>
            <a:ext cx="182880" cy="164592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21A6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85232" y="2295144"/>
            <a:ext cx="2898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改善ポイントを共有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5285232" y="2542032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担当、期限、次アクションを短い言葉で固定する。</a:t>
            </a:r>
            <a:endParaRPr lang="en-US" sz="680" dirty="0"/>
          </a:p>
        </p:txBody>
      </p:sp>
      <p:sp>
        <p:nvSpPr>
          <p:cNvPr id="42" name="Shape 40"/>
          <p:cNvSpPr/>
          <p:nvPr/>
        </p:nvSpPr>
        <p:spPr>
          <a:xfrm>
            <a:off x="5138928" y="3182112"/>
            <a:ext cx="3154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F19A2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16200000">
            <a:off x="5029200" y="3424611"/>
            <a:ext cx="182880" cy="164592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19A2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85232" y="3300984"/>
            <a:ext cx="2898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横展開しやすい型</a:t>
            </a:r>
            <a:endParaRPr lang="en-US" sz="880" dirty="0"/>
          </a:p>
        </p:txBody>
      </p:sp>
      <p:sp>
        <p:nvSpPr>
          <p:cNvPr id="45" name="Text 43"/>
          <p:cNvSpPr/>
          <p:nvPr/>
        </p:nvSpPr>
        <p:spPr>
          <a:xfrm>
            <a:off x="5285232" y="3547872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業務ごとに同じ構造を使い回せるようにする。</a:t>
            </a:r>
            <a:endParaRPr lang="en-US" sz="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10912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38912"/>
            <a:ext cx="128016" cy="109728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9260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Solution map / before-after modules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13232" y="658368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cybozu-ish component library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8183880" y="47365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731520" y="1097280"/>
            <a:ext cx="786384" cy="292608"/>
          </a:xfrm>
          <a:prstGeom prst="roundRect">
            <a:avLst>
              <a:gd name="adj" fmla="val 375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179210"/>
            <a:ext cx="566928" cy="99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Before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892040" y="1097280"/>
            <a:ext cx="713232" cy="292608"/>
          </a:xfrm>
          <a:prstGeom prst="roundRect">
            <a:avLst>
              <a:gd name="adj" fmla="val 37500"/>
            </a:avLst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01768" y="1179210"/>
            <a:ext cx="493776" cy="99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After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68680" y="1874520"/>
            <a:ext cx="713232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1993392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紙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1655064" y="2532888"/>
            <a:ext cx="713232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55064" y="2651760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Excel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2441448" y="1874520"/>
            <a:ext cx="713232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41448" y="1993392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メール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3227832" y="2532888"/>
            <a:ext cx="713232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27832" y="2651760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個別確認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4023360" y="2240280"/>
            <a:ext cx="530352" cy="310896"/>
          </a:xfrm>
          <a:prstGeom prst="rightArrow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92040" y="1664208"/>
            <a:ext cx="3456432" cy="1938528"/>
          </a:xfrm>
          <a:prstGeom prst="roundRect">
            <a:avLst>
              <a:gd name="adj" fmla="val 4717"/>
            </a:avLst>
          </a:prstGeom>
          <a:solidFill>
            <a:srgbClr val="FFF9E8"/>
          </a:solidFill>
          <a:ln w="15240">
            <a:solidFill>
              <a:srgbClr val="F8C4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57800" y="2084832"/>
            <a:ext cx="384048" cy="384048"/>
          </a:xfrm>
          <a:prstGeom prst="ellipse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93208" y="2587752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申請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5989320" y="2084832"/>
            <a:ext cx="384048" cy="384048"/>
          </a:xfrm>
          <a:prstGeom prst="ellipse">
            <a:avLst/>
          </a:prstGeom>
          <a:solidFill>
            <a:srgbClr val="21A6B7"/>
          </a:solidFill>
          <a:ln w="12700">
            <a:solidFill>
              <a:srgbClr val="21A6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24728" y="2587752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承認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6720840" y="2084832"/>
            <a:ext cx="384048" cy="384048"/>
          </a:xfrm>
          <a:prstGeom prst="ellipse">
            <a:avLst/>
          </a:prstGeom>
          <a:solidFill>
            <a:srgbClr val="4BAE65"/>
          </a:solidFill>
          <a:ln w="12700">
            <a:solidFill>
              <a:srgbClr val="4BAE6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56248" y="2587752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集計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7452360" y="2084832"/>
            <a:ext cx="384048" cy="384048"/>
          </a:xfrm>
          <a:prstGeom prst="ellipse">
            <a:avLst/>
          </a:prstGeom>
          <a:solidFill>
            <a:srgbClr val="F19A2A"/>
          </a:solidFill>
          <a:ln w="12700">
            <a:solidFill>
              <a:srgbClr val="F19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87768" y="2587752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5532120" y="3072384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shared kintone work system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10912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38912"/>
            <a:ext cx="128016" cy="109728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9260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Role / responsibility components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13232" y="658368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cybozu-ish component library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8183880" y="47365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713232" y="1033272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人物插画不作为默认风格。业务场景优先用角色标签、责任分工和流程节点表达，避免粗糙 clip-art 拉低质感。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841248" y="1700784"/>
            <a:ext cx="1078992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3970">
            <a:solidFill>
              <a:srgbClr val="F8C4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1837944"/>
            <a:ext cx="256032" cy="256032"/>
          </a:xfrm>
          <a:prstGeom prst="ellipse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16736" y="1828800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現場担当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1316736" y="2011680"/>
            <a:ext cx="475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input</a:t>
            </a:r>
            <a:endParaRPr lang="en-US" sz="560" dirty="0"/>
          </a:p>
        </p:txBody>
      </p:sp>
      <p:sp>
        <p:nvSpPr>
          <p:cNvPr id="13" name="Shape 11"/>
          <p:cNvSpPr/>
          <p:nvPr/>
        </p:nvSpPr>
        <p:spPr>
          <a:xfrm>
            <a:off x="2121408" y="1700784"/>
            <a:ext cx="1078992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3970">
            <a:solidFill>
              <a:srgbClr val="21A6B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49424" y="1837944"/>
            <a:ext cx="256032" cy="256032"/>
          </a:xfrm>
          <a:prstGeom prst="ellipse">
            <a:avLst/>
          </a:prstGeom>
          <a:solidFill>
            <a:srgbClr val="21A6B7"/>
          </a:solidFill>
          <a:ln w="12700">
            <a:solidFill>
              <a:srgbClr val="21A6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96896" y="1828800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承認者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2596896" y="2011680"/>
            <a:ext cx="475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approve</a:t>
            </a:r>
            <a:endParaRPr lang="en-US" sz="560" dirty="0"/>
          </a:p>
        </p:txBody>
      </p:sp>
      <p:sp>
        <p:nvSpPr>
          <p:cNvPr id="17" name="Shape 15"/>
          <p:cNvSpPr/>
          <p:nvPr/>
        </p:nvSpPr>
        <p:spPr>
          <a:xfrm>
            <a:off x="3401568" y="1700784"/>
            <a:ext cx="1078992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3970">
            <a:solidFill>
              <a:srgbClr val="F19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9584" y="1837944"/>
            <a:ext cx="256032" cy="256032"/>
          </a:xfrm>
          <a:prstGeom prst="ellipse">
            <a:avLst/>
          </a:prstGeom>
          <a:solidFill>
            <a:srgbClr val="F19A2A"/>
          </a:solidFill>
          <a:ln w="12700">
            <a:solidFill>
              <a:srgbClr val="F19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77056" y="1828800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管理部門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3877056" y="2011680"/>
            <a:ext cx="475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control</a:t>
            </a:r>
            <a:endParaRPr lang="en-US" sz="560" dirty="0"/>
          </a:p>
        </p:txBody>
      </p:sp>
      <p:sp>
        <p:nvSpPr>
          <p:cNvPr id="21" name="Shape 19"/>
          <p:cNvSpPr/>
          <p:nvPr/>
        </p:nvSpPr>
        <p:spPr>
          <a:xfrm>
            <a:off x="4681728" y="1700784"/>
            <a:ext cx="1078992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3970">
            <a:solidFill>
              <a:srgbClr val="4BAE6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9744" y="1837944"/>
            <a:ext cx="256032" cy="256032"/>
          </a:xfrm>
          <a:prstGeom prst="ellipse">
            <a:avLst/>
          </a:prstGeom>
          <a:solidFill>
            <a:srgbClr val="4BAE65"/>
          </a:solidFill>
          <a:ln w="12700">
            <a:solidFill>
              <a:srgbClr val="4BAE6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57216" y="1828800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経営層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5157216" y="2011680"/>
            <a:ext cx="475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review</a:t>
            </a:r>
            <a:endParaRPr lang="en-US" sz="560" dirty="0"/>
          </a:p>
        </p:txBody>
      </p:sp>
      <p:sp>
        <p:nvSpPr>
          <p:cNvPr id="25" name="Shape 23"/>
          <p:cNvSpPr/>
          <p:nvPr/>
        </p:nvSpPr>
        <p:spPr>
          <a:xfrm>
            <a:off x="5961888" y="1700784"/>
            <a:ext cx="1078992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3970">
            <a:solidFill>
              <a:srgbClr val="3B82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89904" y="1837944"/>
            <a:ext cx="256032" cy="256032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1828800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支援担当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6437376" y="2011680"/>
            <a:ext cx="475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support</a:t>
            </a:r>
            <a:endParaRPr lang="en-US" sz="560" dirty="0"/>
          </a:p>
        </p:txBody>
      </p:sp>
      <p:sp>
        <p:nvSpPr>
          <p:cNvPr id="29" name="Text 27"/>
          <p:cNvSpPr/>
          <p:nvPr/>
        </p:nvSpPr>
        <p:spPr>
          <a:xfrm>
            <a:off x="914400" y="267004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責任分工表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68680" y="3017520"/>
            <a:ext cx="7406640" cy="274320"/>
          </a:xfrm>
          <a:prstGeom prst="roundRect">
            <a:avLst>
              <a:gd name="adj" fmla="val 13333"/>
            </a:avLst>
          </a:prstGeom>
          <a:solidFill>
            <a:srgbClr val="F6F8FA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4128" y="3108960"/>
            <a:ext cx="12344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業務入力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2084832" y="3108960"/>
            <a:ext cx="4572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145536" y="3108960"/>
            <a:ext cx="4572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206240" y="3108960"/>
            <a:ext cx="4572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266944" y="3108960"/>
            <a:ext cx="4572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327648" y="3108960"/>
            <a:ext cx="4572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868680" y="3401568"/>
            <a:ext cx="740664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24128" y="3493008"/>
            <a:ext cx="12344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差戻し確認</a:t>
            </a:r>
            <a:endParaRPr lang="en-US" sz="680" dirty="0"/>
          </a:p>
        </p:txBody>
      </p:sp>
      <p:sp>
        <p:nvSpPr>
          <p:cNvPr id="39" name="Text 37"/>
          <p:cNvSpPr/>
          <p:nvPr/>
        </p:nvSpPr>
        <p:spPr>
          <a:xfrm>
            <a:off x="2084832" y="3493008"/>
            <a:ext cx="4572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145536" y="3493008"/>
            <a:ext cx="4572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206240" y="3493008"/>
            <a:ext cx="4572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266944" y="3493008"/>
            <a:ext cx="4572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327648" y="3493008"/>
            <a:ext cx="4572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868680" y="3785616"/>
            <a:ext cx="7406640" cy="274320"/>
          </a:xfrm>
          <a:prstGeom prst="roundRect">
            <a:avLst>
              <a:gd name="adj" fmla="val 13333"/>
            </a:avLst>
          </a:prstGeom>
          <a:solidFill>
            <a:srgbClr val="F6F8FA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24128" y="3877056"/>
            <a:ext cx="12344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月次レポート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084832" y="3877056"/>
            <a:ext cx="4572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145536" y="3877056"/>
            <a:ext cx="4572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206240" y="3877056"/>
            <a:ext cx="4572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266944" y="3877056"/>
            <a:ext cx="4572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327648" y="3877056"/>
            <a:ext cx="4572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841248" y="4187952"/>
            <a:ext cx="7406640" cy="256032"/>
          </a:xfrm>
          <a:prstGeom prst="roundRect">
            <a:avLst>
              <a:gd name="adj" fmla="val 35714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42416" y="4279392"/>
            <a:ext cx="69951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rule: no people/mascot drawings unless approved visual assets are available.</a:t>
            </a:r>
            <a:endParaRPr lang="en-US" sz="6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10912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38912"/>
            <a:ext cx="128016" cy="109728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9260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Product intro page skeleton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13232" y="658368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cybozu-ish component library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8183880" y="47365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658368" y="960120"/>
            <a:ext cx="841248" cy="310896"/>
          </a:xfrm>
          <a:prstGeom prst="roundRect">
            <a:avLst>
              <a:gd name="adj" fmla="val 35294"/>
            </a:avLst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047171"/>
            <a:ext cx="621792" cy="10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製品紹介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13232" y="148132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現場の情報を一つの業務アプリに集約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31520" y="22128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Screenshot-first ではなく、必要な画面だけを枠に入れ、周辺説明は editable な callout として残す。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864608" y="1024128"/>
            <a:ext cx="3401568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64608" y="1024128"/>
            <a:ext cx="3401568" cy="329184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1143000"/>
            <a:ext cx="822960" cy="82296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52944" y="1115568"/>
            <a:ext cx="420624" cy="128016"/>
          </a:xfrm>
          <a:prstGeom prst="roundRect">
            <a:avLst>
              <a:gd name="adj" fmla="val 28571"/>
            </a:avLst>
          </a:prstGeom>
          <a:solidFill>
            <a:srgbClr val="D9DEE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65776" y="1554480"/>
            <a:ext cx="1428659" cy="1673352"/>
          </a:xfrm>
          <a:prstGeom prst="roundRect">
            <a:avLst>
              <a:gd name="adj" fmla="val 2560"/>
            </a:avLst>
          </a:prstGeom>
          <a:solidFill>
            <a:srgbClr val="F6F8FA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12080" y="1737360"/>
            <a:ext cx="118872" cy="118872"/>
          </a:xfrm>
          <a:prstGeom prst="ellipse">
            <a:avLst/>
          </a:prstGeom>
          <a:solidFill>
            <a:srgbClr val="F8C4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13248" y="1764792"/>
            <a:ext cx="884408" cy="45720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13248" y="1865376"/>
            <a:ext cx="612282" cy="36576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12080" y="2057400"/>
            <a:ext cx="118872" cy="118872"/>
          </a:xfrm>
          <a:prstGeom prst="ellipse">
            <a:avLst/>
          </a:prstGeom>
          <a:solidFill>
            <a:srgbClr val="21A6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13248" y="2084832"/>
            <a:ext cx="884408" cy="45720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13248" y="2185416"/>
            <a:ext cx="612282" cy="36576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12080" y="2377440"/>
            <a:ext cx="118872" cy="118872"/>
          </a:xfrm>
          <a:prstGeom prst="ellipse">
            <a:avLst/>
          </a:prstGeom>
          <a:solidFill>
            <a:srgbClr val="F19A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13248" y="2404872"/>
            <a:ext cx="884408" cy="45720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13248" y="2505456"/>
            <a:ext cx="612282" cy="36576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12080" y="2697480"/>
            <a:ext cx="118872" cy="118872"/>
          </a:xfrm>
          <a:prstGeom prst="ellipse">
            <a:avLst/>
          </a:prstGeom>
          <a:solidFill>
            <a:srgbClr val="4BAE6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13248" y="2724912"/>
            <a:ext cx="884408" cy="45720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13248" y="2825496"/>
            <a:ext cx="612282" cy="36576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12080" y="3017520"/>
            <a:ext cx="118872" cy="118872"/>
          </a:xfrm>
          <a:prstGeom prst="ellipse">
            <a:avLst/>
          </a:prstGeom>
          <a:solidFill>
            <a:srgbClr val="3B82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13248" y="3044952"/>
            <a:ext cx="884408" cy="45720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13248" y="3145536"/>
            <a:ext cx="612282" cy="36576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01455" y="2734056"/>
            <a:ext cx="182880" cy="457200"/>
          </a:xfrm>
          <a:prstGeom prst="roundRect">
            <a:avLst>
              <a:gd name="adj" fmla="val 15000"/>
            </a:avLst>
          </a:prstGeom>
          <a:solidFill>
            <a:srgbClr val="F8C4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12351" y="2596896"/>
            <a:ext cx="182880" cy="594360"/>
          </a:xfrm>
          <a:prstGeom prst="roundRect">
            <a:avLst>
              <a:gd name="adj" fmla="val 15000"/>
            </a:avLst>
          </a:prstGeom>
          <a:solidFill>
            <a:srgbClr val="21A6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23247" y="2459736"/>
            <a:ext cx="182880" cy="731520"/>
          </a:xfrm>
          <a:prstGeom prst="roundRect">
            <a:avLst>
              <a:gd name="adj" fmla="val 15000"/>
            </a:avLst>
          </a:prstGeom>
          <a:solidFill>
            <a:srgbClr val="4BAE6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34143" y="2322576"/>
            <a:ext cx="182880" cy="868680"/>
          </a:xfrm>
          <a:prstGeom prst="roundRect">
            <a:avLst>
              <a:gd name="adj" fmla="val 15000"/>
            </a:avLst>
          </a:prstGeom>
          <a:solidFill>
            <a:srgbClr val="F19A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78624" y="2414016"/>
            <a:ext cx="621792" cy="621792"/>
          </a:xfrm>
          <a:prstGeom prst="ellipse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06640" y="2542032"/>
            <a:ext cx="365760" cy="365760"/>
          </a:xfrm>
          <a:prstGeom prst="ellipse">
            <a:avLst/>
          </a:prstGeom>
          <a:solidFill>
            <a:srgbClr val="4BAE65"/>
          </a:solidFill>
          <a:ln w="12700">
            <a:solidFill>
              <a:srgbClr val="4BAE6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60120" y="3127248"/>
            <a:ext cx="3108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F8C4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16200000">
            <a:off x="850392" y="3369747"/>
            <a:ext cx="182880" cy="164592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06424" y="3246120"/>
            <a:ext cx="2852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入力・一覧・集計を同じ場所に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1106424" y="3493008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提案資料では UI の忠実再現より、何が変わるかを短く示す。</a:t>
            </a:r>
            <a:endParaRPr lang="en-US" sz="680" dirty="0"/>
          </a:p>
        </p:txBody>
      </p:sp>
      <p:sp>
        <p:nvSpPr>
          <p:cNvPr id="42" name="Shape 40"/>
          <p:cNvSpPr/>
          <p:nvPr/>
        </p:nvSpPr>
        <p:spPr>
          <a:xfrm>
            <a:off x="4133088" y="2816352"/>
            <a:ext cx="694944" cy="658368"/>
          </a:xfrm>
          <a:prstGeom prst="line">
            <a:avLst/>
          </a:prstGeom>
          <a:noFill/>
          <a:ln w="15240">
            <a:solidFill>
              <a:srgbClr val="E8AA00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7059168" y="3703320"/>
            <a:ext cx="1170432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3970">
            <a:solidFill>
              <a:srgbClr val="F8C4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187184" y="3840480"/>
            <a:ext cx="256032" cy="256032"/>
          </a:xfrm>
          <a:prstGeom prst="ellipse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34656" y="3831336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利用者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7534656" y="4014216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daily input</a:t>
            </a:r>
            <a:endParaRPr lang="en-US" sz="5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10912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38912"/>
            <a:ext cx="128016" cy="109728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9260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Industry proposal one-pager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13232" y="658368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cybozu-ish component library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8183880" y="47365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658368" y="941832"/>
            <a:ext cx="960120" cy="310896"/>
          </a:xfrm>
          <a:prstGeom prst="roundRect">
            <a:avLst>
              <a:gd name="adj" fmla="val 35294"/>
            </a:avLst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028883"/>
            <a:ext cx="740664" cy="10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製造業向け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13232" y="142646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設備・品質・受発注の現場データを横断管理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184708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枚で課題、パック構成、導入後の見え方を示す提案骨格。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731520" y="2359152"/>
            <a:ext cx="239572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359152"/>
            <a:ext cx="73152" cy="960120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8408" y="2587752"/>
            <a:ext cx="384048" cy="384048"/>
          </a:xfrm>
          <a:prstGeom prst="ellipse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268833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1517904" y="2569464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現場入力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1517904" y="2926080"/>
            <a:ext cx="1408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設備点検、不良、作業記録を標準フォーム化。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3401568" y="2359152"/>
            <a:ext cx="239572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01568" y="2359152"/>
            <a:ext cx="73152" cy="960120"/>
          </a:xfrm>
          <a:prstGeom prst="rect">
            <a:avLst/>
          </a:prstGeom>
          <a:solidFill>
            <a:srgbClr val="F19A2A"/>
          </a:solidFill>
          <a:ln w="12700">
            <a:solidFill>
              <a:srgbClr val="F19A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48456" y="2587752"/>
            <a:ext cx="384048" cy="384048"/>
          </a:xfrm>
          <a:prstGeom prst="ellipse">
            <a:avLst/>
          </a:prstGeom>
          <a:solidFill>
            <a:srgbClr val="F19A2A"/>
          </a:solidFill>
          <a:ln w="12700">
            <a:solidFill>
              <a:srgbClr val="F19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48456" y="268833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4187952" y="2569464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承認・通知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4187952" y="2926080"/>
            <a:ext cx="1408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異常値や差戻しを担当者へすぐ共有。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6071616" y="2359152"/>
            <a:ext cx="239572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71616" y="2359152"/>
            <a:ext cx="73152" cy="960120"/>
          </a:xfrm>
          <a:prstGeom prst="rect">
            <a:avLst/>
          </a:prstGeom>
          <a:solidFill>
            <a:srgbClr val="21A6B7"/>
          </a:solidFill>
          <a:ln w="12700">
            <a:solidFill>
              <a:srgbClr val="21A6B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18504" y="2587752"/>
            <a:ext cx="384048" cy="384048"/>
          </a:xfrm>
          <a:prstGeom prst="ellipse">
            <a:avLst/>
          </a:prstGeom>
          <a:solidFill>
            <a:srgbClr val="21A6B7"/>
          </a:solidFill>
          <a:ln w="12700">
            <a:solidFill>
              <a:srgbClr val="21A6B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18504" y="268833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858000" y="2569464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改善分析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6858000" y="2926080"/>
            <a:ext cx="1408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月次集計と改善アクションを同じ型で管理。</a:t>
            </a:r>
            <a:endParaRPr lang="en-US" sz="730" dirty="0"/>
          </a:p>
        </p:txBody>
      </p:sp>
      <p:sp>
        <p:nvSpPr>
          <p:cNvPr id="30" name="Shape 28"/>
          <p:cNvSpPr/>
          <p:nvPr/>
        </p:nvSpPr>
        <p:spPr>
          <a:xfrm>
            <a:off x="749808" y="3767328"/>
            <a:ext cx="7662672" cy="384048"/>
          </a:xfrm>
          <a:prstGeom prst="roundRect">
            <a:avLst>
              <a:gd name="adj" fmla="val 28571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3904488"/>
            <a:ext cx="7223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Proposal rule: fewer screenshots, stronger claim title, editable business structure.</a:t>
            </a:r>
            <a:endParaRPr lang="en-US" sz="6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10912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38912"/>
            <a:ext cx="128016" cy="109728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9260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Implementation path / next action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13232" y="658368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cybozu-ish component library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8183880" y="47365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658368" y="960120"/>
            <a:ext cx="1078992" cy="310896"/>
          </a:xfrm>
          <a:prstGeom prst="roundRect">
            <a:avLst>
              <a:gd name="adj" fmla="val 35294"/>
            </a:avLst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047171"/>
            <a:ext cx="859536" cy="10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導入ステップ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252728" y="1572768"/>
            <a:ext cx="475488" cy="475488"/>
          </a:xfrm>
          <a:prstGeom prst="ellipse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2728" y="1700784"/>
            <a:ext cx="475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49808" y="2231136"/>
            <a:ext cx="1481328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2450592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現状整理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32688" y="2743200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対象業務と帳票を確認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2359152" y="2542032"/>
            <a:ext cx="347472" cy="201168"/>
          </a:xfrm>
          <a:prstGeom prst="rightArrow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1572768"/>
            <a:ext cx="475488" cy="475488"/>
          </a:xfrm>
          <a:prstGeom prst="ellipse">
            <a:avLst/>
          </a:prstGeom>
          <a:solidFill>
            <a:srgbClr val="21A6B7"/>
          </a:solidFill>
          <a:ln w="12700">
            <a:solidFill>
              <a:srgbClr val="21A6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700784"/>
            <a:ext cx="475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88920" y="2231136"/>
            <a:ext cx="1481328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71800" y="2450592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小さく構築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971800" y="2743200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業務からアプリ化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4398264" y="2542032"/>
            <a:ext cx="347472" cy="201168"/>
          </a:xfrm>
          <a:prstGeom prst="rightArrow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30952" y="1572768"/>
            <a:ext cx="475488" cy="475488"/>
          </a:xfrm>
          <a:prstGeom prst="ellipse">
            <a:avLst/>
          </a:prstGeom>
          <a:solidFill>
            <a:srgbClr val="F19A2A"/>
          </a:solidFill>
          <a:ln w="12700">
            <a:solidFill>
              <a:srgbClr val="F19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30952" y="1700784"/>
            <a:ext cx="475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28032" y="2231136"/>
            <a:ext cx="1481328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0912" y="2450592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現場検証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10912" y="2743200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入力負荷と権限を調整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6437376" y="2542032"/>
            <a:ext cx="347472" cy="201168"/>
          </a:xfrm>
          <a:prstGeom prst="rightArrow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70064" y="1572768"/>
            <a:ext cx="475488" cy="475488"/>
          </a:xfrm>
          <a:prstGeom prst="ellipse">
            <a:avLst/>
          </a:prstGeom>
          <a:solidFill>
            <a:srgbClr val="4BAE65"/>
          </a:solidFill>
          <a:ln w="12700">
            <a:solidFill>
              <a:srgbClr val="4BAE6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70064" y="1700784"/>
            <a:ext cx="475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67144" y="2231136"/>
            <a:ext cx="1481328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50024" y="2450592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横展開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050024" y="2743200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成功パターンを他部門へ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1024128" y="3886200"/>
            <a:ext cx="7086600" cy="475488"/>
          </a:xfrm>
          <a:prstGeom prst="roundRect">
            <a:avLst>
              <a:gd name="adj" fmla="val 26923"/>
            </a:avLst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25296" y="4041648"/>
            <a:ext cx="6675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次のアクション: 対象業務を 1 つ選び、30 分で画面と運用を確認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10912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38912"/>
            <a:ext cx="128016" cy="109728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9260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Approved character / scenario assets 1/5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13232" y="658368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cybozu-ish component library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8183880" y="47365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713232" y="9875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既存資料から抽出した透明背景 PNG。人物やキャラクターは画像資産として使い、説明・矢印・役割ラベルは editable PPT elements で重ねる。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713232" y="1389888"/>
            <a:ext cx="168249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10" name="Image 0" descr="C:\Users\bxu\dev\cybozush\cysh-style-ppt\cybozu-style-ppt\assets\characters\business-avatar-blue-t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1499616"/>
            <a:ext cx="512064" cy="51206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4672" y="2066544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CHAR-001 blue tie avatar</a:t>
            </a:r>
            <a:endParaRPr lang="en-US" sz="560" dirty="0"/>
          </a:p>
        </p:txBody>
      </p:sp>
      <p:sp>
        <p:nvSpPr>
          <p:cNvPr id="12" name="Text 9"/>
          <p:cNvSpPr/>
          <p:nvPr/>
        </p:nvSpPr>
        <p:spPr>
          <a:xfrm>
            <a:off x="804672" y="2176272"/>
            <a:ext cx="14996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工作人物</a:t>
            </a:r>
            <a:endParaRPr lang="en-US" sz="480" dirty="0"/>
          </a:p>
        </p:txBody>
      </p:sp>
      <p:sp>
        <p:nvSpPr>
          <p:cNvPr id="13" name="Shape 10"/>
          <p:cNvSpPr/>
          <p:nvPr/>
        </p:nvSpPr>
        <p:spPr>
          <a:xfrm>
            <a:off x="2688336" y="1389888"/>
            <a:ext cx="168249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14" name="Image 1" descr="C:\Users\bxu\dev\cybozush\cysh-style-ppt\cybozu-style-ppt\assets\characters\business-chat-three-peo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552" y="1499616"/>
            <a:ext cx="512064" cy="5120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779776" y="2066544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CHAR-002 three-person chat</a:t>
            </a:r>
            <a:endParaRPr lang="en-US" sz="560" dirty="0"/>
          </a:p>
        </p:txBody>
      </p:sp>
      <p:sp>
        <p:nvSpPr>
          <p:cNvPr id="16" name="Text 12"/>
          <p:cNvSpPr/>
          <p:nvPr/>
        </p:nvSpPr>
        <p:spPr>
          <a:xfrm>
            <a:off x="2779776" y="2176272"/>
            <a:ext cx="14996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工作人物</a:t>
            </a:r>
            <a:endParaRPr lang="en-US" sz="480" dirty="0"/>
          </a:p>
        </p:txBody>
      </p:sp>
      <p:sp>
        <p:nvSpPr>
          <p:cNvPr id="17" name="Shape 13"/>
          <p:cNvSpPr/>
          <p:nvPr/>
        </p:nvSpPr>
        <p:spPr>
          <a:xfrm>
            <a:off x="4663440" y="1389888"/>
            <a:ext cx="168249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18" name="Image 2" descr="C:\Users\bxu\dev\cybozush\cysh-style-ppt\cybozu-style-ppt\assets\characters\business-chat-two-peo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8656" y="1499616"/>
            <a:ext cx="512064" cy="5120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54880" y="2066544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CHAR-003 business chat</a:t>
            </a:r>
            <a:endParaRPr lang="en-US" sz="560" dirty="0"/>
          </a:p>
        </p:txBody>
      </p:sp>
      <p:sp>
        <p:nvSpPr>
          <p:cNvPr id="20" name="Text 15"/>
          <p:cNvSpPr/>
          <p:nvPr/>
        </p:nvSpPr>
        <p:spPr>
          <a:xfrm>
            <a:off x="4754880" y="2176272"/>
            <a:ext cx="14996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工作人物</a:t>
            </a:r>
            <a:endParaRPr lang="en-US" sz="480" dirty="0"/>
          </a:p>
        </p:txBody>
      </p:sp>
      <p:sp>
        <p:nvSpPr>
          <p:cNvPr id="21" name="Shape 16"/>
          <p:cNvSpPr/>
          <p:nvPr/>
        </p:nvSpPr>
        <p:spPr>
          <a:xfrm>
            <a:off x="6638544" y="1389888"/>
            <a:ext cx="168249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22" name="Image 3" descr="C:\Users\bxu\dev\cybozush\cysh-style-ppt\cybozu-style-ppt\assets\characters\business-man-dark-sui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1499616"/>
            <a:ext cx="512064" cy="51206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729984" y="2066544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CHAR-004 dark suit avatar</a:t>
            </a:r>
            <a:endParaRPr lang="en-US" sz="560" dirty="0"/>
          </a:p>
        </p:txBody>
      </p:sp>
      <p:sp>
        <p:nvSpPr>
          <p:cNvPr id="24" name="Text 18"/>
          <p:cNvSpPr/>
          <p:nvPr/>
        </p:nvSpPr>
        <p:spPr>
          <a:xfrm>
            <a:off x="6729984" y="2176272"/>
            <a:ext cx="14996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工作人物</a:t>
            </a:r>
            <a:endParaRPr lang="en-US" sz="480" dirty="0"/>
          </a:p>
        </p:txBody>
      </p:sp>
      <p:sp>
        <p:nvSpPr>
          <p:cNvPr id="25" name="Shape 19"/>
          <p:cNvSpPr/>
          <p:nvPr/>
        </p:nvSpPr>
        <p:spPr>
          <a:xfrm>
            <a:off x="713232" y="2468880"/>
            <a:ext cx="168249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26" name="Image 4" descr="C:\Users\bxu\dev\cybozush\cysh-style-ppt\cybozu-style-ppt\assets\characters\business-man-fro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8448" y="2578608"/>
            <a:ext cx="512064" cy="5120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04672" y="3145536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CHAR-005 business man</a:t>
            </a:r>
            <a:endParaRPr lang="en-US" sz="560" dirty="0"/>
          </a:p>
        </p:txBody>
      </p:sp>
      <p:sp>
        <p:nvSpPr>
          <p:cNvPr id="28" name="Text 21"/>
          <p:cNvSpPr/>
          <p:nvPr/>
        </p:nvSpPr>
        <p:spPr>
          <a:xfrm>
            <a:off x="804672" y="3255264"/>
            <a:ext cx="14996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工作人物</a:t>
            </a:r>
            <a:endParaRPr lang="en-US" sz="480" dirty="0"/>
          </a:p>
        </p:txBody>
      </p:sp>
      <p:sp>
        <p:nvSpPr>
          <p:cNvPr id="29" name="Shape 22"/>
          <p:cNvSpPr/>
          <p:nvPr/>
        </p:nvSpPr>
        <p:spPr>
          <a:xfrm>
            <a:off x="2688336" y="2468880"/>
            <a:ext cx="168249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30" name="Image 5" descr="C:\Users\bxu\dev\cybozush\cysh-style-ppt\cybozu-style-ppt\assets\characters\business-man-glasse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3552" y="2578608"/>
            <a:ext cx="512064" cy="51206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2779776" y="3145536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CHAR-006 glasses avatar</a:t>
            </a:r>
            <a:endParaRPr lang="en-US" sz="560" dirty="0"/>
          </a:p>
        </p:txBody>
      </p:sp>
      <p:sp>
        <p:nvSpPr>
          <p:cNvPr id="32" name="Text 24"/>
          <p:cNvSpPr/>
          <p:nvPr/>
        </p:nvSpPr>
        <p:spPr>
          <a:xfrm>
            <a:off x="2779776" y="3255264"/>
            <a:ext cx="14996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工作人物</a:t>
            </a:r>
            <a:endParaRPr lang="en-US" sz="480" dirty="0"/>
          </a:p>
        </p:txBody>
      </p:sp>
      <p:sp>
        <p:nvSpPr>
          <p:cNvPr id="33" name="Shape 25"/>
          <p:cNvSpPr/>
          <p:nvPr/>
        </p:nvSpPr>
        <p:spPr>
          <a:xfrm>
            <a:off x="4663440" y="2468880"/>
            <a:ext cx="168249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34" name="Image 6" descr="C:\Users\bxu\dev\cybozush\cysh-style-ppt\cybozu-style-ppt\assets\characters\business-person-clipboard-orang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8656" y="2578608"/>
            <a:ext cx="512064" cy="512064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4754880" y="3145536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CHAR-007 clipboard person</a:t>
            </a:r>
            <a:endParaRPr lang="en-US" sz="560" dirty="0"/>
          </a:p>
        </p:txBody>
      </p:sp>
      <p:sp>
        <p:nvSpPr>
          <p:cNvPr id="36" name="Text 27"/>
          <p:cNvSpPr/>
          <p:nvPr/>
        </p:nvSpPr>
        <p:spPr>
          <a:xfrm>
            <a:off x="4754880" y="3255264"/>
            <a:ext cx="14996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工作人物</a:t>
            </a:r>
            <a:endParaRPr lang="en-US" sz="480" dirty="0"/>
          </a:p>
        </p:txBody>
      </p:sp>
      <p:sp>
        <p:nvSpPr>
          <p:cNvPr id="37" name="Shape 28"/>
          <p:cNvSpPr/>
          <p:nvPr/>
        </p:nvSpPr>
        <p:spPr>
          <a:xfrm>
            <a:off x="6638544" y="2468880"/>
            <a:ext cx="168249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38" name="Image 7" descr="C:\Users\bxu\dev\cybozush\cysh-style-ppt\cybozu-style-ppt\assets\characters\business-person-clipboar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3760" y="2578608"/>
            <a:ext cx="512064" cy="512064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6729984" y="3145536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CHAR-008 clipboard person 2</a:t>
            </a:r>
            <a:endParaRPr lang="en-US" sz="560" dirty="0"/>
          </a:p>
        </p:txBody>
      </p:sp>
      <p:sp>
        <p:nvSpPr>
          <p:cNvPr id="40" name="Text 30"/>
          <p:cNvSpPr/>
          <p:nvPr/>
        </p:nvSpPr>
        <p:spPr>
          <a:xfrm>
            <a:off x="6729984" y="3255264"/>
            <a:ext cx="14996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工作人物</a:t>
            </a:r>
            <a:endParaRPr lang="en-US" sz="480" dirty="0"/>
          </a:p>
        </p:txBody>
      </p:sp>
      <p:sp>
        <p:nvSpPr>
          <p:cNvPr id="41" name="Shape 31"/>
          <p:cNvSpPr/>
          <p:nvPr/>
        </p:nvSpPr>
        <p:spPr>
          <a:xfrm>
            <a:off x="713232" y="3547872"/>
            <a:ext cx="168249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42" name="Image 8" descr="C:\Users\bxu\dev\cybozush\cysh-style-ppt\cybozu-style-ppt\assets\characters\business-person-suit-brow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8448" y="3657600"/>
            <a:ext cx="512064" cy="512064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804672" y="4224528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CHAR-009 business suit</a:t>
            </a:r>
            <a:endParaRPr lang="en-US" sz="560" dirty="0"/>
          </a:p>
        </p:txBody>
      </p:sp>
      <p:sp>
        <p:nvSpPr>
          <p:cNvPr id="44" name="Text 33"/>
          <p:cNvSpPr/>
          <p:nvPr/>
        </p:nvSpPr>
        <p:spPr>
          <a:xfrm>
            <a:off x="804672" y="4334256"/>
            <a:ext cx="14996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工作人物</a:t>
            </a:r>
            <a:endParaRPr lang="en-US" sz="480" dirty="0"/>
          </a:p>
        </p:txBody>
      </p:sp>
      <p:sp>
        <p:nvSpPr>
          <p:cNvPr id="45" name="Shape 34"/>
          <p:cNvSpPr/>
          <p:nvPr/>
        </p:nvSpPr>
        <p:spPr>
          <a:xfrm>
            <a:off x="2688336" y="3547872"/>
            <a:ext cx="168249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46" name="Image 9" descr="C:\Users\bxu\dev\cybozush\cysh-style-ppt\cybozu-style-ppt\assets\characters\business-person-suit-orang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73552" y="3657600"/>
            <a:ext cx="512064" cy="512064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2779776" y="4224528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CHAR-010 business suit 2</a:t>
            </a:r>
            <a:endParaRPr lang="en-US" sz="560" dirty="0"/>
          </a:p>
        </p:txBody>
      </p:sp>
      <p:sp>
        <p:nvSpPr>
          <p:cNvPr id="48" name="Text 36"/>
          <p:cNvSpPr/>
          <p:nvPr/>
        </p:nvSpPr>
        <p:spPr>
          <a:xfrm>
            <a:off x="2779776" y="4334256"/>
            <a:ext cx="14996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工作人物</a:t>
            </a:r>
            <a:endParaRPr lang="en-US" sz="480" dirty="0"/>
          </a:p>
        </p:txBody>
      </p:sp>
      <p:sp>
        <p:nvSpPr>
          <p:cNvPr id="49" name="Shape 37"/>
          <p:cNvSpPr/>
          <p:nvPr/>
        </p:nvSpPr>
        <p:spPr>
          <a:xfrm>
            <a:off x="4663440" y="3547872"/>
            <a:ext cx="168249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50" name="Image 10" descr="C:\Users\bxu\dev\cybozush\cysh-style-ppt\cybozu-style-ppt\assets\characters\business-woman-casual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48656" y="3657600"/>
            <a:ext cx="512064" cy="512064"/>
          </a:xfrm>
          <a:prstGeom prst="rect">
            <a:avLst/>
          </a:prstGeom>
        </p:spPr>
      </p:pic>
      <p:sp>
        <p:nvSpPr>
          <p:cNvPr id="51" name="Text 38"/>
          <p:cNvSpPr/>
          <p:nvPr/>
        </p:nvSpPr>
        <p:spPr>
          <a:xfrm>
            <a:off x="4754880" y="4224528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CHAR-011 woman casual</a:t>
            </a:r>
            <a:endParaRPr lang="en-US" sz="560" dirty="0"/>
          </a:p>
        </p:txBody>
      </p:sp>
      <p:sp>
        <p:nvSpPr>
          <p:cNvPr id="52" name="Text 39"/>
          <p:cNvSpPr/>
          <p:nvPr/>
        </p:nvSpPr>
        <p:spPr>
          <a:xfrm>
            <a:off x="4754880" y="4334256"/>
            <a:ext cx="14996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工作人物</a:t>
            </a:r>
            <a:endParaRPr lang="en-US" sz="480" dirty="0"/>
          </a:p>
        </p:txBody>
      </p:sp>
      <p:sp>
        <p:nvSpPr>
          <p:cNvPr id="53" name="Shape 40"/>
          <p:cNvSpPr/>
          <p:nvPr/>
        </p:nvSpPr>
        <p:spPr>
          <a:xfrm>
            <a:off x="6638544" y="3547872"/>
            <a:ext cx="168249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54" name="Image 11" descr="C:\Users\bxu\dev\cybozush\cysh-style-ppt\cybozu-style-ppt\assets\characters\business-woman-clipboar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21736" y="3657600"/>
            <a:ext cx="316112" cy="512064"/>
          </a:xfrm>
          <a:prstGeom prst="rect">
            <a:avLst/>
          </a:prstGeom>
        </p:spPr>
      </p:pic>
      <p:sp>
        <p:nvSpPr>
          <p:cNvPr id="55" name="Text 41"/>
          <p:cNvSpPr/>
          <p:nvPr/>
        </p:nvSpPr>
        <p:spPr>
          <a:xfrm>
            <a:off x="6729984" y="4224528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CHAR-012 woman clipboard</a:t>
            </a:r>
            <a:endParaRPr lang="en-US" sz="560" dirty="0"/>
          </a:p>
        </p:txBody>
      </p:sp>
      <p:sp>
        <p:nvSpPr>
          <p:cNvPr id="56" name="Text 42"/>
          <p:cNvSpPr/>
          <p:nvPr/>
        </p:nvSpPr>
        <p:spPr>
          <a:xfrm>
            <a:off x="6729984" y="4334256"/>
            <a:ext cx="14996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工作人物</a:t>
            </a:r>
            <a:endParaRPr lang="en-US" sz="480" dirty="0"/>
          </a:p>
        </p:txBody>
      </p:sp>
      <p:sp>
        <p:nvSpPr>
          <p:cNvPr id="57" name="Shape 43"/>
          <p:cNvSpPr/>
          <p:nvPr/>
        </p:nvSpPr>
        <p:spPr>
          <a:xfrm>
            <a:off x="713232" y="4590288"/>
            <a:ext cx="7726680" cy="201168"/>
          </a:xfrm>
          <a:prstGeom prst="roundRect">
            <a:avLst>
              <a:gd name="adj" fmla="val 36364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58" name="Text 44"/>
          <p:cNvSpPr/>
          <p:nvPr/>
        </p:nvSpPr>
        <p:spPr>
          <a:xfrm>
            <a:off x="932688" y="4654296"/>
            <a:ext cx="722376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policy: one illustration family per slide; do not mix these with rough native-shape people.</a:t>
            </a:r>
            <a:endParaRPr lang="en-US" sz="5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10912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38912"/>
            <a:ext cx="128016" cy="109728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9260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Approved character / scenario assets 2/5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13232" y="658368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cybozu-ish component library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8183880" y="47365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713232" y="9875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既存資料から抽出した透明背景 PNG。人物やキャラクターは画像資産として使い、説明・矢印・役割ラベルは editable PPT elements で重ねる。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713232" y="1389888"/>
            <a:ext cx="168249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10" name="Image 0" descr="C:\Users\bxu\dev\cybozush\cysh-style-ppt\cybozu-style-ppt\assets\characters\business-woman-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1499616"/>
            <a:ext cx="512064" cy="51206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4672" y="2066544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CHAR-013 woman avatar</a:t>
            </a:r>
            <a:endParaRPr lang="en-US" sz="560" dirty="0"/>
          </a:p>
        </p:txBody>
      </p:sp>
      <p:sp>
        <p:nvSpPr>
          <p:cNvPr id="12" name="Text 9"/>
          <p:cNvSpPr/>
          <p:nvPr/>
        </p:nvSpPr>
        <p:spPr>
          <a:xfrm>
            <a:off x="804672" y="2176272"/>
            <a:ext cx="14996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工作人物</a:t>
            </a:r>
            <a:endParaRPr lang="en-US" sz="480" dirty="0"/>
          </a:p>
        </p:txBody>
      </p:sp>
      <p:sp>
        <p:nvSpPr>
          <p:cNvPr id="13" name="Shape 10"/>
          <p:cNvSpPr/>
          <p:nvPr/>
        </p:nvSpPr>
        <p:spPr>
          <a:xfrm>
            <a:off x="2688336" y="1389888"/>
            <a:ext cx="168249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14" name="Image 1" descr="C:\Users\bxu\dev\cybozush\cysh-style-ppt\cybozu-style-ppt\assets\characters\business-woman-stan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2775" y="1499616"/>
            <a:ext cx="333617" cy="5120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779776" y="2066544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CHAR-014 business woman</a:t>
            </a:r>
            <a:endParaRPr lang="en-US" sz="560" dirty="0"/>
          </a:p>
        </p:txBody>
      </p:sp>
      <p:sp>
        <p:nvSpPr>
          <p:cNvPr id="16" name="Text 12"/>
          <p:cNvSpPr/>
          <p:nvPr/>
        </p:nvSpPr>
        <p:spPr>
          <a:xfrm>
            <a:off x="2779776" y="2176272"/>
            <a:ext cx="14996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工作人物</a:t>
            </a:r>
            <a:endParaRPr lang="en-US" sz="480" dirty="0"/>
          </a:p>
        </p:txBody>
      </p:sp>
      <p:sp>
        <p:nvSpPr>
          <p:cNvPr id="17" name="Shape 13"/>
          <p:cNvSpPr/>
          <p:nvPr/>
        </p:nvSpPr>
        <p:spPr>
          <a:xfrm>
            <a:off x="4663440" y="1389888"/>
            <a:ext cx="168249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18" name="Image 2" descr="C:\Users\bxu\dev\cybozush\cysh-style-ppt\cybozu-style-ppt\assets\characters\celebration-two-peo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5702" y="1499616"/>
            <a:ext cx="457973" cy="5120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54880" y="2066544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CHAR-015 celebration</a:t>
            </a:r>
            <a:endParaRPr lang="en-US" sz="560" dirty="0"/>
          </a:p>
        </p:txBody>
      </p:sp>
      <p:sp>
        <p:nvSpPr>
          <p:cNvPr id="20" name="Text 15"/>
          <p:cNvSpPr/>
          <p:nvPr/>
        </p:nvSpPr>
        <p:spPr>
          <a:xfrm>
            <a:off x="4754880" y="2176272"/>
            <a:ext cx="14996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工作人物</a:t>
            </a:r>
            <a:endParaRPr lang="en-US" sz="480" dirty="0"/>
          </a:p>
        </p:txBody>
      </p:sp>
      <p:sp>
        <p:nvSpPr>
          <p:cNvPr id="21" name="Shape 16"/>
          <p:cNvSpPr/>
          <p:nvPr/>
        </p:nvSpPr>
        <p:spPr>
          <a:xfrm>
            <a:off x="6638544" y="1389888"/>
            <a:ext cx="168249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22" name="Image 3" descr="C:\Users\bxu\dev\cybozush\cysh-style-ppt\cybozu-style-ppt\assets\characters\construction-worker-fro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1499616"/>
            <a:ext cx="512064" cy="51206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729984" y="2066544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CHAR-016 construction worker</a:t>
            </a:r>
            <a:endParaRPr lang="en-US" sz="560" dirty="0"/>
          </a:p>
        </p:txBody>
      </p:sp>
      <p:sp>
        <p:nvSpPr>
          <p:cNvPr id="24" name="Text 18"/>
          <p:cNvSpPr/>
          <p:nvPr/>
        </p:nvSpPr>
        <p:spPr>
          <a:xfrm>
            <a:off x="6729984" y="2176272"/>
            <a:ext cx="14996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工作人物</a:t>
            </a:r>
            <a:endParaRPr lang="en-US" sz="480" dirty="0"/>
          </a:p>
        </p:txBody>
      </p:sp>
      <p:sp>
        <p:nvSpPr>
          <p:cNvPr id="25" name="Shape 19"/>
          <p:cNvSpPr/>
          <p:nvPr/>
        </p:nvSpPr>
        <p:spPr>
          <a:xfrm>
            <a:off x="713232" y="2468880"/>
            <a:ext cx="168249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26" name="Image 4" descr="C:\Users\bxu\dev\cybozush\cysh-style-ppt\cybozu-style-ppt\assets\characters\construction-worker-orange-fro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8448" y="2578608"/>
            <a:ext cx="512064" cy="5120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04672" y="3145536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CHAR-017 construction worker 2</a:t>
            </a:r>
            <a:endParaRPr lang="en-US" sz="560" dirty="0"/>
          </a:p>
        </p:txBody>
      </p:sp>
      <p:sp>
        <p:nvSpPr>
          <p:cNvPr id="28" name="Text 21"/>
          <p:cNvSpPr/>
          <p:nvPr/>
        </p:nvSpPr>
        <p:spPr>
          <a:xfrm>
            <a:off x="804672" y="3255264"/>
            <a:ext cx="14996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工作人物</a:t>
            </a:r>
            <a:endParaRPr lang="en-US" sz="480" dirty="0"/>
          </a:p>
        </p:txBody>
      </p:sp>
      <p:sp>
        <p:nvSpPr>
          <p:cNvPr id="29" name="Shape 22"/>
          <p:cNvSpPr/>
          <p:nvPr/>
        </p:nvSpPr>
        <p:spPr>
          <a:xfrm>
            <a:off x="2688336" y="2468880"/>
            <a:ext cx="168249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30" name="Image 5" descr="C:\Users\bxu\dev\cybozush\cysh-style-ppt\cybozu-style-ppt\assets\characters\kintone-character-box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2068" y="2578608"/>
            <a:ext cx="355031" cy="51206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2779776" y="3145536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CHAR-018 kintone box</a:t>
            </a:r>
            <a:endParaRPr lang="en-US" sz="560" dirty="0"/>
          </a:p>
        </p:txBody>
      </p:sp>
      <p:sp>
        <p:nvSpPr>
          <p:cNvPr id="32" name="Text 24"/>
          <p:cNvSpPr/>
          <p:nvPr/>
        </p:nvSpPr>
        <p:spPr>
          <a:xfrm>
            <a:off x="2779776" y="3255264"/>
            <a:ext cx="14996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kintone角色</a:t>
            </a:r>
            <a:endParaRPr lang="en-US" sz="480" dirty="0"/>
          </a:p>
        </p:txBody>
      </p:sp>
      <p:sp>
        <p:nvSpPr>
          <p:cNvPr id="33" name="Shape 25"/>
          <p:cNvSpPr/>
          <p:nvPr/>
        </p:nvSpPr>
        <p:spPr>
          <a:xfrm>
            <a:off x="4663440" y="2468880"/>
            <a:ext cx="168249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34" name="Image 6" descr="C:\Users\bxu\dev\cybozush\cysh-style-ppt\cybozu-style-ppt\assets\characters\kintone-character-flying-box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8656" y="2578608"/>
            <a:ext cx="512064" cy="512064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4754880" y="3145536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CHAR-019 kintone mascot</a:t>
            </a:r>
            <a:endParaRPr lang="en-US" sz="560" dirty="0"/>
          </a:p>
        </p:txBody>
      </p:sp>
      <p:sp>
        <p:nvSpPr>
          <p:cNvPr id="36" name="Text 27"/>
          <p:cNvSpPr/>
          <p:nvPr/>
        </p:nvSpPr>
        <p:spPr>
          <a:xfrm>
            <a:off x="4754880" y="3255264"/>
            <a:ext cx="14996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kintone角色</a:t>
            </a:r>
            <a:endParaRPr lang="en-US" sz="480" dirty="0"/>
          </a:p>
        </p:txBody>
      </p:sp>
      <p:sp>
        <p:nvSpPr>
          <p:cNvPr id="37" name="Shape 28"/>
          <p:cNvSpPr/>
          <p:nvPr/>
        </p:nvSpPr>
        <p:spPr>
          <a:xfrm>
            <a:off x="6638544" y="2468880"/>
            <a:ext cx="168249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38" name="Image 7" descr="C:\Users\bxu\dev\cybozush\cysh-style-ppt\cybozu-style-ppt\assets\characters\kintone-character-helme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93211" y="2578608"/>
            <a:ext cx="573163" cy="512064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6729984" y="3145536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CHAR-020 helmet helper</a:t>
            </a:r>
            <a:endParaRPr lang="en-US" sz="560" dirty="0"/>
          </a:p>
        </p:txBody>
      </p:sp>
      <p:sp>
        <p:nvSpPr>
          <p:cNvPr id="40" name="Text 30"/>
          <p:cNvSpPr/>
          <p:nvPr/>
        </p:nvSpPr>
        <p:spPr>
          <a:xfrm>
            <a:off x="6729984" y="3255264"/>
            <a:ext cx="14996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kintone角色</a:t>
            </a:r>
            <a:endParaRPr lang="en-US" sz="480" dirty="0"/>
          </a:p>
        </p:txBody>
      </p:sp>
      <p:sp>
        <p:nvSpPr>
          <p:cNvPr id="41" name="Shape 31"/>
          <p:cNvSpPr/>
          <p:nvPr/>
        </p:nvSpPr>
        <p:spPr>
          <a:xfrm>
            <a:off x="713232" y="3547872"/>
            <a:ext cx="168249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42" name="Image 8" descr="C:\Users\bxu\dev\cybozush\cysh-style-ppt\cybozu-style-ppt\assets\characters\kintone-cloud-plai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66774" y="3657600"/>
            <a:ext cx="775411" cy="512064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804672" y="4224528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CHAR-021 kintone cloud</a:t>
            </a:r>
            <a:endParaRPr lang="en-US" sz="560" dirty="0"/>
          </a:p>
        </p:txBody>
      </p:sp>
      <p:sp>
        <p:nvSpPr>
          <p:cNvPr id="44" name="Text 33"/>
          <p:cNvSpPr/>
          <p:nvPr/>
        </p:nvSpPr>
        <p:spPr>
          <a:xfrm>
            <a:off x="804672" y="4334256"/>
            <a:ext cx="14996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kintone云形</a:t>
            </a:r>
            <a:endParaRPr lang="en-US" sz="480" dirty="0"/>
          </a:p>
        </p:txBody>
      </p:sp>
      <p:sp>
        <p:nvSpPr>
          <p:cNvPr id="45" name="Shape 34"/>
          <p:cNvSpPr/>
          <p:nvPr/>
        </p:nvSpPr>
        <p:spPr>
          <a:xfrm>
            <a:off x="2688336" y="3547872"/>
            <a:ext cx="168249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46" name="Image 9" descr="C:\Users\bxu\dev\cybozush\cysh-style-ppt\cybozu-style-ppt\assets\characters\kintone-loop-guid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90264" y="3657600"/>
            <a:ext cx="678639" cy="512064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2779776" y="4224528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CHAR-022 kintone loop 2</a:t>
            </a:r>
            <a:endParaRPr lang="en-US" sz="560" dirty="0"/>
          </a:p>
        </p:txBody>
      </p:sp>
      <p:sp>
        <p:nvSpPr>
          <p:cNvPr id="48" name="Text 36"/>
          <p:cNvSpPr/>
          <p:nvPr/>
        </p:nvSpPr>
        <p:spPr>
          <a:xfrm>
            <a:off x="2779776" y="4334256"/>
            <a:ext cx="14996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业务场景图</a:t>
            </a:r>
            <a:endParaRPr lang="en-US" sz="480" dirty="0"/>
          </a:p>
        </p:txBody>
      </p:sp>
      <p:sp>
        <p:nvSpPr>
          <p:cNvPr id="49" name="Shape 37"/>
          <p:cNvSpPr/>
          <p:nvPr/>
        </p:nvSpPr>
        <p:spPr>
          <a:xfrm>
            <a:off x="4663440" y="3547872"/>
            <a:ext cx="168249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50" name="Image 10" descr="C:\Users\bxu\dev\cybozush\cysh-style-ppt\cybozu-style-ppt\assets\characters\kintone-loop-manufacturing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65716" y="3657600"/>
            <a:ext cx="677944" cy="512064"/>
          </a:xfrm>
          <a:prstGeom prst="rect">
            <a:avLst/>
          </a:prstGeom>
        </p:spPr>
      </p:pic>
      <p:sp>
        <p:nvSpPr>
          <p:cNvPr id="51" name="Text 38"/>
          <p:cNvSpPr/>
          <p:nvPr/>
        </p:nvSpPr>
        <p:spPr>
          <a:xfrm>
            <a:off x="4754880" y="4224528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CHAR-023 kintone loop</a:t>
            </a:r>
            <a:endParaRPr lang="en-US" sz="560" dirty="0"/>
          </a:p>
        </p:txBody>
      </p:sp>
      <p:sp>
        <p:nvSpPr>
          <p:cNvPr id="52" name="Text 39"/>
          <p:cNvSpPr/>
          <p:nvPr/>
        </p:nvSpPr>
        <p:spPr>
          <a:xfrm>
            <a:off x="4754880" y="4334256"/>
            <a:ext cx="14996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业务场景图</a:t>
            </a:r>
            <a:endParaRPr lang="en-US" sz="480" dirty="0"/>
          </a:p>
        </p:txBody>
      </p:sp>
      <p:sp>
        <p:nvSpPr>
          <p:cNvPr id="53" name="Shape 40"/>
          <p:cNvSpPr/>
          <p:nvPr/>
        </p:nvSpPr>
        <p:spPr>
          <a:xfrm>
            <a:off x="6638544" y="3547872"/>
            <a:ext cx="168249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54" name="Image 11" descr="C:\Users\bxu\dev\cybozush\cysh-style-ppt\cybozu-style-ppt\assets\characters\kintone-mascot-waving-compact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76369" y="3657600"/>
            <a:ext cx="406845" cy="512064"/>
          </a:xfrm>
          <a:prstGeom prst="rect">
            <a:avLst/>
          </a:prstGeom>
        </p:spPr>
      </p:pic>
      <p:sp>
        <p:nvSpPr>
          <p:cNvPr id="55" name="Text 41"/>
          <p:cNvSpPr/>
          <p:nvPr/>
        </p:nvSpPr>
        <p:spPr>
          <a:xfrm>
            <a:off x="6729984" y="4224528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CHAR-024 waving mascot 3</a:t>
            </a:r>
            <a:endParaRPr lang="en-US" sz="560" dirty="0"/>
          </a:p>
        </p:txBody>
      </p:sp>
      <p:sp>
        <p:nvSpPr>
          <p:cNvPr id="56" name="Text 42"/>
          <p:cNvSpPr/>
          <p:nvPr/>
        </p:nvSpPr>
        <p:spPr>
          <a:xfrm>
            <a:off x="6729984" y="4334256"/>
            <a:ext cx="14996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kintone云小人</a:t>
            </a:r>
            <a:endParaRPr lang="en-US" sz="480" dirty="0"/>
          </a:p>
        </p:txBody>
      </p:sp>
      <p:sp>
        <p:nvSpPr>
          <p:cNvPr id="57" name="Shape 43"/>
          <p:cNvSpPr/>
          <p:nvPr/>
        </p:nvSpPr>
        <p:spPr>
          <a:xfrm>
            <a:off x="713232" y="4590288"/>
            <a:ext cx="7726680" cy="201168"/>
          </a:xfrm>
          <a:prstGeom prst="roundRect">
            <a:avLst>
              <a:gd name="adj" fmla="val 36364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58" name="Text 44"/>
          <p:cNvSpPr/>
          <p:nvPr/>
        </p:nvSpPr>
        <p:spPr>
          <a:xfrm>
            <a:off x="932688" y="4654296"/>
            <a:ext cx="722376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policy: one illustration family per slide; do not mix these with rough native-shape people.</a:t>
            </a:r>
            <a:endParaRPr lang="en-US" sz="5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10912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38912"/>
            <a:ext cx="128016" cy="109728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9260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Approved character / scenario assets 3/5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13232" y="658368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cybozu-ish component library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8183880" y="47365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713232" y="9875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既存資料から抽出した透明背景 PNG。人物やキャラクターは画像資産として使い、説明・矢印・役割ラベルは editable PPT elements で重ねる。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713232" y="1389888"/>
            <a:ext cx="168249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10" name="Image 0" descr="C:\Users\bxu\dev\cybozush\cysh-style-ppt\cybozu-style-ppt\assets\characters\kintone-mascot-waving-lar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0190" y="1499616"/>
            <a:ext cx="408581" cy="51206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4672" y="2066544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CHAR-025 waving mascot 4</a:t>
            </a:r>
            <a:endParaRPr lang="en-US" sz="560" dirty="0"/>
          </a:p>
        </p:txBody>
      </p:sp>
      <p:sp>
        <p:nvSpPr>
          <p:cNvPr id="12" name="Text 9"/>
          <p:cNvSpPr/>
          <p:nvPr/>
        </p:nvSpPr>
        <p:spPr>
          <a:xfrm>
            <a:off x="804672" y="2176272"/>
            <a:ext cx="14996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kintone云小人</a:t>
            </a:r>
            <a:endParaRPr lang="en-US" sz="480" dirty="0"/>
          </a:p>
        </p:txBody>
      </p:sp>
      <p:sp>
        <p:nvSpPr>
          <p:cNvPr id="13" name="Shape 10"/>
          <p:cNvSpPr/>
          <p:nvPr/>
        </p:nvSpPr>
        <p:spPr>
          <a:xfrm>
            <a:off x="2688336" y="1389888"/>
            <a:ext cx="168249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14" name="Image 1" descr="C:\Users\bxu\dev\cybozush\cysh-style-ppt\cybozu-style-ppt\assets\characters\kintone-mascot-waving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956" y="1499616"/>
            <a:ext cx="407256" cy="5120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779776" y="2066544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CHAR-026 waving mascot</a:t>
            </a:r>
            <a:endParaRPr lang="en-US" sz="560" dirty="0"/>
          </a:p>
        </p:txBody>
      </p:sp>
      <p:sp>
        <p:nvSpPr>
          <p:cNvPr id="16" name="Text 12"/>
          <p:cNvSpPr/>
          <p:nvPr/>
        </p:nvSpPr>
        <p:spPr>
          <a:xfrm>
            <a:off x="2779776" y="2176272"/>
            <a:ext cx="14996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kintone云小人</a:t>
            </a:r>
            <a:endParaRPr lang="en-US" sz="480" dirty="0"/>
          </a:p>
        </p:txBody>
      </p:sp>
      <p:sp>
        <p:nvSpPr>
          <p:cNvPr id="17" name="Shape 13"/>
          <p:cNvSpPr/>
          <p:nvPr/>
        </p:nvSpPr>
        <p:spPr>
          <a:xfrm>
            <a:off x="4663440" y="1389888"/>
            <a:ext cx="168249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18" name="Image 2" descr="C:\Users\bxu\dev\cybozush\cysh-style-ppt\cybozu-style-ppt\assets\characters\kintone-mascot-waving-ta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0605" y="1499616"/>
            <a:ext cx="408167" cy="5120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54880" y="2066544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CHAR-027 waving mascot 2</a:t>
            </a:r>
            <a:endParaRPr lang="en-US" sz="560" dirty="0"/>
          </a:p>
        </p:txBody>
      </p:sp>
      <p:sp>
        <p:nvSpPr>
          <p:cNvPr id="20" name="Text 15"/>
          <p:cNvSpPr/>
          <p:nvPr/>
        </p:nvSpPr>
        <p:spPr>
          <a:xfrm>
            <a:off x="4754880" y="2176272"/>
            <a:ext cx="14996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kintone云小人</a:t>
            </a:r>
            <a:endParaRPr lang="en-US" sz="480" dirty="0"/>
          </a:p>
        </p:txBody>
      </p:sp>
      <p:sp>
        <p:nvSpPr>
          <p:cNvPr id="21" name="Shape 16"/>
          <p:cNvSpPr/>
          <p:nvPr/>
        </p:nvSpPr>
        <p:spPr>
          <a:xfrm>
            <a:off x="6638544" y="1389888"/>
            <a:ext cx="168249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22" name="Image 3" descr="C:\Users\bxu\dev\cybozush\cysh-style-ppt\cybozu-style-ppt\assets\characters\line-person-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1499616"/>
            <a:ext cx="512064" cy="51206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729984" y="2066544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CHAR-028 explain chart</a:t>
            </a:r>
            <a:endParaRPr lang="en-US" sz="560" dirty="0"/>
          </a:p>
        </p:txBody>
      </p:sp>
      <p:sp>
        <p:nvSpPr>
          <p:cNvPr id="24" name="Text 18"/>
          <p:cNvSpPr/>
          <p:nvPr/>
        </p:nvSpPr>
        <p:spPr>
          <a:xfrm>
            <a:off x="6729984" y="2176272"/>
            <a:ext cx="14996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线稿工作小人</a:t>
            </a:r>
            <a:endParaRPr lang="en-US" sz="480" dirty="0"/>
          </a:p>
        </p:txBody>
      </p:sp>
      <p:sp>
        <p:nvSpPr>
          <p:cNvPr id="25" name="Shape 19"/>
          <p:cNvSpPr/>
          <p:nvPr/>
        </p:nvSpPr>
        <p:spPr>
          <a:xfrm>
            <a:off x="713232" y="2468880"/>
            <a:ext cx="168249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26" name="Image 4" descr="C:\Users\bxu\dev\cybozush\cysh-style-ppt\cybozu-style-ppt\assets\characters\line-person-dashbo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8448" y="2578608"/>
            <a:ext cx="512064" cy="5120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04672" y="3145536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CHAR-029 operate dashboard</a:t>
            </a:r>
            <a:endParaRPr lang="en-US" sz="560" dirty="0"/>
          </a:p>
        </p:txBody>
      </p:sp>
      <p:sp>
        <p:nvSpPr>
          <p:cNvPr id="28" name="Text 21"/>
          <p:cNvSpPr/>
          <p:nvPr/>
        </p:nvSpPr>
        <p:spPr>
          <a:xfrm>
            <a:off x="804672" y="3255264"/>
            <a:ext cx="14996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线稿工作小人</a:t>
            </a:r>
            <a:endParaRPr lang="en-US" sz="480" dirty="0"/>
          </a:p>
        </p:txBody>
      </p:sp>
      <p:sp>
        <p:nvSpPr>
          <p:cNvPr id="29" name="Shape 22"/>
          <p:cNvSpPr/>
          <p:nvPr/>
        </p:nvSpPr>
        <p:spPr>
          <a:xfrm>
            <a:off x="2688336" y="2468880"/>
            <a:ext cx="168249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30" name="Image 5" descr="C:\Users\bxu\dev\cybozush\cysh-style-ppt\cybozu-style-ppt\assets\characters\line-person-document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3552" y="2578608"/>
            <a:ext cx="512064" cy="51206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2779776" y="3145536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CHAR-030 document work</a:t>
            </a:r>
            <a:endParaRPr lang="en-US" sz="560" dirty="0"/>
          </a:p>
        </p:txBody>
      </p:sp>
      <p:sp>
        <p:nvSpPr>
          <p:cNvPr id="32" name="Text 24"/>
          <p:cNvSpPr/>
          <p:nvPr/>
        </p:nvSpPr>
        <p:spPr>
          <a:xfrm>
            <a:off x="2779776" y="3255264"/>
            <a:ext cx="14996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线稿工作小人</a:t>
            </a:r>
            <a:endParaRPr lang="en-US" sz="480" dirty="0"/>
          </a:p>
        </p:txBody>
      </p:sp>
      <p:sp>
        <p:nvSpPr>
          <p:cNvPr id="33" name="Shape 25"/>
          <p:cNvSpPr/>
          <p:nvPr/>
        </p:nvSpPr>
        <p:spPr>
          <a:xfrm>
            <a:off x="4663440" y="2468880"/>
            <a:ext cx="168249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34" name="Image 6" descr="C:\Users\bxu\dev\cybozush\cysh-style-ppt\cybozu-style-ppt\assets\characters\line-person-lapto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8656" y="2578608"/>
            <a:ext cx="512064" cy="512064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4754880" y="3145536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CHAR-031 laptop work</a:t>
            </a:r>
            <a:endParaRPr lang="en-US" sz="560" dirty="0"/>
          </a:p>
        </p:txBody>
      </p:sp>
      <p:sp>
        <p:nvSpPr>
          <p:cNvPr id="36" name="Text 27"/>
          <p:cNvSpPr/>
          <p:nvPr/>
        </p:nvSpPr>
        <p:spPr>
          <a:xfrm>
            <a:off x="4754880" y="3255264"/>
            <a:ext cx="14996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线稿工作小人</a:t>
            </a:r>
            <a:endParaRPr lang="en-US" sz="480" dirty="0"/>
          </a:p>
        </p:txBody>
      </p:sp>
      <p:sp>
        <p:nvSpPr>
          <p:cNvPr id="37" name="Shape 28"/>
          <p:cNvSpPr/>
          <p:nvPr/>
        </p:nvSpPr>
        <p:spPr>
          <a:xfrm>
            <a:off x="6638544" y="2468880"/>
            <a:ext cx="168249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38" name="Image 7" descr="C:\Users\bxu\dev\cybozush\cysh-style-ppt\cybozu-style-ppt\assets\characters\line-person-worri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3760" y="2578608"/>
            <a:ext cx="512064" cy="512064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6729984" y="3145536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CHAR-032 pain point</a:t>
            </a:r>
            <a:endParaRPr lang="en-US" sz="560" dirty="0"/>
          </a:p>
        </p:txBody>
      </p:sp>
      <p:sp>
        <p:nvSpPr>
          <p:cNvPr id="40" name="Text 30"/>
          <p:cNvSpPr/>
          <p:nvPr/>
        </p:nvSpPr>
        <p:spPr>
          <a:xfrm>
            <a:off x="6729984" y="3255264"/>
            <a:ext cx="14996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线稿工作小人</a:t>
            </a:r>
            <a:endParaRPr lang="en-US" sz="480" dirty="0"/>
          </a:p>
        </p:txBody>
      </p:sp>
      <p:sp>
        <p:nvSpPr>
          <p:cNvPr id="41" name="Shape 31"/>
          <p:cNvSpPr/>
          <p:nvPr/>
        </p:nvSpPr>
        <p:spPr>
          <a:xfrm>
            <a:off x="713232" y="3547872"/>
            <a:ext cx="168249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42" name="Image 8" descr="C:\Users\bxu\dev\cybozush\cysh-style-ppt\cybozu-style-ppt\assets\characters\line-remote-collaboratio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8448" y="3657600"/>
            <a:ext cx="512064" cy="512064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804672" y="4224528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CHAR-033 remote collaboration</a:t>
            </a:r>
            <a:endParaRPr lang="en-US" sz="560" dirty="0"/>
          </a:p>
        </p:txBody>
      </p:sp>
      <p:sp>
        <p:nvSpPr>
          <p:cNvPr id="44" name="Text 33"/>
          <p:cNvSpPr/>
          <p:nvPr/>
        </p:nvSpPr>
        <p:spPr>
          <a:xfrm>
            <a:off x="804672" y="4334256"/>
            <a:ext cx="14996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线稿工作小人</a:t>
            </a:r>
            <a:endParaRPr lang="en-US" sz="480" dirty="0"/>
          </a:p>
        </p:txBody>
      </p:sp>
      <p:sp>
        <p:nvSpPr>
          <p:cNvPr id="45" name="Shape 34"/>
          <p:cNvSpPr/>
          <p:nvPr/>
        </p:nvSpPr>
        <p:spPr>
          <a:xfrm>
            <a:off x="2688336" y="3547872"/>
            <a:ext cx="168249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46" name="Image 9" descr="C:\Users\bxu\dev\cybozush\cysh-style-ppt\cybozu-style-ppt\assets\characters\orange-dancing-team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73552" y="3657600"/>
            <a:ext cx="512064" cy="512064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2779776" y="4224528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CHAR-034 active team</a:t>
            </a:r>
            <a:endParaRPr lang="en-US" sz="560" dirty="0"/>
          </a:p>
        </p:txBody>
      </p:sp>
      <p:sp>
        <p:nvSpPr>
          <p:cNvPr id="48" name="Text 36"/>
          <p:cNvSpPr/>
          <p:nvPr/>
        </p:nvSpPr>
        <p:spPr>
          <a:xfrm>
            <a:off x="2779776" y="4334256"/>
            <a:ext cx="14996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橙色人物图标</a:t>
            </a:r>
            <a:endParaRPr lang="en-US" sz="480" dirty="0"/>
          </a:p>
        </p:txBody>
      </p:sp>
      <p:sp>
        <p:nvSpPr>
          <p:cNvPr id="49" name="Shape 37"/>
          <p:cNvSpPr/>
          <p:nvPr/>
        </p:nvSpPr>
        <p:spPr>
          <a:xfrm>
            <a:off x="4663440" y="3547872"/>
            <a:ext cx="168249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50" name="Image 10" descr="C:\Users\bxu\dev\cybozush\cysh-style-ppt\cybozu-style-ppt\assets\characters\orange-group-icon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48656" y="3657600"/>
            <a:ext cx="512064" cy="512064"/>
          </a:xfrm>
          <a:prstGeom prst="rect">
            <a:avLst/>
          </a:prstGeom>
        </p:spPr>
      </p:pic>
      <p:sp>
        <p:nvSpPr>
          <p:cNvPr id="51" name="Text 38"/>
          <p:cNvSpPr/>
          <p:nvPr/>
        </p:nvSpPr>
        <p:spPr>
          <a:xfrm>
            <a:off x="4754880" y="4224528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CHAR-035 group icon</a:t>
            </a:r>
            <a:endParaRPr lang="en-US" sz="560" dirty="0"/>
          </a:p>
        </p:txBody>
      </p:sp>
      <p:sp>
        <p:nvSpPr>
          <p:cNvPr id="52" name="Text 39"/>
          <p:cNvSpPr/>
          <p:nvPr/>
        </p:nvSpPr>
        <p:spPr>
          <a:xfrm>
            <a:off x="4754880" y="4334256"/>
            <a:ext cx="14996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橙色人物图标</a:t>
            </a:r>
            <a:endParaRPr lang="en-US" sz="480" dirty="0"/>
          </a:p>
        </p:txBody>
      </p:sp>
      <p:sp>
        <p:nvSpPr>
          <p:cNvPr id="53" name="Shape 40"/>
          <p:cNvSpPr/>
          <p:nvPr/>
        </p:nvSpPr>
        <p:spPr>
          <a:xfrm>
            <a:off x="6638544" y="3547872"/>
            <a:ext cx="168249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54" name="Image 11" descr="C:\Users\bxu\dev\cybozush\cysh-style-ppt\cybozu-style-ppt\assets\characters\orange-meeting-tabl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23760" y="3657600"/>
            <a:ext cx="512064" cy="512064"/>
          </a:xfrm>
          <a:prstGeom prst="rect">
            <a:avLst/>
          </a:prstGeom>
        </p:spPr>
      </p:pic>
      <p:sp>
        <p:nvSpPr>
          <p:cNvPr id="55" name="Text 41"/>
          <p:cNvSpPr/>
          <p:nvPr/>
        </p:nvSpPr>
        <p:spPr>
          <a:xfrm>
            <a:off x="6729984" y="4224528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CHAR-036 meeting table</a:t>
            </a:r>
            <a:endParaRPr lang="en-US" sz="560" dirty="0"/>
          </a:p>
        </p:txBody>
      </p:sp>
      <p:sp>
        <p:nvSpPr>
          <p:cNvPr id="56" name="Text 42"/>
          <p:cNvSpPr/>
          <p:nvPr/>
        </p:nvSpPr>
        <p:spPr>
          <a:xfrm>
            <a:off x="6729984" y="4334256"/>
            <a:ext cx="14996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橙色人物图标</a:t>
            </a:r>
            <a:endParaRPr lang="en-US" sz="480" dirty="0"/>
          </a:p>
        </p:txBody>
      </p:sp>
      <p:sp>
        <p:nvSpPr>
          <p:cNvPr id="57" name="Shape 43"/>
          <p:cNvSpPr/>
          <p:nvPr/>
        </p:nvSpPr>
        <p:spPr>
          <a:xfrm>
            <a:off x="713232" y="4590288"/>
            <a:ext cx="7726680" cy="201168"/>
          </a:xfrm>
          <a:prstGeom prst="roundRect">
            <a:avLst>
              <a:gd name="adj" fmla="val 36364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58" name="Text 44"/>
          <p:cNvSpPr/>
          <p:nvPr/>
        </p:nvSpPr>
        <p:spPr>
          <a:xfrm>
            <a:off x="932688" y="4654296"/>
            <a:ext cx="722376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policy: one illustration family per slide; do not mix these with rough native-shape people.</a:t>
            </a:r>
            <a:endParaRPr lang="en-US" sz="5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10912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38912"/>
            <a:ext cx="128016" cy="109728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9260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Approved character / scenario assets 4/5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13232" y="658368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cybozu-ish component library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8183880" y="47365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713232" y="9875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既存資料から抽出した透明背景 PNG。人物やキャラクターは画像資産として使い、説明・矢印・役割ラベルは editable PPT elements で重ねる。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713232" y="1389888"/>
            <a:ext cx="168249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10" name="Image 0" descr="C:\Users\bxu\dev\cybozush\cysh-style-ppt\cybozu-style-ppt\assets\characters\orange-team-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1499616"/>
            <a:ext cx="512064" cy="51206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4672" y="2066544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CHAR-037 team table</a:t>
            </a:r>
            <a:endParaRPr lang="en-US" sz="560" dirty="0"/>
          </a:p>
        </p:txBody>
      </p:sp>
      <p:sp>
        <p:nvSpPr>
          <p:cNvPr id="12" name="Text 9"/>
          <p:cNvSpPr/>
          <p:nvPr/>
        </p:nvSpPr>
        <p:spPr>
          <a:xfrm>
            <a:off x="804672" y="2176272"/>
            <a:ext cx="14996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橙色人物图标</a:t>
            </a:r>
            <a:endParaRPr lang="en-US" sz="480" dirty="0"/>
          </a:p>
        </p:txBody>
      </p:sp>
      <p:sp>
        <p:nvSpPr>
          <p:cNvPr id="13" name="Shape 10"/>
          <p:cNvSpPr/>
          <p:nvPr/>
        </p:nvSpPr>
        <p:spPr>
          <a:xfrm>
            <a:off x="2688336" y="1389888"/>
            <a:ext cx="168249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14" name="Image 1" descr="C:\Users\bxu\dev\cybozush\cysh-style-ppt\cybozu-style-ppt\assets\characters\orange-user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552" y="1499616"/>
            <a:ext cx="512064" cy="5120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779776" y="2066544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CHAR-038 user icon</a:t>
            </a:r>
            <a:endParaRPr lang="en-US" sz="560" dirty="0"/>
          </a:p>
        </p:txBody>
      </p:sp>
      <p:sp>
        <p:nvSpPr>
          <p:cNvPr id="16" name="Text 12"/>
          <p:cNvSpPr/>
          <p:nvPr/>
        </p:nvSpPr>
        <p:spPr>
          <a:xfrm>
            <a:off x="2779776" y="2176272"/>
            <a:ext cx="14996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橙色人物图标</a:t>
            </a:r>
            <a:endParaRPr lang="en-US" sz="480" dirty="0"/>
          </a:p>
        </p:txBody>
      </p:sp>
      <p:sp>
        <p:nvSpPr>
          <p:cNvPr id="17" name="Shape 13"/>
          <p:cNvSpPr/>
          <p:nvPr/>
        </p:nvSpPr>
        <p:spPr>
          <a:xfrm>
            <a:off x="4663440" y="1389888"/>
            <a:ext cx="168249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18" name="Image 2" descr="C:\Users\bxu\dev\cybozush\cysh-style-ppt\cybozu-style-ppt\assets\characters\orange-woman-icon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8656" y="1499616"/>
            <a:ext cx="512064" cy="5120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54880" y="2066544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CHAR-039 woman icon 2</a:t>
            </a:r>
            <a:endParaRPr lang="en-US" sz="560" dirty="0"/>
          </a:p>
        </p:txBody>
      </p:sp>
      <p:sp>
        <p:nvSpPr>
          <p:cNvPr id="20" name="Text 15"/>
          <p:cNvSpPr/>
          <p:nvPr/>
        </p:nvSpPr>
        <p:spPr>
          <a:xfrm>
            <a:off x="4754880" y="2176272"/>
            <a:ext cx="14996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橙色人物图标</a:t>
            </a:r>
            <a:endParaRPr lang="en-US" sz="480" dirty="0"/>
          </a:p>
        </p:txBody>
      </p:sp>
      <p:sp>
        <p:nvSpPr>
          <p:cNvPr id="21" name="Shape 16"/>
          <p:cNvSpPr/>
          <p:nvPr/>
        </p:nvSpPr>
        <p:spPr>
          <a:xfrm>
            <a:off x="6638544" y="1389888"/>
            <a:ext cx="168249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22" name="Image 3" descr="C:\Users\bxu\dev\cybozush\cysh-style-ppt\cybozu-style-ppt\assets\characters\orange-woman-ic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1499616"/>
            <a:ext cx="512064" cy="51206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729984" y="2066544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CHAR-040 woman icon</a:t>
            </a:r>
            <a:endParaRPr lang="en-US" sz="560" dirty="0"/>
          </a:p>
        </p:txBody>
      </p:sp>
      <p:sp>
        <p:nvSpPr>
          <p:cNvPr id="24" name="Text 18"/>
          <p:cNvSpPr/>
          <p:nvPr/>
        </p:nvSpPr>
        <p:spPr>
          <a:xfrm>
            <a:off x="6729984" y="2176272"/>
            <a:ext cx="14996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橙色人物图标</a:t>
            </a:r>
            <a:endParaRPr lang="en-US" sz="480" dirty="0"/>
          </a:p>
        </p:txBody>
      </p:sp>
      <p:sp>
        <p:nvSpPr>
          <p:cNvPr id="25" name="Shape 19"/>
          <p:cNvSpPr/>
          <p:nvPr/>
        </p:nvSpPr>
        <p:spPr>
          <a:xfrm>
            <a:off x="713232" y="2468880"/>
            <a:ext cx="168249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26" name="Image 4" descr="C:\Users\bxu\dev\cybozush\cysh-style-ppt\cybozu-style-ppt\assets\characters\question-two-peop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5494" y="2578608"/>
            <a:ext cx="457973" cy="5120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04672" y="3145536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CHAR-041 question scene</a:t>
            </a:r>
            <a:endParaRPr lang="en-US" sz="560" dirty="0"/>
          </a:p>
        </p:txBody>
      </p:sp>
      <p:sp>
        <p:nvSpPr>
          <p:cNvPr id="28" name="Text 21"/>
          <p:cNvSpPr/>
          <p:nvPr/>
        </p:nvSpPr>
        <p:spPr>
          <a:xfrm>
            <a:off x="804672" y="3255264"/>
            <a:ext cx="14996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工作人物</a:t>
            </a:r>
            <a:endParaRPr lang="en-US" sz="480" dirty="0"/>
          </a:p>
        </p:txBody>
      </p:sp>
      <p:sp>
        <p:nvSpPr>
          <p:cNvPr id="29" name="Shape 22"/>
          <p:cNvSpPr/>
          <p:nvPr/>
        </p:nvSpPr>
        <p:spPr>
          <a:xfrm>
            <a:off x="2688336" y="2468880"/>
            <a:ext cx="168249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30" name="Image 5" descr="C:\Users\bxu\dev\cybozush\cysh-style-ppt\cybozu-style-ppt\assets\characters\scene-approved-work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6075" y="2578608"/>
            <a:ext cx="867017" cy="51206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2779776" y="3145536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CHAR-042 approved workflow</a:t>
            </a:r>
            <a:endParaRPr lang="en-US" sz="560" dirty="0"/>
          </a:p>
        </p:txBody>
      </p:sp>
      <p:sp>
        <p:nvSpPr>
          <p:cNvPr id="32" name="Text 24"/>
          <p:cNvSpPr/>
          <p:nvPr/>
        </p:nvSpPr>
        <p:spPr>
          <a:xfrm>
            <a:off x="2779776" y="3255264"/>
            <a:ext cx="14996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业务场景图</a:t>
            </a:r>
            <a:endParaRPr lang="en-US" sz="480" dirty="0"/>
          </a:p>
        </p:txBody>
      </p:sp>
      <p:sp>
        <p:nvSpPr>
          <p:cNvPr id="33" name="Shape 25"/>
          <p:cNvSpPr/>
          <p:nvPr/>
        </p:nvSpPr>
        <p:spPr>
          <a:xfrm>
            <a:off x="4663440" y="2468880"/>
            <a:ext cx="168249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34" name="Image 6" descr="C:\Users\bxu\dev\cybozush\cysh-style-ppt\cybozu-style-ppt\assets\characters\scene-kintone-ai-tea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14648" y="2578608"/>
            <a:ext cx="780080" cy="512064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4754880" y="3145536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CHAR-043 AI team loop</a:t>
            </a:r>
            <a:endParaRPr lang="en-US" sz="560" dirty="0"/>
          </a:p>
        </p:txBody>
      </p:sp>
      <p:sp>
        <p:nvSpPr>
          <p:cNvPr id="36" name="Text 27"/>
          <p:cNvSpPr/>
          <p:nvPr/>
        </p:nvSpPr>
        <p:spPr>
          <a:xfrm>
            <a:off x="4754880" y="3255264"/>
            <a:ext cx="14996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业务场景图</a:t>
            </a:r>
            <a:endParaRPr lang="en-US" sz="480" dirty="0"/>
          </a:p>
        </p:txBody>
      </p:sp>
      <p:sp>
        <p:nvSpPr>
          <p:cNvPr id="37" name="Shape 28"/>
          <p:cNvSpPr/>
          <p:nvPr/>
        </p:nvSpPr>
        <p:spPr>
          <a:xfrm>
            <a:off x="6638544" y="2468880"/>
            <a:ext cx="168249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38" name="Image 7" descr="C:\Users\bxu\dev\cybozush\cysh-style-ppt\cybozu-style-ppt\assets\characters\scene-kintone-data-flo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9743" y="2578608"/>
            <a:ext cx="780098" cy="512064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6729984" y="3145536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CHAR-044 data flow</a:t>
            </a:r>
            <a:endParaRPr lang="en-US" sz="560" dirty="0"/>
          </a:p>
        </p:txBody>
      </p:sp>
      <p:sp>
        <p:nvSpPr>
          <p:cNvPr id="40" name="Text 30"/>
          <p:cNvSpPr/>
          <p:nvPr/>
        </p:nvSpPr>
        <p:spPr>
          <a:xfrm>
            <a:off x="6729984" y="3255264"/>
            <a:ext cx="14996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业务场景图</a:t>
            </a:r>
            <a:endParaRPr lang="en-US" sz="480" dirty="0"/>
          </a:p>
        </p:txBody>
      </p:sp>
      <p:sp>
        <p:nvSpPr>
          <p:cNvPr id="41" name="Shape 31"/>
          <p:cNvSpPr/>
          <p:nvPr/>
        </p:nvSpPr>
        <p:spPr>
          <a:xfrm>
            <a:off x="713232" y="3547872"/>
            <a:ext cx="168249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42" name="Image 8" descr="C:\Users\bxu\dev\cybozush\cysh-style-ppt\cybozu-style-ppt\assets\characters\scene-message-workflo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0854" y="3657600"/>
            <a:ext cx="867253" cy="512064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804672" y="4224528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CHAR-045 message workflow</a:t>
            </a:r>
            <a:endParaRPr lang="en-US" sz="560" dirty="0"/>
          </a:p>
        </p:txBody>
      </p:sp>
      <p:sp>
        <p:nvSpPr>
          <p:cNvPr id="44" name="Text 33"/>
          <p:cNvSpPr/>
          <p:nvPr/>
        </p:nvSpPr>
        <p:spPr>
          <a:xfrm>
            <a:off x="804672" y="4334256"/>
            <a:ext cx="14996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业务场景图</a:t>
            </a:r>
            <a:endParaRPr lang="en-US" sz="480" dirty="0"/>
          </a:p>
        </p:txBody>
      </p:sp>
      <p:sp>
        <p:nvSpPr>
          <p:cNvPr id="45" name="Shape 34"/>
          <p:cNvSpPr/>
          <p:nvPr/>
        </p:nvSpPr>
        <p:spPr>
          <a:xfrm>
            <a:off x="2688336" y="3547872"/>
            <a:ext cx="168249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46" name="Image 9" descr="C:\Users\bxu\dev\cybozush\cysh-style-ppt\cybozu-style-ppt\assets\characters\user-count-segmen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35987" y="3657600"/>
            <a:ext cx="587193" cy="512064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2779776" y="4224528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CHAR-046 user segment</a:t>
            </a:r>
            <a:endParaRPr lang="en-US" sz="560" dirty="0"/>
          </a:p>
        </p:txBody>
      </p:sp>
      <p:sp>
        <p:nvSpPr>
          <p:cNvPr id="48" name="Text 36"/>
          <p:cNvSpPr/>
          <p:nvPr/>
        </p:nvSpPr>
        <p:spPr>
          <a:xfrm>
            <a:off x="2779776" y="4334256"/>
            <a:ext cx="14996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业务场景图</a:t>
            </a:r>
            <a:endParaRPr lang="en-US" sz="480" dirty="0"/>
          </a:p>
        </p:txBody>
      </p:sp>
      <p:sp>
        <p:nvSpPr>
          <p:cNvPr id="49" name="Shape 37"/>
          <p:cNvSpPr/>
          <p:nvPr/>
        </p:nvSpPr>
        <p:spPr>
          <a:xfrm>
            <a:off x="4663440" y="3547872"/>
            <a:ext cx="168249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50" name="Image 10" descr="C:\Users\bxu\dev\cybozush\cysh-style-ppt\cybozu-style-ppt\assets\characters\work-person-presentation-boar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48656" y="3657600"/>
            <a:ext cx="512064" cy="512064"/>
          </a:xfrm>
          <a:prstGeom prst="rect">
            <a:avLst/>
          </a:prstGeom>
        </p:spPr>
      </p:pic>
      <p:sp>
        <p:nvSpPr>
          <p:cNvPr id="51" name="Text 38"/>
          <p:cNvSpPr/>
          <p:nvPr/>
        </p:nvSpPr>
        <p:spPr>
          <a:xfrm>
            <a:off x="4754880" y="4224528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CHAR-047 presentation</a:t>
            </a:r>
            <a:endParaRPr lang="en-US" sz="560" dirty="0"/>
          </a:p>
        </p:txBody>
      </p:sp>
      <p:sp>
        <p:nvSpPr>
          <p:cNvPr id="52" name="Text 39"/>
          <p:cNvSpPr/>
          <p:nvPr/>
        </p:nvSpPr>
        <p:spPr>
          <a:xfrm>
            <a:off x="4754880" y="4334256"/>
            <a:ext cx="14996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工作人物</a:t>
            </a:r>
            <a:endParaRPr lang="en-US" sz="480" dirty="0"/>
          </a:p>
        </p:txBody>
      </p:sp>
      <p:sp>
        <p:nvSpPr>
          <p:cNvPr id="53" name="Shape 40"/>
          <p:cNvSpPr/>
          <p:nvPr/>
        </p:nvSpPr>
        <p:spPr>
          <a:xfrm>
            <a:off x="6638544" y="3547872"/>
            <a:ext cx="168249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54" name="Image 11" descr="C:\Users\bxu\dev\cybozush\cysh-style-ppt\cybozu-style-ppt\assets\characters\worker-helmet-blu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23760" y="3657600"/>
            <a:ext cx="512064" cy="512064"/>
          </a:xfrm>
          <a:prstGeom prst="rect">
            <a:avLst/>
          </a:prstGeom>
        </p:spPr>
      </p:pic>
      <p:sp>
        <p:nvSpPr>
          <p:cNvPr id="55" name="Text 41"/>
          <p:cNvSpPr/>
          <p:nvPr/>
        </p:nvSpPr>
        <p:spPr>
          <a:xfrm>
            <a:off x="6729984" y="4224528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CHAR-048 helmet worker</a:t>
            </a:r>
            <a:endParaRPr lang="en-US" sz="560" dirty="0"/>
          </a:p>
        </p:txBody>
      </p:sp>
      <p:sp>
        <p:nvSpPr>
          <p:cNvPr id="56" name="Text 42"/>
          <p:cNvSpPr/>
          <p:nvPr/>
        </p:nvSpPr>
        <p:spPr>
          <a:xfrm>
            <a:off x="6729984" y="4334256"/>
            <a:ext cx="14996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工作人物</a:t>
            </a:r>
            <a:endParaRPr lang="en-US" sz="480" dirty="0"/>
          </a:p>
        </p:txBody>
      </p:sp>
      <p:sp>
        <p:nvSpPr>
          <p:cNvPr id="57" name="Shape 43"/>
          <p:cNvSpPr/>
          <p:nvPr/>
        </p:nvSpPr>
        <p:spPr>
          <a:xfrm>
            <a:off x="713232" y="4590288"/>
            <a:ext cx="7726680" cy="201168"/>
          </a:xfrm>
          <a:prstGeom prst="roundRect">
            <a:avLst>
              <a:gd name="adj" fmla="val 36364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58" name="Text 44"/>
          <p:cNvSpPr/>
          <p:nvPr/>
        </p:nvSpPr>
        <p:spPr>
          <a:xfrm>
            <a:off x="932688" y="4654296"/>
            <a:ext cx="722376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policy: one illustration family per slide; do not mix these with rough native-shape people.</a:t>
            </a:r>
            <a:endParaRPr lang="en-US" sz="5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10912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38912"/>
            <a:ext cx="128016" cy="109728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9260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Approved character / scenario assets 5/5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13232" y="658368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cybozu-ish component library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8183880" y="47365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713232" y="9875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既存資料から抽出した透明背景 PNG。人物やキャラクターは画像資産として使い、説明・矢印・役割ラベルは editable PPT elements で重ねる。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713232" y="1389888"/>
            <a:ext cx="168249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10" name="Image 0" descr="C:\Users\bxu\dev\cybozush\cysh-style-ppt\cybozu-style-ppt\assets\characters\worker-tool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1499616"/>
            <a:ext cx="512064" cy="51206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4672" y="2066544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CHAR-049 field worker</a:t>
            </a:r>
            <a:endParaRPr lang="en-US" sz="560" dirty="0"/>
          </a:p>
        </p:txBody>
      </p:sp>
      <p:sp>
        <p:nvSpPr>
          <p:cNvPr id="12" name="Text 9"/>
          <p:cNvSpPr/>
          <p:nvPr/>
        </p:nvSpPr>
        <p:spPr>
          <a:xfrm>
            <a:off x="804672" y="2176272"/>
            <a:ext cx="14996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工作人物</a:t>
            </a:r>
            <a:endParaRPr lang="en-US" sz="480" dirty="0"/>
          </a:p>
        </p:txBody>
      </p:sp>
      <p:sp>
        <p:nvSpPr>
          <p:cNvPr id="13" name="Shape 10"/>
          <p:cNvSpPr/>
          <p:nvPr/>
        </p:nvSpPr>
        <p:spPr>
          <a:xfrm>
            <a:off x="2688336" y="1389888"/>
            <a:ext cx="168249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pic>
        <p:nvPicPr>
          <p:cNvPr id="14" name="Image 1" descr="C:\Users\bxu\dev\cybozush\cysh-style-ppt\cybozu-style-ppt\assets\characters\workstation-two-peo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8344" y="1499616"/>
            <a:ext cx="782480" cy="5120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779776" y="2066544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CHAR-050 two-person workstation</a:t>
            </a:r>
            <a:endParaRPr lang="en-US" sz="560" dirty="0"/>
          </a:p>
        </p:txBody>
      </p:sp>
      <p:sp>
        <p:nvSpPr>
          <p:cNvPr id="16" name="Text 12"/>
          <p:cNvSpPr/>
          <p:nvPr/>
        </p:nvSpPr>
        <p:spPr>
          <a:xfrm>
            <a:off x="2779776" y="2176272"/>
            <a:ext cx="149961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工作人物</a:t>
            </a:r>
            <a:endParaRPr lang="en-US" sz="480" dirty="0"/>
          </a:p>
        </p:txBody>
      </p:sp>
      <p:sp>
        <p:nvSpPr>
          <p:cNvPr id="17" name="Shape 13"/>
          <p:cNvSpPr/>
          <p:nvPr/>
        </p:nvSpPr>
        <p:spPr>
          <a:xfrm>
            <a:off x="713232" y="4590288"/>
            <a:ext cx="7726680" cy="201168"/>
          </a:xfrm>
          <a:prstGeom prst="roundRect">
            <a:avLst>
              <a:gd name="adj" fmla="val 36364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32688" y="4654296"/>
            <a:ext cx="722376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policy: one illustration family per slide; do not mix these with rough native-shape people.</a:t>
            </a:r>
            <a:endParaRPr lang="en-US" sz="5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cybozu-style-ppt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cybozu-ish editable PPT components</dc:title>
  <dc:subject>Editable cybozu-ish PowerPoint component library</dc:subject>
  <dc:creator>cybozu-style-ppt</dc:creator>
  <cp:lastModifiedBy>cybozu-style-ppt</cp:lastModifiedBy>
  <cp:revision>1</cp:revision>
  <dcterms:created xsi:type="dcterms:W3CDTF">2026-06-17T05:33:25Z</dcterms:created>
  <dcterms:modified xsi:type="dcterms:W3CDTF">2026-06-17T05:33:25Z</dcterms:modified>
</cp:coreProperties>
</file>