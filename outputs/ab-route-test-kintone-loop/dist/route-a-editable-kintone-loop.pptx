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Route A note: editable PPT structure with curated raster assets for people/helper visuals.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Route A note: no drawn people; stress character is a source asset, surrounding structure is editable.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Route A note: loop labels/arrows/icons remain editable objects; helper is an image asset.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Route A note: closing structure is editable; positive people/helper visuals use source assets.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5720"/>
            <a:ext cx="9144000" cy="73152"/>
          </a:xfrm>
          <a:prstGeom prst="rect">
            <a:avLst/>
          </a:prstGeom>
          <a:solidFill>
            <a:srgbClr val="F8C400"/>
          </a:solidFill>
          <a:ln w="12700">
            <a:solidFill>
              <a:srgbClr val="F8C4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10912"/>
            <a:ext cx="9144000" cy="73152"/>
          </a:xfrm>
          <a:prstGeom prst="rect">
            <a:avLst/>
          </a:prstGeom>
          <a:solidFill>
            <a:srgbClr val="F8C400"/>
          </a:solidFill>
          <a:ln w="12700">
            <a:solidFill>
              <a:srgbClr val="F8C4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065008" y="4754880"/>
            <a:ext cx="5029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0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A-01</a:t>
            </a:r>
            <a:endParaRPr lang="en-US" sz="700" dirty="0"/>
          </a:p>
        </p:txBody>
      </p:sp>
      <p:sp>
        <p:nvSpPr>
          <p:cNvPr id="5" name="Shape 3"/>
          <p:cNvSpPr/>
          <p:nvPr/>
        </p:nvSpPr>
        <p:spPr>
          <a:xfrm>
            <a:off x="658368" y="713232"/>
            <a:ext cx="1325880" cy="256032"/>
          </a:xfrm>
          <a:prstGeom prst="roundRect">
            <a:avLst>
              <a:gd name="adj" fmla="val 28571"/>
            </a:avLst>
          </a:prstGeom>
          <a:solidFill>
            <a:srgbClr val="F8C400"/>
          </a:solidFill>
          <a:ln w="12700">
            <a:solidFill>
              <a:srgbClr val="F8C4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9808" y="795528"/>
            <a:ext cx="114300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ROUTE A / EDITABLE</a:t>
            </a:r>
            <a:endParaRPr lang="en-US" sz="650" dirty="0"/>
          </a:p>
        </p:txBody>
      </p:sp>
      <p:sp>
        <p:nvSpPr>
          <p:cNvPr id="7" name="Text 5"/>
          <p:cNvSpPr/>
          <p:nvPr/>
        </p:nvSpPr>
        <p:spPr>
          <a:xfrm>
            <a:off x="658368" y="1097280"/>
            <a:ext cx="47548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720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From field feedback to improvement loop</a:t>
            </a:r>
            <a:endParaRPr lang="en-US" sz="2700" dirty="0"/>
          </a:p>
        </p:txBody>
      </p:sp>
      <p:sp>
        <p:nvSpPr>
          <p:cNvPr id="8" name="Text 6"/>
          <p:cNvSpPr/>
          <p:nvPr/>
        </p:nvSpPr>
        <p:spPr>
          <a:xfrm>
            <a:off x="685800" y="2084832"/>
            <a:ext cx="4434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Same Text Lock as Route B. This version keeps copy, arrows, cards, and loop structure editable, while people and helper visuals come from the curated asset source.</a:t>
            </a:r>
            <a:endParaRPr lang="en-US" sz="1050" dirty="0"/>
          </a:p>
        </p:txBody>
      </p:sp>
      <p:pic>
        <p:nvPicPr>
          <p:cNvPr id="9" name="Image 0" descr="C:\Users\bxu\dev\cybozush\cybozu-style-ppt\plugins\cybozu-style-ppt\assets\source-decks\ryo-materials-26-media\ryo-materials-26\images\image21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1234440"/>
            <a:ext cx="749808" cy="1325880"/>
          </a:xfrm>
          <a:prstGeom prst="rect">
            <a:avLst/>
          </a:prstGeom>
        </p:spPr>
      </p:pic>
      <p:pic>
        <p:nvPicPr>
          <p:cNvPr id="10" name="Image 1" descr="C:\Users\bxu\dev\cybozush\cybozu-style-ppt\plugins\cybozu-style-ppt\assets\source-decks\ryo-materials-26-media\ryo-materials-26\images\image230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5392" y="1572768"/>
            <a:ext cx="1024128" cy="868680"/>
          </a:xfrm>
          <a:prstGeom prst="rect">
            <a:avLst/>
          </a:prstGeom>
        </p:spPr>
      </p:pic>
      <p:pic>
        <p:nvPicPr>
          <p:cNvPr id="11" name="Image 2" descr="C:\Users\bxu\dev\cybozush\cybozu-style-ppt\plugins\cybozu-style-ppt\assets\source-decks\ryo-materials-26-media\ryo-materials-26\images\image187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60920" y="1243584"/>
            <a:ext cx="822960" cy="1024128"/>
          </a:xfrm>
          <a:prstGeom prst="rect">
            <a:avLst/>
          </a:prstGeom>
        </p:spPr>
      </p:pic>
      <p:sp>
        <p:nvSpPr>
          <p:cNvPr id="12" name="Shape 7"/>
          <p:cNvSpPr/>
          <p:nvPr/>
        </p:nvSpPr>
        <p:spPr>
          <a:xfrm>
            <a:off x="5486400" y="2880360"/>
            <a:ext cx="2907792" cy="658368"/>
          </a:xfrm>
          <a:prstGeom prst="roundRect">
            <a:avLst>
              <a:gd name="adj" fmla="val 22222"/>
            </a:avLst>
          </a:prstGeom>
          <a:solidFill>
            <a:srgbClr val="FFF4CC"/>
          </a:solidFill>
          <a:ln w="12700">
            <a:solidFill>
              <a:srgbClr val="F8C400"/>
            </a:solidFill>
            <a:prstDash val="solid"/>
          </a:ln>
        </p:spPr>
      </p:sp>
      <p:sp>
        <p:nvSpPr>
          <p:cNvPr id="13" name="Text 8"/>
          <p:cNvSpPr/>
          <p:nvPr/>
        </p:nvSpPr>
        <p:spPr>
          <a:xfrm>
            <a:off x="5687568" y="3127248"/>
            <a:ext cx="250545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field input -&gt; approval -&gt; notice -&gt; summary</a:t>
            </a:r>
            <a:endParaRPr lang="en-US" sz="78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5720"/>
            <a:ext cx="9144000" cy="73152"/>
          </a:xfrm>
          <a:prstGeom prst="rect">
            <a:avLst/>
          </a:prstGeom>
          <a:solidFill>
            <a:srgbClr val="F8C400"/>
          </a:solidFill>
          <a:ln w="12700">
            <a:solidFill>
              <a:srgbClr val="F8C4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10912"/>
            <a:ext cx="9144000" cy="73152"/>
          </a:xfrm>
          <a:prstGeom prst="rect">
            <a:avLst/>
          </a:prstGeom>
          <a:solidFill>
            <a:srgbClr val="F8C400"/>
          </a:solidFill>
          <a:ln w="12700">
            <a:solidFill>
              <a:srgbClr val="F8C4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065008" y="4754880"/>
            <a:ext cx="5029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0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A-02</a:t>
            </a:r>
            <a:endParaRPr lang="en-US" sz="700" dirty="0"/>
          </a:p>
        </p:txBody>
      </p:sp>
      <p:sp>
        <p:nvSpPr>
          <p:cNvPr id="5" name="Shape 3"/>
          <p:cNvSpPr/>
          <p:nvPr/>
        </p:nvSpPr>
        <p:spPr>
          <a:xfrm>
            <a:off x="658368" y="713232"/>
            <a:ext cx="658368" cy="256032"/>
          </a:xfrm>
          <a:prstGeom prst="roundRect">
            <a:avLst>
              <a:gd name="adj" fmla="val 28571"/>
            </a:avLst>
          </a:prstGeom>
          <a:solidFill>
            <a:srgbClr val="F19A2A"/>
          </a:solidFill>
          <a:ln w="12700">
            <a:solidFill>
              <a:srgbClr val="F19A2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9808" y="795528"/>
            <a:ext cx="47548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PAIN</a:t>
            </a:r>
            <a:endParaRPr lang="en-US" sz="650" dirty="0"/>
          </a:p>
        </p:txBody>
      </p:sp>
      <p:sp>
        <p:nvSpPr>
          <p:cNvPr id="7" name="Text 5"/>
          <p:cNvSpPr/>
          <p:nvPr/>
        </p:nvSpPr>
        <p:spPr>
          <a:xfrm>
            <a:off x="658368" y="1078992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720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Separate updates hide the pattern</a:t>
            </a:r>
            <a:endParaRPr lang="en-US" sz="2300" dirty="0"/>
          </a:p>
        </p:txBody>
      </p:sp>
      <p:pic>
        <p:nvPicPr>
          <p:cNvPr id="8" name="Image 0" descr="C:\Users\bxu\dev\cybozush\cybozu-style-ppt\plugins\cybozu-style-ppt\assets\source-decks\ryo-materials-26-media\ryo-materials-26\images\image18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" y="1874520"/>
            <a:ext cx="1024128" cy="1024128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2148840" y="1755648"/>
            <a:ext cx="164592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D9DEE7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2148840" y="1755648"/>
            <a:ext cx="73152" cy="1005840"/>
          </a:xfrm>
          <a:prstGeom prst="rect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2404872" y="1920240"/>
            <a:ext cx="1243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Paper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2404872" y="2212848"/>
            <a:ext cx="12435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4A55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Issue details stay local.</a:t>
            </a:r>
            <a:endParaRPr lang="en-US" sz="740" dirty="0"/>
          </a:p>
        </p:txBody>
      </p:sp>
      <p:sp>
        <p:nvSpPr>
          <p:cNvPr id="13" name="Shape 10"/>
          <p:cNvSpPr/>
          <p:nvPr/>
        </p:nvSpPr>
        <p:spPr>
          <a:xfrm>
            <a:off x="3977640" y="2487168"/>
            <a:ext cx="164592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D9DEE7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3977640" y="2487168"/>
            <a:ext cx="73152" cy="1005840"/>
          </a:xfrm>
          <a:prstGeom prst="rect">
            <a:avLst/>
          </a:prstGeom>
          <a:solidFill>
            <a:srgbClr val="21A6B7"/>
          </a:solidFill>
          <a:ln w="12700">
            <a:solidFill>
              <a:srgbClr val="21A6B7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233672" y="2651760"/>
            <a:ext cx="1243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Spreadsheet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4233672" y="2944368"/>
            <a:ext cx="12435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4A55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Trends require manual work.</a:t>
            </a:r>
            <a:endParaRPr lang="en-US" sz="740" dirty="0"/>
          </a:p>
        </p:txBody>
      </p:sp>
      <p:sp>
        <p:nvSpPr>
          <p:cNvPr id="17" name="Shape 14"/>
          <p:cNvSpPr/>
          <p:nvPr/>
        </p:nvSpPr>
        <p:spPr>
          <a:xfrm>
            <a:off x="5806440" y="1755648"/>
            <a:ext cx="164592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D9DEE7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5806440" y="1755648"/>
            <a:ext cx="73152" cy="1005840"/>
          </a:xfrm>
          <a:prstGeom prst="rect">
            <a:avLst/>
          </a:prstGeom>
          <a:solidFill>
            <a:srgbClr val="F19A2A"/>
          </a:solidFill>
          <a:ln w="12700">
            <a:solidFill>
              <a:srgbClr val="F19A2A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062472" y="1920240"/>
            <a:ext cx="1243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Message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6062472" y="2212848"/>
            <a:ext cx="12435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4A55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Follow-up gets separated.</a:t>
            </a:r>
            <a:endParaRPr lang="en-US" sz="740" dirty="0"/>
          </a:p>
        </p:txBody>
      </p:sp>
      <p:sp>
        <p:nvSpPr>
          <p:cNvPr id="21" name="Shape 18"/>
          <p:cNvSpPr/>
          <p:nvPr/>
        </p:nvSpPr>
        <p:spPr>
          <a:xfrm>
            <a:off x="1874520" y="2331720"/>
            <a:ext cx="5897880" cy="182880"/>
          </a:xfrm>
          <a:prstGeom prst="line">
            <a:avLst/>
          </a:prstGeom>
          <a:noFill/>
          <a:ln w="15240">
            <a:solidFill>
              <a:srgbClr val="D9DEE7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2176272" y="3977640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4A55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Each update exists, but the improvement signal is fragmented.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5720"/>
            <a:ext cx="9144000" cy="73152"/>
          </a:xfrm>
          <a:prstGeom prst="rect">
            <a:avLst/>
          </a:prstGeom>
          <a:solidFill>
            <a:srgbClr val="F8C400"/>
          </a:solidFill>
          <a:ln w="12700">
            <a:solidFill>
              <a:srgbClr val="F8C4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10912"/>
            <a:ext cx="9144000" cy="73152"/>
          </a:xfrm>
          <a:prstGeom prst="rect">
            <a:avLst/>
          </a:prstGeom>
          <a:solidFill>
            <a:srgbClr val="F8C400"/>
          </a:solidFill>
          <a:ln w="12700">
            <a:solidFill>
              <a:srgbClr val="F8C4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065008" y="4754880"/>
            <a:ext cx="5029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0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A-03</a:t>
            </a:r>
            <a:endParaRPr lang="en-US" sz="700" dirty="0"/>
          </a:p>
        </p:txBody>
      </p:sp>
      <p:sp>
        <p:nvSpPr>
          <p:cNvPr id="5" name="Shape 3"/>
          <p:cNvSpPr/>
          <p:nvPr/>
        </p:nvSpPr>
        <p:spPr>
          <a:xfrm>
            <a:off x="658368" y="713232"/>
            <a:ext cx="914400" cy="256032"/>
          </a:xfrm>
          <a:prstGeom prst="roundRect">
            <a:avLst>
              <a:gd name="adj" fmla="val 28571"/>
            </a:avLst>
          </a:prstGeom>
          <a:solidFill>
            <a:srgbClr val="4BAE65"/>
          </a:solidFill>
          <a:ln w="12700">
            <a:solidFill>
              <a:srgbClr val="4BAE6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9808" y="795528"/>
            <a:ext cx="73152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SOLUTION</a:t>
            </a:r>
            <a:endParaRPr lang="en-US" sz="650" dirty="0"/>
          </a:p>
        </p:txBody>
      </p:sp>
      <p:sp>
        <p:nvSpPr>
          <p:cNvPr id="7" name="Text 5"/>
          <p:cNvSpPr/>
          <p:nvPr/>
        </p:nvSpPr>
        <p:spPr>
          <a:xfrm>
            <a:off x="658368" y="1078992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720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One app connects the loop</a:t>
            </a:r>
            <a:endParaRPr lang="en-US" sz="2300" dirty="0"/>
          </a:p>
        </p:txBody>
      </p:sp>
      <p:sp>
        <p:nvSpPr>
          <p:cNvPr id="8" name="Text 6"/>
          <p:cNvSpPr/>
          <p:nvPr/>
        </p:nvSpPr>
        <p:spPr>
          <a:xfrm>
            <a:off x="685800" y="1600200"/>
            <a:ext cx="3200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Input -&gt; Approval -&gt; Notice -&gt; Summary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920240" y="1920240"/>
            <a:ext cx="603504" cy="603504"/>
          </a:xfrm>
          <a:prstGeom prst="ellipse">
            <a:avLst/>
          </a:prstGeom>
          <a:solidFill>
            <a:srgbClr val="F8C400"/>
          </a:solidFill>
          <a:ln w="12700">
            <a:solidFill>
              <a:srgbClr val="F8C400"/>
            </a:solidFill>
            <a:prstDash val="solid"/>
          </a:ln>
        </p:spPr>
      </p:sp>
      <p:pic>
        <p:nvPicPr>
          <p:cNvPr id="10" name="Image 0" descr="C:\Users\bxu\dev\cybozush\cybozu-style-ppt\plugins\cybozu-style-ppt\assets\source-decks\ryo-materials-26-media\ryo-materials-26\images\image6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57400" y="2057400"/>
            <a:ext cx="329184" cy="329184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691640" y="2679192"/>
            <a:ext cx="1051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Input</a:t>
            </a:r>
            <a:endParaRPr lang="en-US" sz="720" dirty="0"/>
          </a:p>
        </p:txBody>
      </p:sp>
      <p:sp>
        <p:nvSpPr>
          <p:cNvPr id="12" name="Shape 9"/>
          <p:cNvSpPr/>
          <p:nvPr/>
        </p:nvSpPr>
        <p:spPr>
          <a:xfrm>
            <a:off x="4206240" y="1234440"/>
            <a:ext cx="603504" cy="603504"/>
          </a:xfrm>
          <a:prstGeom prst="ellipse">
            <a:avLst/>
          </a:prstGeom>
          <a:solidFill>
            <a:srgbClr val="4BAE65"/>
          </a:solidFill>
          <a:ln w="12700">
            <a:solidFill>
              <a:srgbClr val="4BAE65"/>
            </a:solidFill>
            <a:prstDash val="solid"/>
          </a:ln>
        </p:spPr>
      </p:sp>
      <p:pic>
        <p:nvPicPr>
          <p:cNvPr id="13" name="Image 1" descr="C:\Users\bxu\dev\cybozush\cybozu-style-ppt\plugins\cybozu-style-ppt\assets\source-decks\ryo-materials-26-media\ryo-materials-26\images\image95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43400" y="1371600"/>
            <a:ext cx="329184" cy="329184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977640" y="1993392"/>
            <a:ext cx="1051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Approval</a:t>
            </a:r>
            <a:endParaRPr lang="en-US" sz="720" dirty="0"/>
          </a:p>
        </p:txBody>
      </p:sp>
      <p:sp>
        <p:nvSpPr>
          <p:cNvPr id="15" name="Shape 11"/>
          <p:cNvSpPr/>
          <p:nvPr/>
        </p:nvSpPr>
        <p:spPr>
          <a:xfrm>
            <a:off x="6263640" y="1920240"/>
            <a:ext cx="603504" cy="603504"/>
          </a:xfrm>
          <a:prstGeom prst="ellipse">
            <a:avLst/>
          </a:prstGeom>
          <a:solidFill>
            <a:srgbClr val="21A6B7"/>
          </a:solidFill>
          <a:ln w="12700">
            <a:solidFill>
              <a:srgbClr val="21A6B7"/>
            </a:solidFill>
            <a:prstDash val="solid"/>
          </a:ln>
        </p:spPr>
      </p:sp>
      <p:pic>
        <p:nvPicPr>
          <p:cNvPr id="16" name="Image 2" descr="C:\Users\bxu\dev\cybozush\cybozu-style-ppt\plugins\cybozu-style-ppt\assets\source-decks\ryo-materials-26-media\ryo-materials-26\images\image49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2057400"/>
            <a:ext cx="329184" cy="32918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035040" y="2679192"/>
            <a:ext cx="1051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Notice</a:t>
            </a:r>
            <a:endParaRPr lang="en-US" sz="720" dirty="0"/>
          </a:p>
        </p:txBody>
      </p:sp>
      <p:sp>
        <p:nvSpPr>
          <p:cNvPr id="18" name="Shape 13"/>
          <p:cNvSpPr/>
          <p:nvPr/>
        </p:nvSpPr>
        <p:spPr>
          <a:xfrm>
            <a:off x="4206240" y="2816352"/>
            <a:ext cx="603504" cy="603504"/>
          </a:xfrm>
          <a:prstGeom prst="ellipse">
            <a:avLst/>
          </a:prstGeom>
          <a:solidFill>
            <a:srgbClr val="F19A2A"/>
          </a:solidFill>
          <a:ln w="12700">
            <a:solidFill>
              <a:srgbClr val="F19A2A"/>
            </a:solidFill>
            <a:prstDash val="solid"/>
          </a:ln>
        </p:spPr>
      </p:sp>
      <p:pic>
        <p:nvPicPr>
          <p:cNvPr id="19" name="Image 3" descr="C:\Users\bxu\dev\cybozush\cybozu-style-ppt\plugins\cybozu-style-ppt\assets\source-decks\ryo-materials-26-media\ryo-materials-26\images\image119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43400" y="2953512"/>
            <a:ext cx="329184" cy="329184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3977640" y="3575304"/>
            <a:ext cx="1051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Summary</a:t>
            </a:r>
            <a:endParaRPr lang="en-US" sz="720" dirty="0"/>
          </a:p>
        </p:txBody>
      </p:sp>
      <p:sp>
        <p:nvSpPr>
          <p:cNvPr id="21" name="Shape 15"/>
          <p:cNvSpPr/>
          <p:nvPr/>
        </p:nvSpPr>
        <p:spPr>
          <a:xfrm rot="20400000">
            <a:off x="2907792" y="1810512"/>
            <a:ext cx="713232" cy="201168"/>
          </a:xfrm>
          <a:prstGeom prst="rightArrow">
            <a:avLst/>
          </a:prstGeom>
          <a:solidFill>
            <a:srgbClr val="E0A900"/>
          </a:solidFill>
          <a:ln w="12700">
            <a:solidFill>
              <a:srgbClr val="E0A900"/>
            </a:solidFill>
            <a:prstDash val="solid"/>
          </a:ln>
        </p:spPr>
      </p:sp>
      <p:sp>
        <p:nvSpPr>
          <p:cNvPr id="22" name="Shape 16"/>
          <p:cNvSpPr/>
          <p:nvPr/>
        </p:nvSpPr>
        <p:spPr>
          <a:xfrm rot="1500000">
            <a:off x="5413248" y="1810512"/>
            <a:ext cx="713232" cy="201168"/>
          </a:xfrm>
          <a:prstGeom prst="rightArrow">
            <a:avLst/>
          </a:prstGeom>
          <a:solidFill>
            <a:srgbClr val="E0A900"/>
          </a:solidFill>
          <a:ln w="12700">
            <a:solidFill>
              <a:srgbClr val="E0A900"/>
            </a:solidFill>
            <a:prstDash val="solid"/>
          </a:ln>
        </p:spPr>
      </p:sp>
      <p:sp>
        <p:nvSpPr>
          <p:cNvPr id="23" name="Shape 17"/>
          <p:cNvSpPr/>
          <p:nvPr/>
        </p:nvSpPr>
        <p:spPr>
          <a:xfrm rot="9300000">
            <a:off x="5413248" y="2816352"/>
            <a:ext cx="713232" cy="201168"/>
          </a:xfrm>
          <a:prstGeom prst="rightArrow">
            <a:avLst/>
          </a:prstGeom>
          <a:solidFill>
            <a:srgbClr val="E0A900"/>
          </a:solidFill>
          <a:ln w="12700">
            <a:solidFill>
              <a:srgbClr val="E0A900"/>
            </a:solidFill>
            <a:prstDash val="solid"/>
          </a:ln>
        </p:spPr>
      </p:sp>
      <p:sp>
        <p:nvSpPr>
          <p:cNvPr id="24" name="Shape 18"/>
          <p:cNvSpPr/>
          <p:nvPr/>
        </p:nvSpPr>
        <p:spPr>
          <a:xfrm rot="12000000">
            <a:off x="2907792" y="2816352"/>
            <a:ext cx="713232" cy="201168"/>
          </a:xfrm>
          <a:prstGeom prst="rightArrow">
            <a:avLst/>
          </a:prstGeom>
          <a:solidFill>
            <a:srgbClr val="E0A900"/>
          </a:solidFill>
          <a:ln w="12700">
            <a:solidFill>
              <a:srgbClr val="E0A900"/>
            </a:solidFill>
            <a:prstDash val="solid"/>
          </a:ln>
        </p:spPr>
      </p:sp>
      <p:pic>
        <p:nvPicPr>
          <p:cNvPr id="25" name="Image 4" descr="C:\Users\bxu\dev\cybozush\cybozu-style-ppt\plugins\cybozu-style-ppt\assets\source-decks\ryo-materials-26-media\ryo-materials-26\images\image187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52360" y="3154680"/>
            <a:ext cx="658368" cy="841248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1572768" y="4279392"/>
            <a:ext cx="6126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visible loop is editable; the helper is a curated raster asset.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5720"/>
            <a:ext cx="9144000" cy="73152"/>
          </a:xfrm>
          <a:prstGeom prst="rect">
            <a:avLst/>
          </a:prstGeom>
          <a:solidFill>
            <a:srgbClr val="F8C400"/>
          </a:solidFill>
          <a:ln w="12700">
            <a:solidFill>
              <a:srgbClr val="F8C4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10912"/>
            <a:ext cx="9144000" cy="73152"/>
          </a:xfrm>
          <a:prstGeom prst="rect">
            <a:avLst/>
          </a:prstGeom>
          <a:solidFill>
            <a:srgbClr val="F8C400"/>
          </a:solidFill>
          <a:ln w="12700">
            <a:solidFill>
              <a:srgbClr val="F8C4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065008" y="4754880"/>
            <a:ext cx="5029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0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A-04</a:t>
            </a:r>
            <a:endParaRPr lang="en-US" sz="700" dirty="0"/>
          </a:p>
        </p:txBody>
      </p:sp>
      <p:sp>
        <p:nvSpPr>
          <p:cNvPr id="5" name="Shape 3"/>
          <p:cNvSpPr/>
          <p:nvPr/>
        </p:nvSpPr>
        <p:spPr>
          <a:xfrm>
            <a:off x="658368" y="713232"/>
            <a:ext cx="960120" cy="256032"/>
          </a:xfrm>
          <a:prstGeom prst="roundRect">
            <a:avLst>
              <a:gd name="adj" fmla="val 28571"/>
            </a:avLst>
          </a:prstGeom>
          <a:solidFill>
            <a:srgbClr val="F8C400"/>
          </a:solidFill>
          <a:ln w="12700">
            <a:solidFill>
              <a:srgbClr val="F8C4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9808" y="795528"/>
            <a:ext cx="77724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CONTINUE</a:t>
            </a:r>
            <a:endParaRPr lang="en-US" sz="650" dirty="0"/>
          </a:p>
        </p:txBody>
      </p:sp>
      <p:sp>
        <p:nvSpPr>
          <p:cNvPr id="7" name="Text 5"/>
          <p:cNvSpPr/>
          <p:nvPr/>
        </p:nvSpPr>
        <p:spPr>
          <a:xfrm>
            <a:off x="658368" y="1078992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720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Every small fix leaves a trace</a:t>
            </a:r>
            <a:endParaRPr lang="en-US" sz="2300" dirty="0"/>
          </a:p>
        </p:txBody>
      </p:sp>
      <p:sp>
        <p:nvSpPr>
          <p:cNvPr id="8" name="Text 6"/>
          <p:cNvSpPr/>
          <p:nvPr/>
        </p:nvSpPr>
        <p:spPr>
          <a:xfrm>
            <a:off x="685800" y="1627632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Visible history makes it easier to review, reuse, and expand successful changes across teams.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1005840" y="2743200"/>
            <a:ext cx="493776" cy="493776"/>
          </a:xfrm>
          <a:prstGeom prst="ellipse">
            <a:avLst/>
          </a:prstGeom>
          <a:solidFill>
            <a:srgbClr val="F8C400"/>
          </a:solidFill>
          <a:ln w="12700">
            <a:solidFill>
              <a:srgbClr val="F8C4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05840" y="2889504"/>
            <a:ext cx="49377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713232" y="3438144"/>
            <a:ext cx="107899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Review</a:t>
            </a:r>
            <a:endParaRPr lang="en-US" sz="820" dirty="0"/>
          </a:p>
        </p:txBody>
      </p:sp>
      <p:sp>
        <p:nvSpPr>
          <p:cNvPr id="12" name="Shape 10"/>
          <p:cNvSpPr/>
          <p:nvPr/>
        </p:nvSpPr>
        <p:spPr>
          <a:xfrm>
            <a:off x="1664208" y="2990088"/>
            <a:ext cx="1097280" cy="0"/>
          </a:xfrm>
          <a:prstGeom prst="line">
            <a:avLst/>
          </a:prstGeom>
          <a:noFill/>
          <a:ln w="16510">
            <a:solidFill>
              <a:srgbClr val="E0A900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3017520" y="2743200"/>
            <a:ext cx="493776" cy="493776"/>
          </a:xfrm>
          <a:prstGeom prst="ellipse">
            <a:avLst/>
          </a:prstGeom>
          <a:solidFill>
            <a:srgbClr val="21A6B7"/>
          </a:solidFill>
          <a:ln w="12700">
            <a:solidFill>
              <a:srgbClr val="21A6B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017520" y="2889504"/>
            <a:ext cx="49377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2724912" y="3438144"/>
            <a:ext cx="107899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Reuse</a:t>
            </a:r>
            <a:endParaRPr lang="en-US" sz="820" dirty="0"/>
          </a:p>
        </p:txBody>
      </p:sp>
      <p:sp>
        <p:nvSpPr>
          <p:cNvPr id="16" name="Shape 14"/>
          <p:cNvSpPr/>
          <p:nvPr/>
        </p:nvSpPr>
        <p:spPr>
          <a:xfrm>
            <a:off x="3675888" y="2990088"/>
            <a:ext cx="1097280" cy="0"/>
          </a:xfrm>
          <a:prstGeom prst="line">
            <a:avLst/>
          </a:prstGeom>
          <a:noFill/>
          <a:ln w="16510">
            <a:solidFill>
              <a:srgbClr val="E0A900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5029200" y="2743200"/>
            <a:ext cx="493776" cy="493776"/>
          </a:xfrm>
          <a:prstGeom prst="ellipse">
            <a:avLst/>
          </a:prstGeom>
          <a:solidFill>
            <a:srgbClr val="4BAE65"/>
          </a:solidFill>
          <a:ln w="12700">
            <a:solidFill>
              <a:srgbClr val="4BAE6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0" y="2889504"/>
            <a:ext cx="49377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4736592" y="3438144"/>
            <a:ext cx="107899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Expand</a:t>
            </a:r>
            <a:endParaRPr lang="en-US" sz="820" dirty="0"/>
          </a:p>
        </p:txBody>
      </p:sp>
      <p:pic>
        <p:nvPicPr>
          <p:cNvPr id="20" name="Image 0" descr="C:\Users\bxu\dev\cybozush\cybozu-style-ppt\plugins\cybozu-style-ppt\assets\source-decks\ryo-materials-26-media\ryo-materials-26\images\image22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0" y="2212848"/>
            <a:ext cx="960120" cy="1234440"/>
          </a:xfrm>
          <a:prstGeom prst="rect">
            <a:avLst/>
          </a:prstGeom>
        </p:spPr>
      </p:pic>
      <p:pic>
        <p:nvPicPr>
          <p:cNvPr id="21" name="Image 1" descr="C:\Users\bxu\dev\cybozush\cybozu-style-ppt\plugins\cybozu-style-ppt\assets\source-decks\ryo-materials-26-media\ryo-materials-26\images\image188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1993392"/>
            <a:ext cx="868680" cy="1298448"/>
          </a:xfrm>
          <a:prstGeom prst="rect">
            <a:avLst/>
          </a:prstGeom>
        </p:spPr>
      </p:pic>
      <p:sp>
        <p:nvSpPr>
          <p:cNvPr id="22" name="Shape 18"/>
          <p:cNvSpPr/>
          <p:nvPr/>
        </p:nvSpPr>
        <p:spPr>
          <a:xfrm>
            <a:off x="896112" y="4187952"/>
            <a:ext cx="6995160" cy="329184"/>
          </a:xfrm>
          <a:prstGeom prst="roundRect">
            <a:avLst>
              <a:gd name="adj" fmla="val 33333"/>
            </a:avLst>
          </a:prstGeom>
          <a:solidFill>
            <a:srgbClr val="FFF4CC"/>
          </a:solidFill>
          <a:ln w="12700">
            <a:solidFill>
              <a:srgbClr val="FFF4CC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1115568" y="4315968"/>
            <a:ext cx="6565392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30" b="1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Next action: choose one field report and make the loop visible.</a:t>
            </a:r>
            <a:endParaRPr lang="en-US" sz="73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cybozu-style-ppt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Route A test - kintone field feedback loop</dc:title>
  <dc:subject>Route A test deck using editable structure and curated assets</dc:subject>
  <dc:creator>cybozu-style-ppt</dc:creator>
  <cp:lastModifiedBy>cybozu-style-ppt</cp:lastModifiedBy>
  <cp:revision>1</cp:revision>
  <dcterms:created xsi:type="dcterms:W3CDTF">2026-06-24T05:06:07Z</dcterms:created>
  <dcterms:modified xsi:type="dcterms:W3CDTF">2026-06-24T05:06:07Z</dcterms:modified>
</cp:coreProperties>
</file>