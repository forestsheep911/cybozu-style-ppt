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9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5720"/>
            <a:ext cx="9144000" cy="73152"/>
          </a:xfrm>
          <a:prstGeom prst="rect">
            <a:avLst/>
          </a:prstGeom>
          <a:solidFill>
            <a:srgbClr val="F8C400"/>
          </a:solidFill>
          <a:ln w="12700">
            <a:solidFill>
              <a:srgbClr val="F8C4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10912"/>
            <a:ext cx="9144000" cy="73152"/>
          </a:xfrm>
          <a:prstGeom prst="rect">
            <a:avLst/>
          </a:prstGeom>
          <a:solidFill>
            <a:srgbClr val="F8C400"/>
          </a:solidFill>
          <a:ln w="12700">
            <a:solidFill>
              <a:srgbClr val="F8C400"/>
            </a:solidFill>
            <a:prstDash val="solid"/>
          </a:ln>
        </p:spPr>
      </p:sp>
      <p:pic>
        <p:nvPicPr>
          <p:cNvPr id="4" name="Image 0" descr="C:\Users\bxu\dev\cybozush\cysh-style-ppt\cybozu-style-ppt\assets\characters\kintone-cloud-pl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9849" y="868680"/>
            <a:ext cx="1080037" cy="71323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58368" y="1719072"/>
            <a:ext cx="5212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0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kintone で業務改善を回し続ける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685800" y="2487168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4A556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分散した入力、承認、集計をひとつの流れに変える 6 枚のデモストーリー。</a:t>
            </a:r>
            <a:endParaRPr lang="en-US" sz="1020" dirty="0"/>
          </a:p>
        </p:txBody>
      </p:sp>
      <p:sp>
        <p:nvSpPr>
          <p:cNvPr id="7" name="Shape 4"/>
          <p:cNvSpPr/>
          <p:nvPr/>
        </p:nvSpPr>
        <p:spPr>
          <a:xfrm>
            <a:off x="685800" y="2999232"/>
            <a:ext cx="1481328" cy="310896"/>
          </a:xfrm>
          <a:prstGeom prst="roundRect">
            <a:avLst>
              <a:gd name="adj" fmla="val 35294"/>
            </a:avLst>
          </a:prstGeom>
          <a:solidFill>
            <a:srgbClr val="F8C400"/>
          </a:solidFill>
          <a:ln w="12700">
            <a:solidFill>
              <a:srgbClr val="F8C40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95528" y="3083174"/>
            <a:ext cx="1261872" cy="1088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720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native PPT structure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2331720" y="2999232"/>
            <a:ext cx="1234440" cy="310896"/>
          </a:xfrm>
          <a:prstGeom prst="roundRect">
            <a:avLst>
              <a:gd name="adj" fmla="val 3529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441448" y="3083174"/>
            <a:ext cx="1014984" cy="1088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720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approved assets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3730752" y="2999232"/>
            <a:ext cx="1097280" cy="310896"/>
          </a:xfrm>
          <a:prstGeom prst="roundRect">
            <a:avLst>
              <a:gd name="adj" fmla="val 3529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840480" y="3083174"/>
            <a:ext cx="877824" cy="1088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720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story rhythm</a:t>
            </a:r>
            <a:endParaRPr lang="en-US" sz="800" dirty="0"/>
          </a:p>
        </p:txBody>
      </p:sp>
      <p:pic>
        <p:nvPicPr>
          <p:cNvPr id="13" name="Image 1" descr="C:\Users\bxu\dev\cybozush\cysh-style-ppt\cybozu-style-ppt\assets\characters\kintone-character-flying-box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0" y="1005840"/>
            <a:ext cx="2057400" cy="205740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6053328" y="3246120"/>
            <a:ext cx="2240280" cy="1353312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053328" y="3246120"/>
            <a:ext cx="2240280" cy="310896"/>
          </a:xfrm>
          <a:prstGeom prst="rect">
            <a:avLst/>
          </a:prstGeom>
          <a:solidFill>
            <a:srgbClr val="F6F8FA"/>
          </a:solidFill>
          <a:ln w="12700">
            <a:solidFill>
              <a:srgbClr val="F6F8FA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217920" y="3364992"/>
            <a:ext cx="841248" cy="73152"/>
          </a:xfrm>
          <a:prstGeom prst="rect">
            <a:avLst/>
          </a:prstGeom>
          <a:solidFill>
            <a:srgbClr val="F8C400"/>
          </a:solidFill>
          <a:ln w="12700">
            <a:solidFill>
              <a:srgbClr val="F8C400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309360" y="3776472"/>
            <a:ext cx="109728" cy="109728"/>
          </a:xfrm>
          <a:prstGeom prst="ellipse">
            <a:avLst/>
          </a:prstGeom>
          <a:solidFill>
            <a:srgbClr val="F8C40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6492240" y="3803904"/>
            <a:ext cx="851306" cy="45720"/>
          </a:xfrm>
          <a:prstGeom prst="rect">
            <a:avLst/>
          </a:prstGeom>
          <a:solidFill>
            <a:srgbClr val="D9DEE7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6492240" y="3904488"/>
            <a:ext cx="537667" cy="36576"/>
          </a:xfrm>
          <a:prstGeom prst="rect">
            <a:avLst/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6309360" y="3941064"/>
            <a:ext cx="109728" cy="109728"/>
          </a:xfrm>
          <a:prstGeom prst="ellipse">
            <a:avLst/>
          </a:prstGeom>
          <a:solidFill>
            <a:srgbClr val="21A6B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6492240" y="3968496"/>
            <a:ext cx="851306" cy="45720"/>
          </a:xfrm>
          <a:prstGeom prst="rect">
            <a:avLst/>
          </a:prstGeom>
          <a:solidFill>
            <a:srgbClr val="D9DEE7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6492240" y="4069080"/>
            <a:ext cx="537667" cy="36576"/>
          </a:xfrm>
          <a:prstGeom prst="rect">
            <a:avLst/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6309360" y="4105656"/>
            <a:ext cx="109728" cy="109728"/>
          </a:xfrm>
          <a:prstGeom prst="ellipse">
            <a:avLst/>
          </a:prstGeom>
          <a:solidFill>
            <a:srgbClr val="F19A2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6492240" y="4133088"/>
            <a:ext cx="851306" cy="45720"/>
          </a:xfrm>
          <a:prstGeom prst="rect">
            <a:avLst/>
          </a:prstGeom>
          <a:solidFill>
            <a:srgbClr val="D9DEE7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6492240" y="4233672"/>
            <a:ext cx="537667" cy="36576"/>
          </a:xfrm>
          <a:prstGeom prst="rect">
            <a:avLst/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6309360" y="4270248"/>
            <a:ext cx="109728" cy="109728"/>
          </a:xfrm>
          <a:prstGeom prst="ellipse">
            <a:avLst/>
          </a:prstGeom>
          <a:solidFill>
            <a:srgbClr val="4BAE6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6492240" y="4297680"/>
            <a:ext cx="851306" cy="45720"/>
          </a:xfrm>
          <a:prstGeom prst="rect">
            <a:avLst/>
          </a:prstGeom>
          <a:solidFill>
            <a:srgbClr val="D9DEE7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6492240" y="4398264"/>
            <a:ext cx="537667" cy="36576"/>
          </a:xfrm>
          <a:prstGeom prst="rect">
            <a:avLst/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7196328" y="3877056"/>
            <a:ext cx="146304" cy="411480"/>
          </a:xfrm>
          <a:prstGeom prst="roundRect">
            <a:avLst>
              <a:gd name="adj" fmla="val 18750"/>
            </a:avLst>
          </a:prstGeom>
          <a:solidFill>
            <a:srgbClr val="F8C40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Shape 26"/>
          <p:cNvSpPr/>
          <p:nvPr/>
        </p:nvSpPr>
        <p:spPr>
          <a:xfrm>
            <a:off x="7424928" y="3694176"/>
            <a:ext cx="146304" cy="594360"/>
          </a:xfrm>
          <a:prstGeom prst="roundRect">
            <a:avLst>
              <a:gd name="adj" fmla="val 18750"/>
            </a:avLst>
          </a:prstGeom>
          <a:solidFill>
            <a:srgbClr val="21A6B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7653528" y="3483864"/>
            <a:ext cx="146304" cy="804672"/>
          </a:xfrm>
          <a:prstGeom prst="roundRect">
            <a:avLst>
              <a:gd name="adj" fmla="val 18750"/>
            </a:avLst>
          </a:prstGeom>
          <a:solidFill>
            <a:srgbClr val="4BAE6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7882128" y="3328416"/>
            <a:ext cx="146304" cy="960120"/>
          </a:xfrm>
          <a:prstGeom prst="roundRect">
            <a:avLst>
              <a:gd name="adj" fmla="val 18750"/>
            </a:avLst>
          </a:prstGeom>
          <a:solidFill>
            <a:srgbClr val="F19A2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8183880" y="473659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20" b="1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72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5720"/>
            <a:ext cx="9144000" cy="73152"/>
          </a:xfrm>
          <a:prstGeom prst="rect">
            <a:avLst/>
          </a:prstGeom>
          <a:solidFill>
            <a:srgbClr val="F8C400"/>
          </a:solidFill>
          <a:ln w="12700">
            <a:solidFill>
              <a:srgbClr val="F8C4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10912"/>
            <a:ext cx="9144000" cy="73152"/>
          </a:xfrm>
          <a:prstGeom prst="rect">
            <a:avLst/>
          </a:prstGeom>
          <a:solidFill>
            <a:srgbClr val="F8C400"/>
          </a:solidFill>
          <a:ln w="12700">
            <a:solidFill>
              <a:srgbClr val="F8C4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438912"/>
            <a:ext cx="128016" cy="109728"/>
          </a:xfrm>
          <a:prstGeom prst="rect">
            <a:avLst/>
          </a:prstGeom>
          <a:solidFill>
            <a:srgbClr val="F8C400"/>
          </a:solidFill>
          <a:ln w="12700">
            <a:solidFill>
              <a:srgbClr val="F8C4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292608"/>
            <a:ext cx="7223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50" b="1" dirty="0">
                <a:solidFill>
                  <a:srgbClr val="1720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紙・Excel・メールが分かれるほど、改善は遅くなる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13232" y="658368"/>
            <a:ext cx="4389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story demo / reusable character assets</a:t>
            </a:r>
            <a:endParaRPr lang="en-US" sz="680" dirty="0"/>
          </a:p>
        </p:txBody>
      </p:sp>
      <p:sp>
        <p:nvSpPr>
          <p:cNvPr id="7" name="Text 5"/>
          <p:cNvSpPr/>
          <p:nvPr/>
        </p:nvSpPr>
        <p:spPr>
          <a:xfrm>
            <a:off x="8183880" y="473659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20" b="1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720" dirty="0"/>
          </a:p>
        </p:txBody>
      </p:sp>
      <p:sp>
        <p:nvSpPr>
          <p:cNvPr id="8" name="Text 6"/>
          <p:cNvSpPr/>
          <p:nvPr/>
        </p:nvSpPr>
        <p:spPr>
          <a:xfrm>
            <a:off x="731520" y="987552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4A556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現場は入力に追われ、管理部門は確認に追われる。問題はツールの数ではなく、業務の流れが一枚につながっていないこと。</a:t>
            </a:r>
            <a:endParaRPr lang="en-US" sz="880" dirty="0"/>
          </a:p>
        </p:txBody>
      </p:sp>
      <p:pic>
        <p:nvPicPr>
          <p:cNvPr id="9" name="Image 0" descr="C:\Users\bxu\dev\cybozush\cysh-style-ppt\cybozu-style-ppt\assets\characters\line-person-worri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" y="1517904"/>
            <a:ext cx="1261872" cy="1261872"/>
          </a:xfrm>
          <a:prstGeom prst="rect">
            <a:avLst/>
          </a:prstGeom>
        </p:spPr>
      </p:pic>
      <p:pic>
        <p:nvPicPr>
          <p:cNvPr id="10" name="Image 1" descr="C:\Users\bxu\dev\cybozush\cysh-style-ppt\cybozu-style-ppt\assets\characters\line-person-document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4576" y="1476756"/>
            <a:ext cx="1234440" cy="123444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2240280" y="1417320"/>
            <a:ext cx="192024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2240280" y="1417320"/>
            <a:ext cx="73152" cy="1078992"/>
          </a:xfrm>
          <a:prstGeom prst="rect">
            <a:avLst/>
          </a:prstGeom>
          <a:solidFill>
            <a:srgbClr val="F19A2A"/>
          </a:solidFill>
          <a:ln w="12700">
            <a:solidFill>
              <a:srgbClr val="F19A2A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2441448" y="1618488"/>
            <a:ext cx="347472" cy="347472"/>
          </a:xfrm>
          <a:prstGeom prst="ellipse">
            <a:avLst/>
          </a:prstGeom>
          <a:solidFill>
            <a:srgbClr val="F19A2A"/>
          </a:solidFill>
          <a:ln w="12700">
            <a:solidFill>
              <a:srgbClr val="F19A2A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2441448" y="1719072"/>
            <a:ext cx="34747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700" dirty="0"/>
          </a:p>
        </p:txBody>
      </p:sp>
      <p:sp>
        <p:nvSpPr>
          <p:cNvPr id="15" name="Text 11"/>
          <p:cNvSpPr/>
          <p:nvPr/>
        </p:nvSpPr>
        <p:spPr>
          <a:xfrm>
            <a:off x="2926080" y="1600200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720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入力が散在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2926080" y="1911096"/>
            <a:ext cx="10515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4A556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紙、Excel、メールで最新版と担当者が見えない。</a:t>
            </a:r>
            <a:endParaRPr lang="en-US" sz="680" dirty="0"/>
          </a:p>
        </p:txBody>
      </p:sp>
      <p:sp>
        <p:nvSpPr>
          <p:cNvPr id="17" name="Shape 13"/>
          <p:cNvSpPr/>
          <p:nvPr/>
        </p:nvSpPr>
        <p:spPr>
          <a:xfrm>
            <a:off x="4315968" y="1417320"/>
            <a:ext cx="192024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4315968" y="1417320"/>
            <a:ext cx="73152" cy="1078992"/>
          </a:xfrm>
          <a:prstGeom prst="rect">
            <a:avLst/>
          </a:prstGeom>
          <a:solidFill>
            <a:srgbClr val="E65A4F"/>
          </a:solidFill>
          <a:ln w="12700">
            <a:solidFill>
              <a:srgbClr val="E65A4F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4517136" y="1618488"/>
            <a:ext cx="347472" cy="347472"/>
          </a:xfrm>
          <a:prstGeom prst="ellipse">
            <a:avLst/>
          </a:prstGeom>
          <a:solidFill>
            <a:srgbClr val="E65A4F"/>
          </a:solidFill>
          <a:ln w="12700">
            <a:solidFill>
              <a:srgbClr val="E65A4F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4517136" y="1719072"/>
            <a:ext cx="34747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700" dirty="0"/>
          </a:p>
        </p:txBody>
      </p:sp>
      <p:sp>
        <p:nvSpPr>
          <p:cNvPr id="21" name="Text 17"/>
          <p:cNvSpPr/>
          <p:nvPr/>
        </p:nvSpPr>
        <p:spPr>
          <a:xfrm>
            <a:off x="5001768" y="1600200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720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承認が止まる</a:t>
            </a:r>
            <a:endParaRPr lang="en-US" sz="1050" dirty="0"/>
          </a:p>
        </p:txBody>
      </p:sp>
      <p:sp>
        <p:nvSpPr>
          <p:cNvPr id="22" name="Text 18"/>
          <p:cNvSpPr/>
          <p:nvPr/>
        </p:nvSpPr>
        <p:spPr>
          <a:xfrm>
            <a:off x="5001768" y="1911096"/>
            <a:ext cx="10515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4A556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差戻し、確認、証跡が人の記憶に残る。</a:t>
            </a:r>
            <a:endParaRPr lang="en-US" sz="680" dirty="0"/>
          </a:p>
        </p:txBody>
      </p:sp>
      <p:sp>
        <p:nvSpPr>
          <p:cNvPr id="23" name="Shape 19"/>
          <p:cNvSpPr/>
          <p:nvPr/>
        </p:nvSpPr>
        <p:spPr>
          <a:xfrm>
            <a:off x="2240280" y="2880360"/>
            <a:ext cx="192024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2240280" y="2880360"/>
            <a:ext cx="73152" cy="1078992"/>
          </a:xfrm>
          <a:prstGeom prst="rect">
            <a:avLst/>
          </a:prstGeom>
          <a:solidFill>
            <a:srgbClr val="21A6B7"/>
          </a:solidFill>
          <a:ln w="12700">
            <a:solidFill>
              <a:srgbClr val="21A6B7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2441448" y="3081528"/>
            <a:ext cx="347472" cy="347472"/>
          </a:xfrm>
          <a:prstGeom prst="ellipse">
            <a:avLst/>
          </a:prstGeom>
          <a:solidFill>
            <a:srgbClr val="21A6B7"/>
          </a:solidFill>
          <a:ln w="12700">
            <a:solidFill>
              <a:srgbClr val="21A6B7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2441448" y="3182112"/>
            <a:ext cx="34747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700" dirty="0"/>
          </a:p>
        </p:txBody>
      </p:sp>
      <p:sp>
        <p:nvSpPr>
          <p:cNvPr id="27" name="Text 23"/>
          <p:cNvSpPr/>
          <p:nvPr/>
        </p:nvSpPr>
        <p:spPr>
          <a:xfrm>
            <a:off x="2926080" y="3063240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720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集計が遅れる</a:t>
            </a:r>
            <a:endParaRPr lang="en-US" sz="1050" dirty="0"/>
          </a:p>
        </p:txBody>
      </p:sp>
      <p:sp>
        <p:nvSpPr>
          <p:cNvPr id="28" name="Text 24"/>
          <p:cNvSpPr/>
          <p:nvPr/>
        </p:nvSpPr>
        <p:spPr>
          <a:xfrm>
            <a:off x="2926080" y="3374136"/>
            <a:ext cx="10515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4A556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転記と集計で判断のタイミングを逃す。</a:t>
            </a:r>
            <a:endParaRPr lang="en-US" sz="680" dirty="0"/>
          </a:p>
        </p:txBody>
      </p:sp>
      <p:sp>
        <p:nvSpPr>
          <p:cNvPr id="29" name="Shape 25"/>
          <p:cNvSpPr/>
          <p:nvPr/>
        </p:nvSpPr>
        <p:spPr>
          <a:xfrm>
            <a:off x="4315968" y="2880360"/>
            <a:ext cx="192024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30" name="Shape 26"/>
          <p:cNvSpPr/>
          <p:nvPr/>
        </p:nvSpPr>
        <p:spPr>
          <a:xfrm>
            <a:off x="4315968" y="2880360"/>
            <a:ext cx="73152" cy="1078992"/>
          </a:xfrm>
          <a:prstGeom prst="rect">
            <a:avLst/>
          </a:prstGeom>
          <a:solidFill>
            <a:srgbClr val="4BAE65"/>
          </a:solidFill>
          <a:ln w="12700">
            <a:solidFill>
              <a:srgbClr val="4BAE65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4517136" y="3081528"/>
            <a:ext cx="347472" cy="347472"/>
          </a:xfrm>
          <a:prstGeom prst="ellipse">
            <a:avLst/>
          </a:prstGeom>
          <a:solidFill>
            <a:srgbClr val="4BAE65"/>
          </a:solidFill>
          <a:ln w="12700">
            <a:solidFill>
              <a:srgbClr val="4BAE65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4517136" y="3182112"/>
            <a:ext cx="34747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700" dirty="0"/>
          </a:p>
        </p:txBody>
      </p:sp>
      <p:sp>
        <p:nvSpPr>
          <p:cNvPr id="33" name="Text 29"/>
          <p:cNvSpPr/>
          <p:nvPr/>
        </p:nvSpPr>
        <p:spPr>
          <a:xfrm>
            <a:off x="5001768" y="3063240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720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型が残らない</a:t>
            </a:r>
            <a:endParaRPr lang="en-US" sz="1050" dirty="0"/>
          </a:p>
        </p:txBody>
      </p:sp>
      <p:sp>
        <p:nvSpPr>
          <p:cNvPr id="34" name="Text 30"/>
          <p:cNvSpPr/>
          <p:nvPr/>
        </p:nvSpPr>
        <p:spPr>
          <a:xfrm>
            <a:off x="5001768" y="3374136"/>
            <a:ext cx="10515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4A556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改善できても、別部署に横展開しにくい。</a:t>
            </a:r>
            <a:endParaRPr lang="en-US" sz="680" dirty="0"/>
          </a:p>
        </p:txBody>
      </p:sp>
      <p:pic>
        <p:nvPicPr>
          <p:cNvPr id="35" name="Image 2" descr="C:\Users\bxu\dev\cybozush\cysh-style-ppt\cybozu-style-ppt\assets\characters\line-person-lapto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2999232"/>
            <a:ext cx="1234440" cy="12344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5720"/>
            <a:ext cx="9144000" cy="73152"/>
          </a:xfrm>
          <a:prstGeom prst="rect">
            <a:avLst/>
          </a:prstGeom>
          <a:solidFill>
            <a:srgbClr val="F8C400"/>
          </a:solidFill>
          <a:ln w="12700">
            <a:solidFill>
              <a:srgbClr val="F8C4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10912"/>
            <a:ext cx="9144000" cy="73152"/>
          </a:xfrm>
          <a:prstGeom prst="rect">
            <a:avLst/>
          </a:prstGeom>
          <a:solidFill>
            <a:srgbClr val="F8C400"/>
          </a:solidFill>
          <a:ln w="12700">
            <a:solidFill>
              <a:srgbClr val="F8C4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438912"/>
            <a:ext cx="128016" cy="109728"/>
          </a:xfrm>
          <a:prstGeom prst="rect">
            <a:avLst/>
          </a:prstGeom>
          <a:solidFill>
            <a:srgbClr val="F8C400"/>
          </a:solidFill>
          <a:ln w="12700">
            <a:solidFill>
              <a:srgbClr val="F8C4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292608"/>
            <a:ext cx="7223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50" b="1" dirty="0">
                <a:solidFill>
                  <a:srgbClr val="1720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まず、誰が何を回すのかを見える化する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13232" y="658368"/>
            <a:ext cx="4389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story demo / reusable character assets</a:t>
            </a:r>
            <a:endParaRPr lang="en-US" sz="680" dirty="0"/>
          </a:p>
        </p:txBody>
      </p:sp>
      <p:sp>
        <p:nvSpPr>
          <p:cNvPr id="7" name="Text 5"/>
          <p:cNvSpPr/>
          <p:nvPr/>
        </p:nvSpPr>
        <p:spPr>
          <a:xfrm>
            <a:off x="8183880" y="473659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20" b="1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720" dirty="0"/>
          </a:p>
        </p:txBody>
      </p:sp>
      <p:sp>
        <p:nvSpPr>
          <p:cNvPr id="8" name="Text 6"/>
          <p:cNvSpPr/>
          <p:nvPr/>
        </p:nvSpPr>
        <p:spPr>
          <a:xfrm>
            <a:off x="731520" y="987552"/>
            <a:ext cx="6766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4A556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人物イラストは主役ではなく、業務上の責任を読むための視線誘導として使う。役割は chip と表で editable に残す。</a:t>
            </a:r>
            <a:endParaRPr lang="en-US" sz="870" dirty="0"/>
          </a:p>
        </p:txBody>
      </p:sp>
      <p:sp>
        <p:nvSpPr>
          <p:cNvPr id="9" name="Shape 7"/>
          <p:cNvSpPr/>
          <p:nvPr/>
        </p:nvSpPr>
        <p:spPr>
          <a:xfrm>
            <a:off x="868680" y="1508760"/>
            <a:ext cx="141732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</p:spPr>
      </p:sp>
      <p:pic>
        <p:nvPicPr>
          <p:cNvPr id="10" name="Image 0" descr="C:\Users\bxu\dev\cybozush\cysh-style-ppt\cybozu-style-ppt\assets\characters\orange-user-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25880" y="1664208"/>
            <a:ext cx="502920" cy="50292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1014984" y="2121408"/>
            <a:ext cx="1115568" cy="438912"/>
          </a:xfrm>
          <a:prstGeom prst="roundRect">
            <a:avLst>
              <a:gd name="adj" fmla="val 27083"/>
            </a:avLst>
          </a:prstGeom>
          <a:solidFill>
            <a:srgbClr val="FFFFFF"/>
          </a:solidFill>
          <a:ln w="13970">
            <a:solidFill>
              <a:srgbClr val="F8C40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133856" y="2240280"/>
            <a:ext cx="201168" cy="201168"/>
          </a:xfrm>
          <a:prstGeom prst="ellipse">
            <a:avLst/>
          </a:prstGeom>
          <a:solidFill>
            <a:srgbClr val="F8C400"/>
          </a:solidFill>
          <a:ln w="12700">
            <a:solidFill>
              <a:srgbClr val="F8C40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426464" y="2231136"/>
            <a:ext cx="61264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b="1" dirty="0">
                <a:solidFill>
                  <a:srgbClr val="1720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現場</a:t>
            </a:r>
            <a:endParaRPr lang="en-US" sz="650" dirty="0"/>
          </a:p>
        </p:txBody>
      </p:sp>
      <p:sp>
        <p:nvSpPr>
          <p:cNvPr id="14" name="Text 11"/>
          <p:cNvSpPr/>
          <p:nvPr/>
        </p:nvSpPr>
        <p:spPr>
          <a:xfrm>
            <a:off x="1426464" y="2386584"/>
            <a:ext cx="6126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00" dirty="0">
                <a:solidFill>
                  <a:srgbClr val="4A55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</a:t>
            </a:r>
            <a:endParaRPr lang="en-US" sz="500" dirty="0"/>
          </a:p>
        </p:txBody>
      </p:sp>
      <p:sp>
        <p:nvSpPr>
          <p:cNvPr id="15" name="Shape 12"/>
          <p:cNvSpPr/>
          <p:nvPr/>
        </p:nvSpPr>
        <p:spPr>
          <a:xfrm>
            <a:off x="2788920" y="1508760"/>
            <a:ext cx="141732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</p:spPr>
      </p:sp>
      <p:pic>
        <p:nvPicPr>
          <p:cNvPr id="16" name="Image 1" descr="C:\Users\bxu\dev\cybozush\cysh-style-ppt\cybozu-style-ppt\assets\characters\orange-woman-icon-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6120" y="1664208"/>
            <a:ext cx="502920" cy="502920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2935224" y="2121408"/>
            <a:ext cx="1115568" cy="438912"/>
          </a:xfrm>
          <a:prstGeom prst="roundRect">
            <a:avLst>
              <a:gd name="adj" fmla="val 27083"/>
            </a:avLst>
          </a:prstGeom>
          <a:solidFill>
            <a:srgbClr val="FFFFFF"/>
          </a:solidFill>
          <a:ln w="13970">
            <a:solidFill>
              <a:srgbClr val="21A6B7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3054096" y="2240280"/>
            <a:ext cx="201168" cy="201168"/>
          </a:xfrm>
          <a:prstGeom prst="ellipse">
            <a:avLst/>
          </a:prstGeom>
          <a:solidFill>
            <a:srgbClr val="21A6B7"/>
          </a:solidFill>
          <a:ln w="12700">
            <a:solidFill>
              <a:srgbClr val="21A6B7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3346704" y="2231136"/>
            <a:ext cx="61264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b="1" dirty="0">
                <a:solidFill>
                  <a:srgbClr val="1720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管理</a:t>
            </a:r>
            <a:endParaRPr lang="en-US" sz="650" dirty="0"/>
          </a:p>
        </p:txBody>
      </p:sp>
      <p:sp>
        <p:nvSpPr>
          <p:cNvPr id="20" name="Text 16"/>
          <p:cNvSpPr/>
          <p:nvPr/>
        </p:nvSpPr>
        <p:spPr>
          <a:xfrm>
            <a:off x="3346704" y="2386584"/>
            <a:ext cx="6126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00" dirty="0">
                <a:solidFill>
                  <a:srgbClr val="4A55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approve</a:t>
            </a:r>
            <a:endParaRPr lang="en-US" sz="500" dirty="0"/>
          </a:p>
        </p:txBody>
      </p:sp>
      <p:sp>
        <p:nvSpPr>
          <p:cNvPr id="21" name="Shape 17"/>
          <p:cNvSpPr/>
          <p:nvPr/>
        </p:nvSpPr>
        <p:spPr>
          <a:xfrm>
            <a:off x="4709160" y="1508760"/>
            <a:ext cx="141732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</p:spPr>
      </p:sp>
      <p:pic>
        <p:nvPicPr>
          <p:cNvPr id="22" name="Image 2" descr="C:\Users\bxu\dev\cybozush\cysh-style-ppt\cybozu-style-ppt\assets\characters\orange-group-ico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6360" y="1664208"/>
            <a:ext cx="502920" cy="502920"/>
          </a:xfrm>
          <a:prstGeom prst="rect">
            <a:avLst/>
          </a:prstGeom>
        </p:spPr>
      </p:pic>
      <p:sp>
        <p:nvSpPr>
          <p:cNvPr id="23" name="Shape 18"/>
          <p:cNvSpPr/>
          <p:nvPr/>
        </p:nvSpPr>
        <p:spPr>
          <a:xfrm>
            <a:off x="4855464" y="2121408"/>
            <a:ext cx="1115568" cy="438912"/>
          </a:xfrm>
          <a:prstGeom prst="roundRect">
            <a:avLst>
              <a:gd name="adj" fmla="val 27083"/>
            </a:avLst>
          </a:prstGeom>
          <a:solidFill>
            <a:srgbClr val="FFFFFF"/>
          </a:solidFill>
          <a:ln w="13970">
            <a:solidFill>
              <a:srgbClr val="F19A2A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4974336" y="2240280"/>
            <a:ext cx="201168" cy="201168"/>
          </a:xfrm>
          <a:prstGeom prst="ellipse">
            <a:avLst/>
          </a:prstGeom>
          <a:solidFill>
            <a:srgbClr val="F19A2A"/>
          </a:solidFill>
          <a:ln w="12700">
            <a:solidFill>
              <a:srgbClr val="F19A2A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5266944" y="2231136"/>
            <a:ext cx="61264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b="1" dirty="0">
                <a:solidFill>
                  <a:srgbClr val="1720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部門</a:t>
            </a:r>
            <a:endParaRPr lang="en-US" sz="650" dirty="0"/>
          </a:p>
        </p:txBody>
      </p:sp>
      <p:sp>
        <p:nvSpPr>
          <p:cNvPr id="26" name="Text 21"/>
          <p:cNvSpPr/>
          <p:nvPr/>
        </p:nvSpPr>
        <p:spPr>
          <a:xfrm>
            <a:off x="5266944" y="2386584"/>
            <a:ext cx="6126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00" dirty="0">
                <a:solidFill>
                  <a:srgbClr val="4A55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</a:t>
            </a:r>
            <a:endParaRPr lang="en-US" sz="500" dirty="0"/>
          </a:p>
        </p:txBody>
      </p:sp>
      <p:sp>
        <p:nvSpPr>
          <p:cNvPr id="27" name="Shape 22"/>
          <p:cNvSpPr/>
          <p:nvPr/>
        </p:nvSpPr>
        <p:spPr>
          <a:xfrm>
            <a:off x="6629400" y="1508760"/>
            <a:ext cx="141732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</p:spPr>
      </p:sp>
      <p:pic>
        <p:nvPicPr>
          <p:cNvPr id="28" name="Image 3" descr="C:\Users\bxu\dev\cybozush\cysh-style-ppt\cybozu-style-ppt\assets\characters\orange-meeting-tabl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86600" y="1664208"/>
            <a:ext cx="502920" cy="502920"/>
          </a:xfrm>
          <a:prstGeom prst="rect">
            <a:avLst/>
          </a:prstGeom>
        </p:spPr>
      </p:pic>
      <p:sp>
        <p:nvSpPr>
          <p:cNvPr id="29" name="Shape 23"/>
          <p:cNvSpPr/>
          <p:nvPr/>
        </p:nvSpPr>
        <p:spPr>
          <a:xfrm>
            <a:off x="6775704" y="2121408"/>
            <a:ext cx="1115568" cy="438912"/>
          </a:xfrm>
          <a:prstGeom prst="roundRect">
            <a:avLst>
              <a:gd name="adj" fmla="val 27083"/>
            </a:avLst>
          </a:prstGeom>
          <a:solidFill>
            <a:srgbClr val="FFFFFF"/>
          </a:solidFill>
          <a:ln w="13970">
            <a:solidFill>
              <a:srgbClr val="4BAE65"/>
            </a:solidFill>
            <a:prstDash val="solid"/>
          </a:ln>
        </p:spPr>
      </p:sp>
      <p:sp>
        <p:nvSpPr>
          <p:cNvPr id="30" name="Shape 24"/>
          <p:cNvSpPr/>
          <p:nvPr/>
        </p:nvSpPr>
        <p:spPr>
          <a:xfrm>
            <a:off x="6894576" y="2240280"/>
            <a:ext cx="201168" cy="201168"/>
          </a:xfrm>
          <a:prstGeom prst="ellipse">
            <a:avLst/>
          </a:prstGeom>
          <a:solidFill>
            <a:srgbClr val="4BAE65"/>
          </a:solidFill>
          <a:ln w="12700">
            <a:solidFill>
              <a:srgbClr val="4BAE65"/>
            </a:solidFill>
            <a:prstDash val="solid"/>
          </a:ln>
        </p:spPr>
      </p:sp>
      <p:sp>
        <p:nvSpPr>
          <p:cNvPr id="31" name="Text 25"/>
          <p:cNvSpPr/>
          <p:nvPr/>
        </p:nvSpPr>
        <p:spPr>
          <a:xfrm>
            <a:off x="7187184" y="2231136"/>
            <a:ext cx="61264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b="1" dirty="0">
                <a:solidFill>
                  <a:srgbClr val="1720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会議</a:t>
            </a:r>
            <a:endParaRPr lang="en-US" sz="650" dirty="0"/>
          </a:p>
        </p:txBody>
      </p:sp>
      <p:sp>
        <p:nvSpPr>
          <p:cNvPr id="32" name="Text 26"/>
          <p:cNvSpPr/>
          <p:nvPr/>
        </p:nvSpPr>
        <p:spPr>
          <a:xfrm>
            <a:off x="7187184" y="2386584"/>
            <a:ext cx="6126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00" dirty="0">
                <a:solidFill>
                  <a:srgbClr val="4A55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decide</a:t>
            </a:r>
            <a:endParaRPr lang="en-US" sz="500" dirty="0"/>
          </a:p>
        </p:txBody>
      </p:sp>
      <p:sp>
        <p:nvSpPr>
          <p:cNvPr id="33" name="Text 27"/>
          <p:cNvSpPr/>
          <p:nvPr/>
        </p:nvSpPr>
        <p:spPr>
          <a:xfrm>
            <a:off x="960120" y="2926080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720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責任分担の読み方</a:t>
            </a:r>
            <a:endParaRPr lang="en-US" sz="1050" dirty="0"/>
          </a:p>
        </p:txBody>
      </p:sp>
      <p:sp>
        <p:nvSpPr>
          <p:cNvPr id="34" name="Shape 28"/>
          <p:cNvSpPr/>
          <p:nvPr/>
        </p:nvSpPr>
        <p:spPr>
          <a:xfrm>
            <a:off x="914400" y="3246120"/>
            <a:ext cx="7223760" cy="274320"/>
          </a:xfrm>
          <a:prstGeom prst="roundRect">
            <a:avLst>
              <a:gd name="adj" fmla="val 13333"/>
            </a:avLst>
          </a:prstGeom>
          <a:solidFill>
            <a:srgbClr val="F6F8FA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5" name="Text 29"/>
          <p:cNvSpPr/>
          <p:nvPr/>
        </p:nvSpPr>
        <p:spPr>
          <a:xfrm>
            <a:off x="1078992" y="3337560"/>
            <a:ext cx="109728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4A556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業務入力</a:t>
            </a:r>
            <a:endParaRPr lang="en-US" sz="650" dirty="0"/>
          </a:p>
        </p:txBody>
      </p:sp>
      <p:sp>
        <p:nvSpPr>
          <p:cNvPr id="36" name="Text 30"/>
          <p:cNvSpPr/>
          <p:nvPr/>
        </p:nvSpPr>
        <p:spPr>
          <a:xfrm>
            <a:off x="2404872" y="3337560"/>
            <a:ext cx="36576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</a:t>
            </a:r>
            <a:endParaRPr lang="en-US" sz="740" dirty="0"/>
          </a:p>
        </p:txBody>
      </p:sp>
      <p:sp>
        <p:nvSpPr>
          <p:cNvPr id="37" name="Text 31"/>
          <p:cNvSpPr/>
          <p:nvPr/>
        </p:nvSpPr>
        <p:spPr>
          <a:xfrm>
            <a:off x="3730752" y="3337560"/>
            <a:ext cx="36576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</a:t>
            </a:r>
            <a:endParaRPr lang="en-US" sz="740" dirty="0"/>
          </a:p>
        </p:txBody>
      </p:sp>
      <p:sp>
        <p:nvSpPr>
          <p:cNvPr id="38" name="Text 32"/>
          <p:cNvSpPr/>
          <p:nvPr/>
        </p:nvSpPr>
        <p:spPr>
          <a:xfrm>
            <a:off x="5056632" y="3337560"/>
            <a:ext cx="36576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</a:t>
            </a:r>
            <a:endParaRPr lang="en-US" sz="740" dirty="0"/>
          </a:p>
        </p:txBody>
      </p:sp>
      <p:sp>
        <p:nvSpPr>
          <p:cNvPr id="39" name="Text 33"/>
          <p:cNvSpPr/>
          <p:nvPr/>
        </p:nvSpPr>
        <p:spPr>
          <a:xfrm>
            <a:off x="6382512" y="3337560"/>
            <a:ext cx="36576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</a:t>
            </a:r>
            <a:endParaRPr lang="en-US" sz="740" dirty="0"/>
          </a:p>
        </p:txBody>
      </p:sp>
      <p:sp>
        <p:nvSpPr>
          <p:cNvPr id="40" name="Shape 34"/>
          <p:cNvSpPr/>
          <p:nvPr/>
        </p:nvSpPr>
        <p:spPr>
          <a:xfrm>
            <a:off x="914400" y="3630168"/>
            <a:ext cx="7223760" cy="2743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41" name="Text 35"/>
          <p:cNvSpPr/>
          <p:nvPr/>
        </p:nvSpPr>
        <p:spPr>
          <a:xfrm>
            <a:off x="1078992" y="3721608"/>
            <a:ext cx="109728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4A556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差戻し対応</a:t>
            </a:r>
            <a:endParaRPr lang="en-US" sz="650" dirty="0"/>
          </a:p>
        </p:txBody>
      </p:sp>
      <p:sp>
        <p:nvSpPr>
          <p:cNvPr id="42" name="Text 36"/>
          <p:cNvSpPr/>
          <p:nvPr/>
        </p:nvSpPr>
        <p:spPr>
          <a:xfrm>
            <a:off x="2404872" y="3721608"/>
            <a:ext cx="36576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</a:t>
            </a:r>
            <a:endParaRPr lang="en-US" sz="740" dirty="0"/>
          </a:p>
        </p:txBody>
      </p:sp>
      <p:sp>
        <p:nvSpPr>
          <p:cNvPr id="43" name="Text 37"/>
          <p:cNvSpPr/>
          <p:nvPr/>
        </p:nvSpPr>
        <p:spPr>
          <a:xfrm>
            <a:off x="3730752" y="3721608"/>
            <a:ext cx="36576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</a:t>
            </a:r>
            <a:endParaRPr lang="en-US" sz="740" dirty="0"/>
          </a:p>
        </p:txBody>
      </p:sp>
      <p:sp>
        <p:nvSpPr>
          <p:cNvPr id="44" name="Text 38"/>
          <p:cNvSpPr/>
          <p:nvPr/>
        </p:nvSpPr>
        <p:spPr>
          <a:xfrm>
            <a:off x="5056632" y="3721608"/>
            <a:ext cx="36576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</a:t>
            </a:r>
            <a:endParaRPr lang="en-US" sz="740" dirty="0"/>
          </a:p>
        </p:txBody>
      </p:sp>
      <p:sp>
        <p:nvSpPr>
          <p:cNvPr id="45" name="Text 39"/>
          <p:cNvSpPr/>
          <p:nvPr/>
        </p:nvSpPr>
        <p:spPr>
          <a:xfrm>
            <a:off x="6382512" y="3721608"/>
            <a:ext cx="36576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740" dirty="0"/>
          </a:p>
        </p:txBody>
      </p:sp>
      <p:sp>
        <p:nvSpPr>
          <p:cNvPr id="46" name="Shape 40"/>
          <p:cNvSpPr/>
          <p:nvPr/>
        </p:nvSpPr>
        <p:spPr>
          <a:xfrm>
            <a:off x="914400" y="4014216"/>
            <a:ext cx="7223760" cy="274320"/>
          </a:xfrm>
          <a:prstGeom prst="roundRect">
            <a:avLst>
              <a:gd name="adj" fmla="val 13333"/>
            </a:avLst>
          </a:prstGeom>
          <a:solidFill>
            <a:srgbClr val="F6F8FA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47" name="Text 41"/>
          <p:cNvSpPr/>
          <p:nvPr/>
        </p:nvSpPr>
        <p:spPr>
          <a:xfrm>
            <a:off x="1078992" y="4105656"/>
            <a:ext cx="109728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4A556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月次改善</a:t>
            </a:r>
            <a:endParaRPr lang="en-US" sz="650" dirty="0"/>
          </a:p>
        </p:txBody>
      </p:sp>
      <p:sp>
        <p:nvSpPr>
          <p:cNvPr id="48" name="Text 42"/>
          <p:cNvSpPr/>
          <p:nvPr/>
        </p:nvSpPr>
        <p:spPr>
          <a:xfrm>
            <a:off x="2404872" y="4105656"/>
            <a:ext cx="36576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</a:t>
            </a:r>
            <a:endParaRPr lang="en-US" sz="740" dirty="0"/>
          </a:p>
        </p:txBody>
      </p:sp>
      <p:sp>
        <p:nvSpPr>
          <p:cNvPr id="49" name="Text 43"/>
          <p:cNvSpPr/>
          <p:nvPr/>
        </p:nvSpPr>
        <p:spPr>
          <a:xfrm>
            <a:off x="3730752" y="4105656"/>
            <a:ext cx="36576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</a:t>
            </a:r>
            <a:endParaRPr lang="en-US" sz="740" dirty="0"/>
          </a:p>
        </p:txBody>
      </p:sp>
      <p:sp>
        <p:nvSpPr>
          <p:cNvPr id="50" name="Text 44"/>
          <p:cNvSpPr/>
          <p:nvPr/>
        </p:nvSpPr>
        <p:spPr>
          <a:xfrm>
            <a:off x="5056632" y="4105656"/>
            <a:ext cx="36576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</a:t>
            </a:r>
            <a:endParaRPr lang="en-US" sz="740" dirty="0"/>
          </a:p>
        </p:txBody>
      </p:sp>
      <p:sp>
        <p:nvSpPr>
          <p:cNvPr id="51" name="Text 45"/>
          <p:cNvSpPr/>
          <p:nvPr/>
        </p:nvSpPr>
        <p:spPr>
          <a:xfrm>
            <a:off x="6382512" y="4105656"/>
            <a:ext cx="36576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</a:t>
            </a:r>
            <a:endParaRPr lang="en-US" sz="74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5720"/>
            <a:ext cx="9144000" cy="73152"/>
          </a:xfrm>
          <a:prstGeom prst="rect">
            <a:avLst/>
          </a:prstGeom>
          <a:solidFill>
            <a:srgbClr val="F8C400"/>
          </a:solidFill>
          <a:ln w="12700">
            <a:solidFill>
              <a:srgbClr val="F8C4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10912"/>
            <a:ext cx="9144000" cy="73152"/>
          </a:xfrm>
          <a:prstGeom prst="rect">
            <a:avLst/>
          </a:prstGeom>
          <a:solidFill>
            <a:srgbClr val="F8C400"/>
          </a:solidFill>
          <a:ln w="12700">
            <a:solidFill>
              <a:srgbClr val="F8C4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438912"/>
            <a:ext cx="128016" cy="109728"/>
          </a:xfrm>
          <a:prstGeom prst="rect">
            <a:avLst/>
          </a:prstGeom>
          <a:solidFill>
            <a:srgbClr val="F8C400"/>
          </a:solidFill>
          <a:ln w="12700">
            <a:solidFill>
              <a:srgbClr val="F8C4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292608"/>
            <a:ext cx="7223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50" b="1" dirty="0">
                <a:solidFill>
                  <a:srgbClr val="1720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kintone を中心に、入力から改善までを一つの循環にする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13232" y="658368"/>
            <a:ext cx="4389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story demo / reusable character assets</a:t>
            </a:r>
            <a:endParaRPr lang="en-US" sz="680" dirty="0"/>
          </a:p>
        </p:txBody>
      </p:sp>
      <p:sp>
        <p:nvSpPr>
          <p:cNvPr id="7" name="Text 5"/>
          <p:cNvSpPr/>
          <p:nvPr/>
        </p:nvSpPr>
        <p:spPr>
          <a:xfrm>
            <a:off x="8183880" y="473659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20" b="1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720" dirty="0"/>
          </a:p>
        </p:txBody>
      </p:sp>
      <p:sp>
        <p:nvSpPr>
          <p:cNvPr id="8" name="Text 6"/>
          <p:cNvSpPr/>
          <p:nvPr/>
        </p:nvSpPr>
        <p:spPr>
          <a:xfrm>
            <a:off x="731520" y="987552"/>
            <a:ext cx="6537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4A556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画面を作ることが目的ではない。入力、承認、通知、集計、改善が同じ業務データの上で回る状態を作る。</a:t>
            </a:r>
            <a:endParaRPr lang="en-US" sz="870" dirty="0"/>
          </a:p>
        </p:txBody>
      </p:sp>
      <p:pic>
        <p:nvPicPr>
          <p:cNvPr id="9" name="Image 0" descr="C:\Users\bxu\dev\cybozush\cysh-style-ppt\cybozu-style-ppt\assets\characters\kintone-cloud-pl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17551" y="1874520"/>
            <a:ext cx="1107730" cy="73152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868680" y="1691640"/>
            <a:ext cx="1170432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261872" y="1837944"/>
            <a:ext cx="365760" cy="365760"/>
          </a:xfrm>
          <a:prstGeom prst="ellipse">
            <a:avLst/>
          </a:prstGeom>
          <a:solidFill>
            <a:srgbClr val="F8C400"/>
          </a:solidFill>
          <a:ln w="12700">
            <a:solidFill>
              <a:srgbClr val="F8C40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33272" y="2258568"/>
            <a:ext cx="84124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720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入力</a:t>
            </a:r>
            <a:endParaRPr lang="en-US" sz="750" dirty="0"/>
          </a:p>
        </p:txBody>
      </p:sp>
      <p:sp>
        <p:nvSpPr>
          <p:cNvPr id="13" name="Text 10"/>
          <p:cNvSpPr/>
          <p:nvPr/>
        </p:nvSpPr>
        <p:spPr>
          <a:xfrm>
            <a:off x="978408" y="2395728"/>
            <a:ext cx="95097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10" dirty="0">
                <a:solidFill>
                  <a:srgbClr val="4A556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現場から即時登録</a:t>
            </a:r>
            <a:endParaRPr lang="en-US" sz="510" dirty="0"/>
          </a:p>
        </p:txBody>
      </p:sp>
      <p:sp>
        <p:nvSpPr>
          <p:cNvPr id="14" name="Shape 11"/>
          <p:cNvSpPr/>
          <p:nvPr/>
        </p:nvSpPr>
        <p:spPr>
          <a:xfrm>
            <a:off x="2514600" y="1691640"/>
            <a:ext cx="1170432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2907792" y="1837944"/>
            <a:ext cx="365760" cy="365760"/>
          </a:xfrm>
          <a:prstGeom prst="ellipse">
            <a:avLst/>
          </a:prstGeom>
          <a:solidFill>
            <a:srgbClr val="F19A2A"/>
          </a:solidFill>
          <a:ln w="12700">
            <a:solidFill>
              <a:srgbClr val="F19A2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2679192" y="2258568"/>
            <a:ext cx="84124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720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承認</a:t>
            </a:r>
            <a:endParaRPr lang="en-US" sz="750" dirty="0"/>
          </a:p>
        </p:txBody>
      </p:sp>
      <p:sp>
        <p:nvSpPr>
          <p:cNvPr id="17" name="Text 14"/>
          <p:cNvSpPr/>
          <p:nvPr/>
        </p:nvSpPr>
        <p:spPr>
          <a:xfrm>
            <a:off x="2624328" y="2395728"/>
            <a:ext cx="95097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10" dirty="0">
                <a:solidFill>
                  <a:srgbClr val="4A556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差戻しも履歴化</a:t>
            </a:r>
            <a:endParaRPr lang="en-US" sz="510" dirty="0"/>
          </a:p>
        </p:txBody>
      </p:sp>
      <p:sp>
        <p:nvSpPr>
          <p:cNvPr id="18" name="Shape 15"/>
          <p:cNvSpPr/>
          <p:nvPr/>
        </p:nvSpPr>
        <p:spPr>
          <a:xfrm>
            <a:off x="5486400" y="1691640"/>
            <a:ext cx="1170432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879592" y="1837944"/>
            <a:ext cx="365760" cy="365760"/>
          </a:xfrm>
          <a:prstGeom prst="ellipse">
            <a:avLst/>
          </a:prstGeom>
          <a:solidFill>
            <a:srgbClr val="21A6B7"/>
          </a:solidFill>
          <a:ln w="12700">
            <a:solidFill>
              <a:srgbClr val="21A6B7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650992" y="2258568"/>
            <a:ext cx="84124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720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通知</a:t>
            </a:r>
            <a:endParaRPr lang="en-US" sz="750" dirty="0"/>
          </a:p>
        </p:txBody>
      </p:sp>
      <p:sp>
        <p:nvSpPr>
          <p:cNvPr id="21" name="Text 18"/>
          <p:cNvSpPr/>
          <p:nvPr/>
        </p:nvSpPr>
        <p:spPr>
          <a:xfrm>
            <a:off x="5596128" y="2395728"/>
            <a:ext cx="95097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10" dirty="0">
                <a:solidFill>
                  <a:srgbClr val="4A556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次の担当へ渡す</a:t>
            </a:r>
            <a:endParaRPr lang="en-US" sz="510" dirty="0"/>
          </a:p>
        </p:txBody>
      </p:sp>
      <p:sp>
        <p:nvSpPr>
          <p:cNvPr id="22" name="Shape 19"/>
          <p:cNvSpPr/>
          <p:nvPr/>
        </p:nvSpPr>
        <p:spPr>
          <a:xfrm>
            <a:off x="7150608" y="1691640"/>
            <a:ext cx="1170432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7543800" y="1837944"/>
            <a:ext cx="365760" cy="365760"/>
          </a:xfrm>
          <a:prstGeom prst="ellipse">
            <a:avLst/>
          </a:prstGeom>
          <a:solidFill>
            <a:srgbClr val="4BAE65"/>
          </a:solidFill>
          <a:ln w="12700">
            <a:solidFill>
              <a:srgbClr val="4BAE65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315200" y="2258568"/>
            <a:ext cx="84124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720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集計</a:t>
            </a:r>
            <a:endParaRPr lang="en-US" sz="750" dirty="0"/>
          </a:p>
        </p:txBody>
      </p:sp>
      <p:sp>
        <p:nvSpPr>
          <p:cNvPr id="25" name="Text 22"/>
          <p:cNvSpPr/>
          <p:nvPr/>
        </p:nvSpPr>
        <p:spPr>
          <a:xfrm>
            <a:off x="7260336" y="2395728"/>
            <a:ext cx="95097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10" dirty="0">
                <a:solidFill>
                  <a:srgbClr val="4A556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判断材料を作る</a:t>
            </a:r>
            <a:endParaRPr lang="en-US" sz="510" dirty="0"/>
          </a:p>
        </p:txBody>
      </p:sp>
      <p:sp>
        <p:nvSpPr>
          <p:cNvPr id="26" name="Shape 23"/>
          <p:cNvSpPr/>
          <p:nvPr/>
        </p:nvSpPr>
        <p:spPr>
          <a:xfrm>
            <a:off x="2130552" y="2011680"/>
            <a:ext cx="411480" cy="310896"/>
          </a:xfrm>
          <a:prstGeom prst="chevron">
            <a:avLst/>
          </a:prstGeom>
          <a:solidFill>
            <a:srgbClr val="F8C400"/>
          </a:solidFill>
          <a:ln w="12700">
            <a:solidFill>
              <a:srgbClr val="F8C400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3182112" y="2011680"/>
            <a:ext cx="411480" cy="310896"/>
          </a:xfrm>
          <a:prstGeom prst="chevron">
            <a:avLst/>
          </a:prstGeom>
          <a:solidFill>
            <a:srgbClr val="F8C400"/>
          </a:solidFill>
          <a:ln w="12700">
            <a:solidFill>
              <a:srgbClr val="F8C400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5230368" y="2011680"/>
            <a:ext cx="411480" cy="310896"/>
          </a:xfrm>
          <a:prstGeom prst="chevron">
            <a:avLst/>
          </a:prstGeom>
          <a:solidFill>
            <a:srgbClr val="F8C400"/>
          </a:solidFill>
          <a:ln w="12700">
            <a:solidFill>
              <a:srgbClr val="F8C400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6537960" y="2011680"/>
            <a:ext cx="411480" cy="310896"/>
          </a:xfrm>
          <a:prstGeom prst="chevron">
            <a:avLst/>
          </a:prstGeom>
          <a:solidFill>
            <a:srgbClr val="F8C400"/>
          </a:solidFill>
          <a:ln w="12700">
            <a:solidFill>
              <a:srgbClr val="F8C400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1143000" y="3063240"/>
            <a:ext cx="283464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1143000" y="3063240"/>
            <a:ext cx="2834640" cy="310896"/>
          </a:xfrm>
          <a:prstGeom prst="rect">
            <a:avLst/>
          </a:prstGeom>
          <a:solidFill>
            <a:srgbClr val="F6F8FA"/>
          </a:solidFill>
          <a:ln w="12700">
            <a:solidFill>
              <a:srgbClr val="F6F8FA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1307592" y="3182112"/>
            <a:ext cx="841248" cy="73152"/>
          </a:xfrm>
          <a:prstGeom prst="rect">
            <a:avLst/>
          </a:prstGeom>
          <a:solidFill>
            <a:srgbClr val="F8C400"/>
          </a:solidFill>
          <a:ln w="12700">
            <a:solidFill>
              <a:srgbClr val="F8C400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1399032" y="3593592"/>
            <a:ext cx="109728" cy="109728"/>
          </a:xfrm>
          <a:prstGeom prst="ellipse">
            <a:avLst/>
          </a:prstGeom>
          <a:solidFill>
            <a:srgbClr val="F8C40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1581912" y="3621024"/>
            <a:ext cx="1077163" cy="45720"/>
          </a:xfrm>
          <a:prstGeom prst="rect">
            <a:avLst/>
          </a:prstGeom>
          <a:solidFill>
            <a:srgbClr val="D9DEE7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1581912" y="3721608"/>
            <a:ext cx="680314" cy="36576"/>
          </a:xfrm>
          <a:prstGeom prst="rect">
            <a:avLst/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1399032" y="3758184"/>
            <a:ext cx="109728" cy="109728"/>
          </a:xfrm>
          <a:prstGeom prst="ellipse">
            <a:avLst/>
          </a:prstGeom>
          <a:solidFill>
            <a:srgbClr val="21A6B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1581912" y="3785616"/>
            <a:ext cx="1077163" cy="45720"/>
          </a:xfrm>
          <a:prstGeom prst="rect">
            <a:avLst/>
          </a:prstGeom>
          <a:solidFill>
            <a:srgbClr val="D9DEE7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1581912" y="3886200"/>
            <a:ext cx="680314" cy="36576"/>
          </a:xfrm>
          <a:prstGeom prst="rect">
            <a:avLst/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1399032" y="3922776"/>
            <a:ext cx="109728" cy="109728"/>
          </a:xfrm>
          <a:prstGeom prst="ellipse">
            <a:avLst/>
          </a:prstGeom>
          <a:solidFill>
            <a:srgbClr val="F19A2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1581912" y="3950208"/>
            <a:ext cx="1077163" cy="45720"/>
          </a:xfrm>
          <a:prstGeom prst="rect">
            <a:avLst/>
          </a:prstGeom>
          <a:solidFill>
            <a:srgbClr val="D9DEE7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1581912" y="4050792"/>
            <a:ext cx="680314" cy="36576"/>
          </a:xfrm>
          <a:prstGeom prst="rect">
            <a:avLst/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1399032" y="4087368"/>
            <a:ext cx="109728" cy="109728"/>
          </a:xfrm>
          <a:prstGeom prst="ellipse">
            <a:avLst/>
          </a:prstGeom>
          <a:solidFill>
            <a:srgbClr val="4BAE6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1581912" y="4114800"/>
            <a:ext cx="1077163" cy="45720"/>
          </a:xfrm>
          <a:prstGeom prst="rect">
            <a:avLst/>
          </a:prstGeom>
          <a:solidFill>
            <a:srgbClr val="D9DEE7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1581912" y="4215384"/>
            <a:ext cx="680314" cy="36576"/>
          </a:xfrm>
          <a:prstGeom prst="rect">
            <a:avLst/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2880360" y="3639312"/>
            <a:ext cx="146304" cy="411480"/>
          </a:xfrm>
          <a:prstGeom prst="roundRect">
            <a:avLst>
              <a:gd name="adj" fmla="val 18750"/>
            </a:avLst>
          </a:prstGeom>
          <a:solidFill>
            <a:srgbClr val="F8C40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3108960" y="3456432"/>
            <a:ext cx="146304" cy="594360"/>
          </a:xfrm>
          <a:prstGeom prst="roundRect">
            <a:avLst>
              <a:gd name="adj" fmla="val 18750"/>
            </a:avLst>
          </a:prstGeom>
          <a:solidFill>
            <a:srgbClr val="21A6B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3337560" y="3246120"/>
            <a:ext cx="146304" cy="804672"/>
          </a:xfrm>
          <a:prstGeom prst="roundRect">
            <a:avLst>
              <a:gd name="adj" fmla="val 18750"/>
            </a:avLst>
          </a:prstGeom>
          <a:solidFill>
            <a:srgbClr val="4BAE6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3566160" y="3090672"/>
            <a:ext cx="146304" cy="960120"/>
          </a:xfrm>
          <a:prstGeom prst="roundRect">
            <a:avLst>
              <a:gd name="adj" fmla="val 18750"/>
            </a:avLst>
          </a:prstGeom>
          <a:solidFill>
            <a:srgbClr val="F19A2A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49" name="Image 1" descr="C:\Users\bxu\dev\cybozush\cysh-style-ppt\cybozu-style-ppt\assets\characters\scene-kintone-data-f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1181" y="2999232"/>
            <a:ext cx="2159198" cy="14173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5720"/>
            <a:ext cx="9144000" cy="73152"/>
          </a:xfrm>
          <a:prstGeom prst="rect">
            <a:avLst/>
          </a:prstGeom>
          <a:solidFill>
            <a:srgbClr val="F8C400"/>
          </a:solidFill>
          <a:ln w="12700">
            <a:solidFill>
              <a:srgbClr val="F8C4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10912"/>
            <a:ext cx="9144000" cy="73152"/>
          </a:xfrm>
          <a:prstGeom prst="rect">
            <a:avLst/>
          </a:prstGeom>
          <a:solidFill>
            <a:srgbClr val="F8C400"/>
          </a:solidFill>
          <a:ln w="12700">
            <a:solidFill>
              <a:srgbClr val="F8C4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438912"/>
            <a:ext cx="128016" cy="109728"/>
          </a:xfrm>
          <a:prstGeom prst="rect">
            <a:avLst/>
          </a:prstGeom>
          <a:solidFill>
            <a:srgbClr val="F8C400"/>
          </a:solidFill>
          <a:ln w="12700">
            <a:solidFill>
              <a:srgbClr val="F8C4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292608"/>
            <a:ext cx="7223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50" b="1" dirty="0">
                <a:solidFill>
                  <a:srgbClr val="1720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改善は一回の導入ではなく、毎月の運用で強くなる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13232" y="658368"/>
            <a:ext cx="4389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story demo / reusable character assets</a:t>
            </a:r>
            <a:endParaRPr lang="en-US" sz="680" dirty="0"/>
          </a:p>
        </p:txBody>
      </p:sp>
      <p:sp>
        <p:nvSpPr>
          <p:cNvPr id="7" name="Text 5"/>
          <p:cNvSpPr/>
          <p:nvPr/>
        </p:nvSpPr>
        <p:spPr>
          <a:xfrm>
            <a:off x="8183880" y="473659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20" b="1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720" dirty="0"/>
          </a:p>
        </p:txBody>
      </p:sp>
      <p:sp>
        <p:nvSpPr>
          <p:cNvPr id="8" name="Text 6"/>
          <p:cNvSpPr/>
          <p:nvPr/>
        </p:nvSpPr>
        <p:spPr>
          <a:xfrm>
            <a:off x="731520" y="987552"/>
            <a:ext cx="6766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4A556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承認済みの状態、AI/自動化の補助、データ蓄積を同じストーリーに並べると、導入後の運用イメージが伝わりやすい。</a:t>
            </a:r>
            <a:endParaRPr lang="en-US" sz="870" dirty="0"/>
          </a:p>
        </p:txBody>
      </p:sp>
      <p:sp>
        <p:nvSpPr>
          <p:cNvPr id="9" name="Shape 7"/>
          <p:cNvSpPr/>
          <p:nvPr/>
        </p:nvSpPr>
        <p:spPr>
          <a:xfrm>
            <a:off x="804672" y="1536192"/>
            <a:ext cx="2267712" cy="233172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</p:spPr>
      </p:sp>
      <p:pic>
        <p:nvPicPr>
          <p:cNvPr id="10" name="Image 0" descr="C:\Users\bxu\dev\cybozush\cysh-style-ppt\cybozu-style-ppt\assets\characters\scene-approved-workfl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0271" y="1719072"/>
            <a:ext cx="1625658" cy="96012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804672" y="3657600"/>
            <a:ext cx="2267712" cy="54864"/>
          </a:xfrm>
          <a:prstGeom prst="rect">
            <a:avLst/>
          </a:prstGeom>
          <a:solidFill>
            <a:srgbClr val="F8C400"/>
          </a:solidFill>
          <a:ln w="12700">
            <a:solidFill>
              <a:srgbClr val="F8C40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05840" y="2898648"/>
            <a:ext cx="18745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1720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承認済みの型を作る</a:t>
            </a:r>
            <a:endParaRPr lang="en-US" sz="1020" dirty="0"/>
          </a:p>
        </p:txBody>
      </p:sp>
      <p:sp>
        <p:nvSpPr>
          <p:cNvPr id="13" name="Text 10"/>
          <p:cNvSpPr/>
          <p:nvPr/>
        </p:nvSpPr>
        <p:spPr>
          <a:xfrm>
            <a:off x="1060704" y="3227832"/>
            <a:ext cx="17556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4A556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承認や証跡をルール化し、属人運用から抜ける。</a:t>
            </a:r>
            <a:endParaRPr lang="en-US" sz="620" dirty="0"/>
          </a:p>
        </p:txBody>
      </p:sp>
      <p:sp>
        <p:nvSpPr>
          <p:cNvPr id="14" name="Shape 11"/>
          <p:cNvSpPr/>
          <p:nvPr/>
        </p:nvSpPr>
        <p:spPr>
          <a:xfrm>
            <a:off x="3547872" y="1536192"/>
            <a:ext cx="2267712" cy="233172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</p:spPr>
      </p:sp>
      <p:pic>
        <p:nvPicPr>
          <p:cNvPr id="15" name="Image 1" descr="C:\Users\bxu\dev\cybozush\cysh-style-ppt\cybozu-style-ppt\assets\characters\scene-kintone-ai-tea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4975" y="1719072"/>
            <a:ext cx="1462651" cy="960120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3547872" y="3657600"/>
            <a:ext cx="2267712" cy="54864"/>
          </a:xfrm>
          <a:prstGeom prst="rect">
            <a:avLst/>
          </a:prstGeom>
          <a:solidFill>
            <a:srgbClr val="21A6B7"/>
          </a:solidFill>
          <a:ln w="12700">
            <a:solidFill>
              <a:srgbClr val="21A6B7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3749040" y="2898648"/>
            <a:ext cx="18745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1720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 と人が補助する</a:t>
            </a:r>
            <a:endParaRPr lang="en-US" sz="1020" dirty="0"/>
          </a:p>
        </p:txBody>
      </p:sp>
      <p:sp>
        <p:nvSpPr>
          <p:cNvPr id="18" name="Text 14"/>
          <p:cNvSpPr/>
          <p:nvPr/>
        </p:nvSpPr>
        <p:spPr>
          <a:xfrm>
            <a:off x="3803904" y="3227832"/>
            <a:ext cx="17556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4A556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入力補助、分類、確認を組み合わせて運用負荷を下げる。</a:t>
            </a:r>
            <a:endParaRPr lang="en-US" sz="620" dirty="0"/>
          </a:p>
        </p:txBody>
      </p:sp>
      <p:sp>
        <p:nvSpPr>
          <p:cNvPr id="19" name="Shape 15"/>
          <p:cNvSpPr/>
          <p:nvPr/>
        </p:nvSpPr>
        <p:spPr>
          <a:xfrm>
            <a:off x="6291072" y="1536192"/>
            <a:ext cx="2267712" cy="233172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</p:spPr>
      </p:sp>
      <p:pic>
        <p:nvPicPr>
          <p:cNvPr id="20" name="Image 2" descr="C:\Users\bxu\dev\cybozush\cysh-style-ppt\cybozu-style-ppt\assets\characters\kintone-loop-manufacturin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3928" y="1719072"/>
            <a:ext cx="1271145" cy="960120"/>
          </a:xfrm>
          <a:prstGeom prst="rect">
            <a:avLst/>
          </a:prstGeom>
        </p:spPr>
      </p:pic>
      <p:sp>
        <p:nvSpPr>
          <p:cNvPr id="21" name="Shape 16"/>
          <p:cNvSpPr/>
          <p:nvPr/>
        </p:nvSpPr>
        <p:spPr>
          <a:xfrm>
            <a:off x="6291072" y="3657600"/>
            <a:ext cx="2267712" cy="54864"/>
          </a:xfrm>
          <a:prstGeom prst="rect">
            <a:avLst/>
          </a:prstGeom>
          <a:solidFill>
            <a:srgbClr val="4BAE65"/>
          </a:solidFill>
          <a:ln w="12700">
            <a:solidFill>
              <a:srgbClr val="4BAE65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6492240" y="2898648"/>
            <a:ext cx="18745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1720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改善ループを回す</a:t>
            </a:r>
            <a:endParaRPr lang="en-US" sz="1020" dirty="0"/>
          </a:p>
        </p:txBody>
      </p:sp>
      <p:sp>
        <p:nvSpPr>
          <p:cNvPr id="23" name="Text 18"/>
          <p:cNvSpPr/>
          <p:nvPr/>
        </p:nvSpPr>
        <p:spPr>
          <a:xfrm>
            <a:off x="6547104" y="3227832"/>
            <a:ext cx="17556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4A556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課題発見、アプリ化、業務改善を同じ循環に載せる。</a:t>
            </a:r>
            <a:endParaRPr lang="en-US" sz="620" dirty="0"/>
          </a:p>
        </p:txBody>
      </p:sp>
      <p:sp>
        <p:nvSpPr>
          <p:cNvPr id="24" name="Text 19"/>
          <p:cNvSpPr/>
          <p:nvPr/>
        </p:nvSpPr>
        <p:spPr>
          <a:xfrm>
            <a:off x="2560320" y="4315968"/>
            <a:ext cx="40233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3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Asset rule: scene images carry the visual story; proof text stays editable.</a:t>
            </a:r>
            <a:endParaRPr lang="en-US" sz="63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5720"/>
            <a:ext cx="9144000" cy="73152"/>
          </a:xfrm>
          <a:prstGeom prst="rect">
            <a:avLst/>
          </a:prstGeom>
          <a:solidFill>
            <a:srgbClr val="F8C400"/>
          </a:solidFill>
          <a:ln w="12700">
            <a:solidFill>
              <a:srgbClr val="F8C4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10912"/>
            <a:ext cx="9144000" cy="73152"/>
          </a:xfrm>
          <a:prstGeom prst="rect">
            <a:avLst/>
          </a:prstGeom>
          <a:solidFill>
            <a:srgbClr val="F8C400"/>
          </a:solidFill>
          <a:ln w="12700">
            <a:solidFill>
              <a:srgbClr val="F8C4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438912"/>
            <a:ext cx="128016" cy="109728"/>
          </a:xfrm>
          <a:prstGeom prst="rect">
            <a:avLst/>
          </a:prstGeom>
          <a:solidFill>
            <a:srgbClr val="F8C400"/>
          </a:solidFill>
          <a:ln w="12700">
            <a:solidFill>
              <a:srgbClr val="F8C4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292608"/>
            <a:ext cx="7223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50" b="1" dirty="0">
                <a:solidFill>
                  <a:srgbClr val="1720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次は、対象業務を一つ選んで 30 分で流れを描く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13232" y="658368"/>
            <a:ext cx="4389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story demo / reusable character assets</a:t>
            </a:r>
            <a:endParaRPr lang="en-US" sz="680" dirty="0"/>
          </a:p>
        </p:txBody>
      </p:sp>
      <p:sp>
        <p:nvSpPr>
          <p:cNvPr id="7" name="Text 5"/>
          <p:cNvSpPr/>
          <p:nvPr/>
        </p:nvSpPr>
        <p:spPr>
          <a:xfrm>
            <a:off x="8183880" y="473659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20" b="1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720" dirty="0"/>
          </a:p>
        </p:txBody>
      </p:sp>
      <p:sp>
        <p:nvSpPr>
          <p:cNvPr id="8" name="Text 6"/>
          <p:cNvSpPr/>
          <p:nvPr/>
        </p:nvSpPr>
        <p:spPr>
          <a:xfrm>
            <a:off x="731520" y="987552"/>
            <a:ext cx="6675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4A556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このデモでは、キャラクターは雰囲気づくりではなく、業務ストーリーの入口として使った。最後は具体的な次アクションに戻す。</a:t>
            </a:r>
            <a:endParaRPr lang="en-US" sz="870" dirty="0"/>
          </a:p>
        </p:txBody>
      </p:sp>
      <p:sp>
        <p:nvSpPr>
          <p:cNvPr id="9" name="Shape 7"/>
          <p:cNvSpPr/>
          <p:nvPr/>
        </p:nvSpPr>
        <p:spPr>
          <a:xfrm>
            <a:off x="1371600" y="1664208"/>
            <a:ext cx="457200" cy="457200"/>
          </a:xfrm>
          <a:prstGeom prst="ellipse">
            <a:avLst/>
          </a:prstGeom>
          <a:solidFill>
            <a:srgbClr val="F8C400"/>
          </a:solidFill>
          <a:ln w="12700">
            <a:solidFill>
              <a:srgbClr val="F8C4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71600" y="1792224"/>
            <a:ext cx="457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841248" y="2331720"/>
            <a:ext cx="1517904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87552" y="2560320"/>
            <a:ext cx="12252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0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対象業務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005840" y="2862072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80" dirty="0">
                <a:solidFill>
                  <a:srgbClr val="4A556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紙・Excel が残る業務を選ぶ</a:t>
            </a:r>
            <a:endParaRPr lang="en-US" sz="580" dirty="0"/>
          </a:p>
        </p:txBody>
      </p:sp>
      <p:sp>
        <p:nvSpPr>
          <p:cNvPr id="14" name="Shape 12"/>
          <p:cNvSpPr/>
          <p:nvPr/>
        </p:nvSpPr>
        <p:spPr>
          <a:xfrm>
            <a:off x="2459736" y="2697480"/>
            <a:ext cx="256032" cy="164592"/>
          </a:xfrm>
          <a:prstGeom prst="rightArrow">
            <a:avLst/>
          </a:prstGeom>
          <a:solidFill>
            <a:srgbClr val="F8C400"/>
          </a:solidFill>
          <a:ln w="12700">
            <a:solidFill>
              <a:srgbClr val="F8C40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91840" y="1664208"/>
            <a:ext cx="457200" cy="457200"/>
          </a:xfrm>
          <a:prstGeom prst="ellipse">
            <a:avLst/>
          </a:prstGeom>
          <a:solidFill>
            <a:srgbClr val="21A6B7"/>
          </a:solidFill>
          <a:ln w="12700">
            <a:solidFill>
              <a:srgbClr val="21A6B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91840" y="1792224"/>
            <a:ext cx="457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761488" y="2331720"/>
            <a:ext cx="1517904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907792" y="2560320"/>
            <a:ext cx="12252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0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流れを書く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926080" y="2862072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80" dirty="0">
                <a:solidFill>
                  <a:srgbClr val="4A556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入力、承認、集計、通知を並べる</a:t>
            </a:r>
            <a:endParaRPr lang="en-US" sz="580" dirty="0"/>
          </a:p>
        </p:txBody>
      </p:sp>
      <p:sp>
        <p:nvSpPr>
          <p:cNvPr id="20" name="Shape 18"/>
          <p:cNvSpPr/>
          <p:nvPr/>
        </p:nvSpPr>
        <p:spPr>
          <a:xfrm>
            <a:off x="4379976" y="2697480"/>
            <a:ext cx="256032" cy="164592"/>
          </a:xfrm>
          <a:prstGeom prst="rightArrow">
            <a:avLst/>
          </a:prstGeom>
          <a:solidFill>
            <a:srgbClr val="F8C400"/>
          </a:solidFill>
          <a:ln w="12700">
            <a:solidFill>
              <a:srgbClr val="F8C40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212080" y="1664208"/>
            <a:ext cx="457200" cy="457200"/>
          </a:xfrm>
          <a:prstGeom prst="ellipse">
            <a:avLst/>
          </a:prstGeom>
          <a:solidFill>
            <a:srgbClr val="F19A2A"/>
          </a:solidFill>
          <a:ln w="12700">
            <a:solidFill>
              <a:srgbClr val="F19A2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212080" y="1792224"/>
            <a:ext cx="457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681728" y="2331720"/>
            <a:ext cx="1517904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28032" y="2560320"/>
            <a:ext cx="12252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0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画面を見る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846320" y="2862072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80" dirty="0">
                <a:solidFill>
                  <a:srgbClr val="4A556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kintone で最小構成を確認</a:t>
            </a:r>
            <a:endParaRPr lang="en-US" sz="580" dirty="0"/>
          </a:p>
        </p:txBody>
      </p:sp>
      <p:sp>
        <p:nvSpPr>
          <p:cNvPr id="26" name="Shape 24"/>
          <p:cNvSpPr/>
          <p:nvPr/>
        </p:nvSpPr>
        <p:spPr>
          <a:xfrm>
            <a:off x="6300216" y="2697480"/>
            <a:ext cx="256032" cy="164592"/>
          </a:xfrm>
          <a:prstGeom prst="rightArrow">
            <a:avLst/>
          </a:prstGeom>
          <a:solidFill>
            <a:srgbClr val="F8C400"/>
          </a:solidFill>
          <a:ln w="12700">
            <a:solidFill>
              <a:srgbClr val="F8C40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132320" y="1664208"/>
            <a:ext cx="457200" cy="457200"/>
          </a:xfrm>
          <a:prstGeom prst="ellipse">
            <a:avLst/>
          </a:prstGeom>
          <a:solidFill>
            <a:srgbClr val="4BAE65"/>
          </a:solidFill>
          <a:ln w="12700">
            <a:solidFill>
              <a:srgbClr val="4BAE6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132320" y="1792224"/>
            <a:ext cx="457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6601968" y="2331720"/>
            <a:ext cx="1517904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748272" y="2560320"/>
            <a:ext cx="12252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0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運用を決める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766560" y="2862072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80" dirty="0">
                <a:solidFill>
                  <a:srgbClr val="4A556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誰が更新し、誰が見るか決める</a:t>
            </a:r>
            <a:endParaRPr lang="en-US" sz="580" dirty="0"/>
          </a:p>
        </p:txBody>
      </p:sp>
      <p:sp>
        <p:nvSpPr>
          <p:cNvPr id="32" name="Shape 30"/>
          <p:cNvSpPr/>
          <p:nvPr/>
        </p:nvSpPr>
        <p:spPr>
          <a:xfrm>
            <a:off x="1024128" y="3913632"/>
            <a:ext cx="6537960" cy="457200"/>
          </a:xfrm>
          <a:prstGeom prst="roundRect">
            <a:avLst>
              <a:gd name="adj" fmla="val 28000"/>
            </a:avLst>
          </a:prstGeom>
          <a:solidFill>
            <a:srgbClr val="F8C400"/>
          </a:solidFill>
          <a:ln w="12700">
            <a:solidFill>
              <a:srgbClr val="F8C4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225296" y="4069080"/>
            <a:ext cx="61447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Demo conclusion: assets can work when each slide keeps one visual family and one clear claim.</a:t>
            </a:r>
            <a:endParaRPr lang="en-US" sz="860" dirty="0"/>
          </a:p>
        </p:txBody>
      </p:sp>
      <p:pic>
        <p:nvPicPr>
          <p:cNvPr id="34" name="Image 0" descr="C:\Users\bxu\dev\cybozush\cysh-style-ppt\cybozu-style-ppt\assets\characters\kintone-mascot-waving-compac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70817" y="3429000"/>
            <a:ext cx="726510" cy="914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Yu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Yu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cybozu-style-ppt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kintone loop story demo</dc:title>
  <dc:subject>kintone story demo with reusable character assets</dc:subject>
  <dc:creator>cybozu-style-ppt</dc:creator>
  <cp:lastModifiedBy>cybozu-style-ppt</cp:lastModifiedBy>
  <cp:revision>1</cp:revision>
  <dcterms:created xsi:type="dcterms:W3CDTF">2026-06-17T06:38:27Z</dcterms:created>
  <dcterms:modified xsi:type="dcterms:W3CDTF">2026-06-17T06:38:27Z</dcterms:modified>
</cp:coreProperties>
</file>