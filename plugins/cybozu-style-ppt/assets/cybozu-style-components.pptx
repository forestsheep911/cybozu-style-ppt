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9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5720"/>
            <a:ext cx="9144000" cy="73152"/>
          </a:xfrm>
          <a:prstGeom prst="rect">
            <a:avLst/>
          </a:prstGeom>
          <a:solidFill>
            <a:srgbClr val="F8C400"/>
          </a:solidFill>
          <a:ln w="12700">
            <a:solidFill>
              <a:srgbClr val="F8C4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10912"/>
            <a:ext cx="9144000" cy="73152"/>
          </a:xfrm>
          <a:prstGeom prst="rect">
            <a:avLst/>
          </a:prstGeom>
          <a:solidFill>
            <a:srgbClr val="F8C400"/>
          </a:solidFill>
          <a:ln w="12700">
            <a:solidFill>
              <a:srgbClr val="F8C4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04672" y="960120"/>
            <a:ext cx="896112" cy="365760"/>
          </a:xfrm>
          <a:prstGeom prst="roundRect">
            <a:avLst>
              <a:gd name="adj" fmla="val 45000"/>
            </a:avLst>
          </a:prstGeom>
          <a:solidFill>
            <a:srgbClr val="F8C400"/>
          </a:solidFill>
          <a:ln w="12700">
            <a:solidFill>
              <a:srgbClr val="F8C40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" y="987552"/>
            <a:ext cx="384048" cy="292608"/>
          </a:xfrm>
          <a:prstGeom prst="ellipse">
            <a:avLst/>
          </a:prstGeom>
          <a:solidFill>
            <a:srgbClr val="F8C400"/>
          </a:solidFill>
          <a:ln w="12700">
            <a:solidFill>
              <a:srgbClr val="F8C4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426464" y="914400"/>
            <a:ext cx="384048" cy="365760"/>
          </a:xfrm>
          <a:prstGeom prst="ellipse">
            <a:avLst/>
          </a:prstGeom>
          <a:solidFill>
            <a:srgbClr val="F8C400"/>
          </a:solidFill>
          <a:ln w="12700">
            <a:solidFill>
              <a:srgbClr val="F8C4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1078992"/>
            <a:ext cx="8046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kintone</a:t>
            </a:r>
            <a:endParaRPr lang="en-US" sz="840" dirty="0"/>
          </a:p>
        </p:txBody>
      </p:sp>
      <p:sp>
        <p:nvSpPr>
          <p:cNvPr id="8" name="Text 6"/>
          <p:cNvSpPr/>
          <p:nvPr/>
        </p:nvSpPr>
        <p:spPr>
          <a:xfrm>
            <a:off x="658368" y="1572768"/>
            <a:ext cx="53949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cybozu-ish editable PPT components</a:t>
            </a:r>
            <a:endParaRPr lang="en-US" sz="2700" dirty="0"/>
          </a:p>
        </p:txBody>
      </p:sp>
      <p:sp>
        <p:nvSpPr>
          <p:cNvPr id="9" name="Text 7"/>
          <p:cNvSpPr/>
          <p:nvPr/>
        </p:nvSpPr>
        <p:spPr>
          <a:xfrm>
            <a:off x="685800" y="2487168"/>
            <a:ext cx="4937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556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身份识别来自 kintone/cybozu，审美标准重新定义为干净、可编辑、业务导向。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85800" y="3054096"/>
            <a:ext cx="1234440" cy="310896"/>
          </a:xfrm>
          <a:prstGeom prst="roundRect">
            <a:avLst>
              <a:gd name="adj" fmla="val 35294"/>
            </a:avLst>
          </a:prstGeom>
          <a:solidFill>
            <a:srgbClr val="F8C400"/>
          </a:solidFill>
          <a:ln w="12700">
            <a:solidFill>
              <a:srgbClr val="F8C4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95528" y="3141147"/>
            <a:ext cx="1014984" cy="105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720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native shapes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2084832" y="3054096"/>
            <a:ext cx="1353312" cy="310896"/>
          </a:xfrm>
          <a:prstGeom prst="roundRect">
            <a:avLst>
              <a:gd name="adj" fmla="val 3529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194560" y="3141147"/>
            <a:ext cx="1133856" cy="105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720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clean hierarchy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3611880" y="3054096"/>
            <a:ext cx="1499616" cy="310896"/>
          </a:xfrm>
          <a:prstGeom prst="roundRect">
            <a:avLst>
              <a:gd name="adj" fmla="val 3529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721608" y="3141147"/>
            <a:ext cx="1280160" cy="105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720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business modules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5989320" y="1051560"/>
            <a:ext cx="246888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D9DEE7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989320" y="1051560"/>
            <a:ext cx="2468880" cy="329184"/>
          </a:xfrm>
          <a:prstGeom prst="rect">
            <a:avLst/>
          </a:prstGeom>
          <a:solidFill>
            <a:srgbClr val="F6F8FA"/>
          </a:solidFill>
          <a:ln w="12700">
            <a:solidFill>
              <a:srgbClr val="F6F8F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153912" y="1170432"/>
            <a:ext cx="822960" cy="82296"/>
          </a:xfrm>
          <a:prstGeom prst="rect">
            <a:avLst/>
          </a:prstGeom>
          <a:solidFill>
            <a:srgbClr val="F8C400"/>
          </a:solidFill>
          <a:ln w="12700">
            <a:solidFill>
              <a:srgbClr val="F8C40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744968" y="1143000"/>
            <a:ext cx="420624" cy="128016"/>
          </a:xfrm>
          <a:prstGeom prst="roundRect">
            <a:avLst>
              <a:gd name="adj" fmla="val 28571"/>
            </a:avLst>
          </a:prstGeom>
          <a:solidFill>
            <a:srgbClr val="D9DEE7"/>
          </a:solidFill>
          <a:ln w="12700">
            <a:solidFill>
              <a:srgbClr val="D9DEE7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190488" y="1581912"/>
            <a:ext cx="1036930" cy="1216152"/>
          </a:xfrm>
          <a:prstGeom prst="roundRect">
            <a:avLst>
              <a:gd name="adj" fmla="val 3527"/>
            </a:avLst>
          </a:prstGeom>
          <a:solidFill>
            <a:srgbClr val="F6F8FA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336792" y="1764792"/>
            <a:ext cx="118872" cy="118872"/>
          </a:xfrm>
          <a:prstGeom prst="ellipse">
            <a:avLst/>
          </a:prstGeom>
          <a:solidFill>
            <a:srgbClr val="F8C40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537960" y="1792224"/>
            <a:ext cx="641909" cy="45720"/>
          </a:xfrm>
          <a:prstGeom prst="rect">
            <a:avLst/>
          </a:prstGeom>
          <a:solidFill>
            <a:srgbClr val="D9DEE7"/>
          </a:solidFill>
          <a:ln w="12700">
            <a:solidFill>
              <a:srgbClr val="D9DEE7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537960" y="1892808"/>
            <a:ext cx="444398" cy="36576"/>
          </a:xfrm>
          <a:prstGeom prst="rect">
            <a:avLst/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336792" y="2084832"/>
            <a:ext cx="118872" cy="118872"/>
          </a:xfrm>
          <a:prstGeom prst="ellipse">
            <a:avLst/>
          </a:prstGeom>
          <a:solidFill>
            <a:srgbClr val="21A6B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537960" y="2112264"/>
            <a:ext cx="641909" cy="45720"/>
          </a:xfrm>
          <a:prstGeom prst="rect">
            <a:avLst/>
          </a:prstGeom>
          <a:solidFill>
            <a:srgbClr val="D9DEE7"/>
          </a:solidFill>
          <a:ln w="12700">
            <a:solidFill>
              <a:srgbClr val="D9DEE7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537960" y="2212848"/>
            <a:ext cx="444398" cy="36576"/>
          </a:xfrm>
          <a:prstGeom prst="rect">
            <a:avLst/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336792" y="2404872"/>
            <a:ext cx="118872" cy="118872"/>
          </a:xfrm>
          <a:prstGeom prst="ellipse">
            <a:avLst/>
          </a:prstGeom>
          <a:solidFill>
            <a:srgbClr val="F19A2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537960" y="2432304"/>
            <a:ext cx="641909" cy="45720"/>
          </a:xfrm>
          <a:prstGeom prst="rect">
            <a:avLst/>
          </a:prstGeom>
          <a:solidFill>
            <a:srgbClr val="D9DEE7"/>
          </a:solidFill>
          <a:ln w="12700">
            <a:solidFill>
              <a:srgbClr val="D9DEE7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537960" y="2532888"/>
            <a:ext cx="444398" cy="36576"/>
          </a:xfrm>
          <a:prstGeom prst="rect">
            <a:avLst/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336792" y="2724912"/>
            <a:ext cx="118872" cy="118872"/>
          </a:xfrm>
          <a:prstGeom prst="ellipse">
            <a:avLst/>
          </a:prstGeom>
          <a:solidFill>
            <a:srgbClr val="4BAE6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537960" y="2752344"/>
            <a:ext cx="641909" cy="45720"/>
          </a:xfrm>
          <a:prstGeom prst="rect">
            <a:avLst/>
          </a:prstGeom>
          <a:solidFill>
            <a:srgbClr val="D9DEE7"/>
          </a:solidFill>
          <a:ln w="12700">
            <a:solidFill>
              <a:srgbClr val="D9DEE7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537960" y="2852928"/>
            <a:ext cx="444398" cy="36576"/>
          </a:xfrm>
          <a:prstGeom prst="rect">
            <a:avLst/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336792" y="3044952"/>
            <a:ext cx="118872" cy="118872"/>
          </a:xfrm>
          <a:prstGeom prst="ellipse">
            <a:avLst/>
          </a:prstGeom>
          <a:solidFill>
            <a:srgbClr val="3B82C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537960" y="3072384"/>
            <a:ext cx="641909" cy="45720"/>
          </a:xfrm>
          <a:prstGeom prst="rect">
            <a:avLst/>
          </a:prstGeom>
          <a:solidFill>
            <a:srgbClr val="D9DEE7"/>
          </a:solidFill>
          <a:ln w="12700">
            <a:solidFill>
              <a:srgbClr val="D9DEE7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537960" y="3172968"/>
            <a:ext cx="444398" cy="36576"/>
          </a:xfrm>
          <a:prstGeom prst="rect">
            <a:avLst/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322515" y="2304288"/>
            <a:ext cx="182880" cy="457200"/>
          </a:xfrm>
          <a:prstGeom prst="roundRect">
            <a:avLst>
              <a:gd name="adj" fmla="val 15000"/>
            </a:avLst>
          </a:prstGeom>
          <a:solidFill>
            <a:srgbClr val="F8C40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7633411" y="2167128"/>
            <a:ext cx="182880" cy="594360"/>
          </a:xfrm>
          <a:prstGeom prst="roundRect">
            <a:avLst>
              <a:gd name="adj" fmla="val 15000"/>
            </a:avLst>
          </a:prstGeom>
          <a:solidFill>
            <a:srgbClr val="21A6B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944307" y="2029968"/>
            <a:ext cx="182880" cy="731520"/>
          </a:xfrm>
          <a:prstGeom prst="roundRect">
            <a:avLst>
              <a:gd name="adj" fmla="val 15000"/>
            </a:avLst>
          </a:prstGeom>
          <a:solidFill>
            <a:srgbClr val="4BAE6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8255203" y="1892808"/>
            <a:ext cx="182880" cy="868680"/>
          </a:xfrm>
          <a:prstGeom prst="roundRect">
            <a:avLst>
              <a:gd name="adj" fmla="val 15000"/>
            </a:avLst>
          </a:prstGeom>
          <a:solidFill>
            <a:srgbClr val="F19A2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7470648" y="1984248"/>
            <a:ext cx="621792" cy="621792"/>
          </a:xfrm>
          <a:prstGeom prst="ellipse">
            <a:avLst/>
          </a:prstGeom>
          <a:solidFill>
            <a:srgbClr val="F8C400"/>
          </a:solidFill>
          <a:ln w="12700">
            <a:solidFill>
              <a:srgbClr val="F8C40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7598664" y="2112264"/>
            <a:ext cx="365760" cy="365760"/>
          </a:xfrm>
          <a:prstGeom prst="ellipse">
            <a:avLst/>
          </a:prstGeom>
          <a:solidFill>
            <a:srgbClr val="4BAE65"/>
          </a:solidFill>
          <a:ln w="12700">
            <a:solidFill>
              <a:srgbClr val="4BAE65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912864" y="3401568"/>
            <a:ext cx="256032" cy="256032"/>
          </a:xfrm>
          <a:prstGeom prst="ellipse">
            <a:avLst/>
          </a:prstGeom>
          <a:solidFill>
            <a:srgbClr val="FFFFFF"/>
          </a:solidFill>
          <a:ln w="13970">
            <a:solidFill>
              <a:srgbClr val="4A5568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6839712" y="3703320"/>
            <a:ext cx="411480" cy="512064"/>
          </a:xfrm>
          <a:prstGeom prst="roundRect">
            <a:avLst>
              <a:gd name="adj" fmla="val 26667"/>
            </a:avLst>
          </a:prstGeom>
          <a:solidFill>
            <a:srgbClr val="F8C400"/>
          </a:solidFill>
          <a:ln w="12700">
            <a:solidFill>
              <a:srgbClr val="F8C400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 rot="19500000">
            <a:off x="6665976" y="3913632"/>
            <a:ext cx="301752" cy="27432"/>
          </a:xfrm>
          <a:prstGeom prst="rect">
            <a:avLst/>
          </a:prstGeom>
          <a:solidFill>
            <a:srgbClr val="4A5568"/>
          </a:solidFill>
          <a:ln w="12700">
            <a:solidFill>
              <a:srgbClr val="4A5568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 rot="19500000">
            <a:off x="7187184" y="3803904"/>
            <a:ext cx="310896" cy="27432"/>
          </a:xfrm>
          <a:prstGeom prst="rect">
            <a:avLst/>
          </a:prstGeom>
          <a:solidFill>
            <a:srgbClr val="4A5568"/>
          </a:solidFill>
          <a:ln w="12700">
            <a:solidFill>
              <a:srgbClr val="4A5568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 rot="18000000">
            <a:off x="6830568" y="4334256"/>
            <a:ext cx="310896" cy="27432"/>
          </a:xfrm>
          <a:prstGeom prst="rect">
            <a:avLst/>
          </a:prstGeom>
          <a:solidFill>
            <a:srgbClr val="4A5568"/>
          </a:solidFill>
          <a:ln w="12700">
            <a:solidFill>
              <a:srgbClr val="4A5568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 rot="3600000">
            <a:off x="7077456" y="4334256"/>
            <a:ext cx="310896" cy="27432"/>
          </a:xfrm>
          <a:prstGeom prst="rect">
            <a:avLst/>
          </a:prstGeom>
          <a:solidFill>
            <a:srgbClr val="4A5568"/>
          </a:solidFill>
          <a:ln w="12700">
            <a:solidFill>
              <a:srgbClr val="4A5568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492240" y="4608576"/>
            <a:ext cx="1097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30" dirty="0">
                <a:solidFill>
                  <a:srgbClr val="4A556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clean role</a:t>
            </a:r>
            <a:endParaRPr lang="en-US" sz="63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5720"/>
            <a:ext cx="9144000" cy="73152"/>
          </a:xfrm>
          <a:prstGeom prst="rect">
            <a:avLst/>
          </a:prstGeom>
          <a:solidFill>
            <a:srgbClr val="F8C400"/>
          </a:solidFill>
          <a:ln w="12700">
            <a:solidFill>
              <a:srgbClr val="F8C4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10912"/>
            <a:ext cx="9144000" cy="73152"/>
          </a:xfrm>
          <a:prstGeom prst="rect">
            <a:avLst/>
          </a:prstGeom>
          <a:solidFill>
            <a:srgbClr val="F8C400"/>
          </a:solidFill>
          <a:ln w="12700">
            <a:solidFill>
              <a:srgbClr val="F8C4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438912"/>
            <a:ext cx="128016" cy="109728"/>
          </a:xfrm>
          <a:prstGeom prst="rect">
            <a:avLst/>
          </a:prstGeom>
          <a:solidFill>
            <a:srgbClr val="F8C400"/>
          </a:solidFill>
          <a:ln w="12700">
            <a:solidFill>
              <a:srgbClr val="F8C4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13232" y="292608"/>
            <a:ext cx="6949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1720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Title / section chrome patterns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713232" y="658368"/>
            <a:ext cx="39319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cybozu-ish component library</a:t>
            </a:r>
            <a:endParaRPr lang="en-US" sz="680" dirty="0"/>
          </a:p>
        </p:txBody>
      </p:sp>
      <p:sp>
        <p:nvSpPr>
          <p:cNvPr id="7" name="Text 5"/>
          <p:cNvSpPr/>
          <p:nvPr/>
        </p:nvSpPr>
        <p:spPr>
          <a:xfrm>
            <a:off x="8183880" y="4736592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20" b="1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720" dirty="0"/>
          </a:p>
        </p:txBody>
      </p:sp>
      <p:sp>
        <p:nvSpPr>
          <p:cNvPr id="8" name="Shape 6"/>
          <p:cNvSpPr/>
          <p:nvPr/>
        </p:nvSpPr>
        <p:spPr>
          <a:xfrm>
            <a:off x="685800" y="1143000"/>
            <a:ext cx="3611880" cy="2514600"/>
          </a:xfrm>
          <a:prstGeom prst="roundRect">
            <a:avLst>
              <a:gd name="adj" fmla="val 2909"/>
            </a:avLst>
          </a:prstGeom>
          <a:solidFill>
            <a:srgbClr val="FFF9E8"/>
          </a:solidFill>
          <a:ln w="12700">
            <a:solidFill>
              <a:srgbClr val="D9DEE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85800" y="1143000"/>
            <a:ext cx="3611880" cy="73152"/>
          </a:xfrm>
          <a:prstGeom prst="rect">
            <a:avLst/>
          </a:prstGeom>
          <a:solidFill>
            <a:srgbClr val="F8C400"/>
          </a:solidFill>
          <a:ln w="12700">
            <a:solidFill>
              <a:srgbClr val="F8C40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97864" y="1618488"/>
            <a:ext cx="813816" cy="310896"/>
          </a:xfrm>
          <a:prstGeom prst="roundRect">
            <a:avLst>
              <a:gd name="adj" fmla="val 52941"/>
            </a:avLst>
          </a:prstGeom>
          <a:solidFill>
            <a:srgbClr val="F8C400"/>
          </a:solidFill>
          <a:ln w="12700">
            <a:solidFill>
              <a:srgbClr val="F8C40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51560" y="1645920"/>
            <a:ext cx="384048" cy="292608"/>
          </a:xfrm>
          <a:prstGeom prst="ellipse">
            <a:avLst/>
          </a:prstGeom>
          <a:solidFill>
            <a:srgbClr val="F8C400"/>
          </a:solidFill>
          <a:ln w="12700">
            <a:solidFill>
              <a:srgbClr val="F8C40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737360" y="1572768"/>
            <a:ext cx="384048" cy="365760"/>
          </a:xfrm>
          <a:prstGeom prst="ellipse">
            <a:avLst/>
          </a:prstGeom>
          <a:solidFill>
            <a:srgbClr val="F8C400"/>
          </a:solidFill>
          <a:ln w="12700">
            <a:solidFill>
              <a:srgbClr val="F8C4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216152" y="1737360"/>
            <a:ext cx="7223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kintone</a:t>
            </a:r>
            <a:endParaRPr lang="en-US" sz="840" dirty="0"/>
          </a:p>
        </p:txBody>
      </p:sp>
      <p:sp>
        <p:nvSpPr>
          <p:cNvPr id="14" name="Text 12"/>
          <p:cNvSpPr/>
          <p:nvPr/>
        </p:nvSpPr>
        <p:spPr>
          <a:xfrm>
            <a:off x="1024128" y="2148840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720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大きな主張を先に置く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042416" y="2788920"/>
            <a:ext cx="2697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4A556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白 / 浅米色 + 黄色规则线。标题强，说明短。</a:t>
            </a:r>
            <a:endParaRPr lang="en-US" sz="820" dirty="0"/>
          </a:p>
        </p:txBody>
      </p:sp>
      <p:sp>
        <p:nvSpPr>
          <p:cNvPr id="16" name="Shape 14"/>
          <p:cNvSpPr/>
          <p:nvPr/>
        </p:nvSpPr>
        <p:spPr>
          <a:xfrm>
            <a:off x="4800600" y="1143000"/>
            <a:ext cx="3611880" cy="2514600"/>
          </a:xfrm>
          <a:prstGeom prst="roundRect">
            <a:avLst>
              <a:gd name="adj" fmla="val 2909"/>
            </a:avLst>
          </a:prstGeom>
          <a:solidFill>
            <a:srgbClr val="FFF4CC"/>
          </a:solidFill>
          <a:ln w="12700">
            <a:solidFill>
              <a:srgbClr val="FFF4C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257800" y="1874520"/>
            <a:ext cx="2194560" cy="0"/>
          </a:xfrm>
          <a:prstGeom prst="line">
            <a:avLst/>
          </a:prstGeom>
          <a:noFill/>
          <a:ln w="12700">
            <a:solidFill>
              <a:srgbClr val="8A94A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257800" y="1444752"/>
            <a:ext cx="10515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E8AA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SECTION 01</a:t>
            </a:r>
            <a:endParaRPr lang="en-US" sz="720" dirty="0"/>
          </a:p>
        </p:txBody>
      </p:sp>
      <p:sp>
        <p:nvSpPr>
          <p:cNvPr id="19" name="Text 17"/>
          <p:cNvSpPr/>
          <p:nvPr/>
        </p:nvSpPr>
        <p:spPr>
          <a:xfrm>
            <a:off x="5257800" y="205740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720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业务改善の全体像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5276088" y="2761488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A55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Section slides should feel calm, not decorative.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5720"/>
            <a:ext cx="9144000" cy="73152"/>
          </a:xfrm>
          <a:prstGeom prst="rect">
            <a:avLst/>
          </a:prstGeom>
          <a:solidFill>
            <a:srgbClr val="F8C400"/>
          </a:solidFill>
          <a:ln w="12700">
            <a:solidFill>
              <a:srgbClr val="F8C4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10912"/>
            <a:ext cx="9144000" cy="73152"/>
          </a:xfrm>
          <a:prstGeom prst="rect">
            <a:avLst/>
          </a:prstGeom>
          <a:solidFill>
            <a:srgbClr val="F8C400"/>
          </a:solidFill>
          <a:ln w="12700">
            <a:solidFill>
              <a:srgbClr val="F8C4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438912"/>
            <a:ext cx="128016" cy="109728"/>
          </a:xfrm>
          <a:prstGeom prst="rect">
            <a:avLst/>
          </a:prstGeom>
          <a:solidFill>
            <a:srgbClr val="F8C400"/>
          </a:solidFill>
          <a:ln w="12700">
            <a:solidFill>
              <a:srgbClr val="F8C4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13232" y="292608"/>
            <a:ext cx="6949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1720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Problem / insight card set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713232" y="658368"/>
            <a:ext cx="39319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cybozu-ish component library</a:t>
            </a:r>
            <a:endParaRPr lang="en-US" sz="680" dirty="0"/>
          </a:p>
        </p:txBody>
      </p:sp>
      <p:sp>
        <p:nvSpPr>
          <p:cNvPr id="7" name="Text 5"/>
          <p:cNvSpPr/>
          <p:nvPr/>
        </p:nvSpPr>
        <p:spPr>
          <a:xfrm>
            <a:off x="8183880" y="4736592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20" b="1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720" dirty="0"/>
          </a:p>
        </p:txBody>
      </p:sp>
      <p:sp>
        <p:nvSpPr>
          <p:cNvPr id="8" name="Shape 6"/>
          <p:cNvSpPr/>
          <p:nvPr/>
        </p:nvSpPr>
        <p:spPr>
          <a:xfrm>
            <a:off x="658368" y="932688"/>
            <a:ext cx="841248" cy="310896"/>
          </a:xfrm>
          <a:prstGeom prst="roundRect">
            <a:avLst>
              <a:gd name="adj" fmla="val 35294"/>
            </a:avLst>
          </a:prstGeom>
          <a:solidFill>
            <a:srgbClr val="F8C400"/>
          </a:solidFill>
          <a:ln w="12700">
            <a:solidFill>
              <a:srgbClr val="F8C4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68096" y="1019739"/>
            <a:ext cx="621792" cy="105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720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課題整理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658368" y="1417320"/>
            <a:ext cx="374904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D9DEE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58368" y="1417320"/>
            <a:ext cx="73152" cy="1078992"/>
          </a:xfrm>
          <a:prstGeom prst="rect">
            <a:avLst/>
          </a:prstGeom>
          <a:solidFill>
            <a:srgbClr val="F8C400"/>
          </a:solidFill>
          <a:ln w="12700">
            <a:solidFill>
              <a:srgbClr val="F8C40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05256" y="1645920"/>
            <a:ext cx="384048" cy="384048"/>
          </a:xfrm>
          <a:prstGeom prst="ellipse">
            <a:avLst/>
          </a:prstGeom>
          <a:solidFill>
            <a:srgbClr val="F8C400"/>
          </a:solidFill>
          <a:ln w="12700">
            <a:solidFill>
              <a:srgbClr val="F8C4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05256" y="1746504"/>
            <a:ext cx="3840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740" dirty="0"/>
          </a:p>
        </p:txBody>
      </p:sp>
      <p:sp>
        <p:nvSpPr>
          <p:cNvPr id="14" name="Text 12"/>
          <p:cNvSpPr/>
          <p:nvPr/>
        </p:nvSpPr>
        <p:spPr>
          <a:xfrm>
            <a:off x="1444752" y="1627632"/>
            <a:ext cx="27614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b="1" dirty="0">
                <a:solidFill>
                  <a:srgbClr val="1720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情報が散在</a:t>
            </a:r>
            <a:endParaRPr lang="en-US" sz="1120" dirty="0"/>
          </a:p>
        </p:txBody>
      </p:sp>
      <p:sp>
        <p:nvSpPr>
          <p:cNvPr id="15" name="Text 13"/>
          <p:cNvSpPr/>
          <p:nvPr/>
        </p:nvSpPr>
        <p:spPr>
          <a:xfrm>
            <a:off x="1444752" y="1984248"/>
            <a:ext cx="27614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30" dirty="0">
                <a:solidFill>
                  <a:srgbClr val="4A556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紙、Excel、メールに分かれ、最新版と担当が見えない。</a:t>
            </a:r>
            <a:endParaRPr lang="en-US" sz="730" dirty="0"/>
          </a:p>
        </p:txBody>
      </p:sp>
      <p:sp>
        <p:nvSpPr>
          <p:cNvPr id="16" name="Shape 14"/>
          <p:cNvSpPr/>
          <p:nvPr/>
        </p:nvSpPr>
        <p:spPr>
          <a:xfrm>
            <a:off x="4709160" y="1417320"/>
            <a:ext cx="374904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D9DEE7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709160" y="1417320"/>
            <a:ext cx="73152" cy="1078992"/>
          </a:xfrm>
          <a:prstGeom prst="rect">
            <a:avLst/>
          </a:prstGeom>
          <a:solidFill>
            <a:srgbClr val="F19A2A"/>
          </a:solidFill>
          <a:ln w="12700">
            <a:solidFill>
              <a:srgbClr val="F19A2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956048" y="1645920"/>
            <a:ext cx="384048" cy="384048"/>
          </a:xfrm>
          <a:prstGeom prst="ellipse">
            <a:avLst/>
          </a:prstGeom>
          <a:solidFill>
            <a:srgbClr val="F19A2A"/>
          </a:solidFill>
          <a:ln w="12700">
            <a:solidFill>
              <a:srgbClr val="F19A2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956048" y="1746504"/>
            <a:ext cx="3840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740" dirty="0"/>
          </a:p>
        </p:txBody>
      </p:sp>
      <p:sp>
        <p:nvSpPr>
          <p:cNvPr id="20" name="Text 18"/>
          <p:cNvSpPr/>
          <p:nvPr/>
        </p:nvSpPr>
        <p:spPr>
          <a:xfrm>
            <a:off x="5495544" y="1627632"/>
            <a:ext cx="27614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b="1" dirty="0">
                <a:solidFill>
                  <a:srgbClr val="1720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承認が遅い</a:t>
            </a:r>
            <a:endParaRPr lang="en-US" sz="1120" dirty="0"/>
          </a:p>
        </p:txBody>
      </p:sp>
      <p:sp>
        <p:nvSpPr>
          <p:cNvPr id="21" name="Text 19"/>
          <p:cNvSpPr/>
          <p:nvPr/>
        </p:nvSpPr>
        <p:spPr>
          <a:xfrm>
            <a:off x="5495544" y="1984248"/>
            <a:ext cx="27614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30" dirty="0">
                <a:solidFill>
                  <a:srgbClr val="4A556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確認、差戻し、証跡管理が人に依存する。</a:t>
            </a:r>
            <a:endParaRPr lang="en-US" sz="730" dirty="0"/>
          </a:p>
        </p:txBody>
      </p:sp>
      <p:sp>
        <p:nvSpPr>
          <p:cNvPr id="22" name="Shape 20"/>
          <p:cNvSpPr/>
          <p:nvPr/>
        </p:nvSpPr>
        <p:spPr>
          <a:xfrm>
            <a:off x="658368" y="2907792"/>
            <a:ext cx="374904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D9DEE7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58368" y="2907792"/>
            <a:ext cx="73152" cy="1078992"/>
          </a:xfrm>
          <a:prstGeom prst="rect">
            <a:avLst/>
          </a:prstGeom>
          <a:solidFill>
            <a:srgbClr val="21A6B7"/>
          </a:solidFill>
          <a:ln w="12700">
            <a:solidFill>
              <a:srgbClr val="21A6B7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05256" y="3136392"/>
            <a:ext cx="384048" cy="384048"/>
          </a:xfrm>
          <a:prstGeom prst="ellipse">
            <a:avLst/>
          </a:prstGeom>
          <a:solidFill>
            <a:srgbClr val="21A6B7"/>
          </a:solidFill>
          <a:ln w="12700">
            <a:solidFill>
              <a:srgbClr val="21A6B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05256" y="3236976"/>
            <a:ext cx="3840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740" dirty="0"/>
          </a:p>
        </p:txBody>
      </p:sp>
      <p:sp>
        <p:nvSpPr>
          <p:cNvPr id="26" name="Text 24"/>
          <p:cNvSpPr/>
          <p:nvPr/>
        </p:nvSpPr>
        <p:spPr>
          <a:xfrm>
            <a:off x="1444752" y="3118104"/>
            <a:ext cx="27614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b="1" dirty="0">
                <a:solidFill>
                  <a:srgbClr val="1720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集計が属人化</a:t>
            </a:r>
            <a:endParaRPr lang="en-US" sz="1120" dirty="0"/>
          </a:p>
        </p:txBody>
      </p:sp>
      <p:sp>
        <p:nvSpPr>
          <p:cNvPr id="27" name="Text 25"/>
          <p:cNvSpPr/>
          <p:nvPr/>
        </p:nvSpPr>
        <p:spPr>
          <a:xfrm>
            <a:off x="1444752" y="3474720"/>
            <a:ext cx="27614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30" dirty="0">
                <a:solidFill>
                  <a:srgbClr val="4A556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転記と集計が増え、改善の判断が遅れる。</a:t>
            </a:r>
            <a:endParaRPr lang="en-US" sz="730" dirty="0"/>
          </a:p>
        </p:txBody>
      </p:sp>
      <p:sp>
        <p:nvSpPr>
          <p:cNvPr id="28" name="Shape 26"/>
          <p:cNvSpPr/>
          <p:nvPr/>
        </p:nvSpPr>
        <p:spPr>
          <a:xfrm>
            <a:off x="4709160" y="2907792"/>
            <a:ext cx="374904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D9DEE7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709160" y="2907792"/>
            <a:ext cx="73152" cy="1078992"/>
          </a:xfrm>
          <a:prstGeom prst="rect">
            <a:avLst/>
          </a:prstGeom>
          <a:solidFill>
            <a:srgbClr val="4BAE65"/>
          </a:solidFill>
          <a:ln w="12700">
            <a:solidFill>
              <a:srgbClr val="4BAE65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956048" y="3136392"/>
            <a:ext cx="384048" cy="384048"/>
          </a:xfrm>
          <a:prstGeom prst="ellipse">
            <a:avLst/>
          </a:prstGeom>
          <a:solidFill>
            <a:srgbClr val="4BAE65"/>
          </a:solidFill>
          <a:ln w="12700">
            <a:solidFill>
              <a:srgbClr val="4BAE6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956048" y="3236976"/>
            <a:ext cx="3840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740" dirty="0"/>
          </a:p>
        </p:txBody>
      </p:sp>
      <p:sp>
        <p:nvSpPr>
          <p:cNvPr id="32" name="Text 30"/>
          <p:cNvSpPr/>
          <p:nvPr/>
        </p:nvSpPr>
        <p:spPr>
          <a:xfrm>
            <a:off x="5495544" y="3118104"/>
            <a:ext cx="27614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b="1" dirty="0">
                <a:solidFill>
                  <a:srgbClr val="1720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横展開しにくい</a:t>
            </a:r>
            <a:endParaRPr lang="en-US" sz="1120" dirty="0"/>
          </a:p>
        </p:txBody>
      </p:sp>
      <p:sp>
        <p:nvSpPr>
          <p:cNvPr id="33" name="Text 31"/>
          <p:cNvSpPr/>
          <p:nvPr/>
        </p:nvSpPr>
        <p:spPr>
          <a:xfrm>
            <a:off x="5495544" y="3474720"/>
            <a:ext cx="27614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30" dirty="0">
                <a:solidFill>
                  <a:srgbClr val="4A556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業務ごとに型が違い、成功パターンを再利用できない。</a:t>
            </a:r>
            <a:endParaRPr lang="en-US" sz="73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5720"/>
            <a:ext cx="9144000" cy="73152"/>
          </a:xfrm>
          <a:prstGeom prst="rect">
            <a:avLst/>
          </a:prstGeom>
          <a:solidFill>
            <a:srgbClr val="F8C400"/>
          </a:solidFill>
          <a:ln w="12700">
            <a:solidFill>
              <a:srgbClr val="F8C4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10912"/>
            <a:ext cx="9144000" cy="73152"/>
          </a:xfrm>
          <a:prstGeom prst="rect">
            <a:avLst/>
          </a:prstGeom>
          <a:solidFill>
            <a:srgbClr val="F8C400"/>
          </a:solidFill>
          <a:ln w="12700">
            <a:solidFill>
              <a:srgbClr val="F8C4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438912"/>
            <a:ext cx="128016" cy="109728"/>
          </a:xfrm>
          <a:prstGeom prst="rect">
            <a:avLst/>
          </a:prstGeom>
          <a:solidFill>
            <a:srgbClr val="F8C400"/>
          </a:solidFill>
          <a:ln w="12700">
            <a:solidFill>
              <a:srgbClr val="F8C4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13232" y="292608"/>
            <a:ext cx="6949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1720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App pack icon tile set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713232" y="658368"/>
            <a:ext cx="39319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cybozu-ish component library</a:t>
            </a:r>
            <a:endParaRPr lang="en-US" sz="680" dirty="0"/>
          </a:p>
        </p:txBody>
      </p:sp>
      <p:sp>
        <p:nvSpPr>
          <p:cNvPr id="7" name="Text 5"/>
          <p:cNvSpPr/>
          <p:nvPr/>
        </p:nvSpPr>
        <p:spPr>
          <a:xfrm>
            <a:off x="8183880" y="4736592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20" b="1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720" dirty="0"/>
          </a:p>
        </p:txBody>
      </p:sp>
      <p:sp>
        <p:nvSpPr>
          <p:cNvPr id="8" name="Shape 6"/>
          <p:cNvSpPr/>
          <p:nvPr/>
        </p:nvSpPr>
        <p:spPr>
          <a:xfrm>
            <a:off x="777240" y="1234440"/>
            <a:ext cx="2011680" cy="2697480"/>
          </a:xfrm>
          <a:prstGeom prst="roundRect">
            <a:avLst>
              <a:gd name="adj" fmla="val 4545"/>
            </a:avLst>
          </a:prstGeom>
          <a:solidFill>
            <a:srgbClr val="FFF9E8"/>
          </a:solidFill>
          <a:ln w="13970">
            <a:solidFill>
              <a:srgbClr val="F8C4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325880" y="1481328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720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マスター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1143000" y="1965960"/>
            <a:ext cx="585216" cy="585216"/>
          </a:xfrm>
          <a:prstGeom prst="roundRect">
            <a:avLst>
              <a:gd name="adj" fmla="val 15625"/>
            </a:avLst>
          </a:prstGeom>
          <a:solidFill>
            <a:srgbClr val="F19A2A"/>
          </a:solidFill>
          <a:ln w="12700">
            <a:solidFill>
              <a:srgbClr val="F19A2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 rot="2700000">
            <a:off x="1505834" y="2363907"/>
            <a:ext cx="128748" cy="35113"/>
          </a:xfrm>
          <a:prstGeom prst="rect">
            <a:avLst/>
          </a:prstGeom>
          <a:solidFill>
            <a:srgbClr val="FFFFFF">
              <a:alpha val="6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43000" y="2112264"/>
            <a:ext cx="585216" cy="1053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31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960120" y="2624328"/>
            <a:ext cx="9509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20" dirty="0">
                <a:solidFill>
                  <a:srgbClr val="1720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カレンダー</a:t>
            </a:r>
            <a:endParaRPr lang="en-US" sz="620" dirty="0"/>
          </a:p>
        </p:txBody>
      </p:sp>
      <p:sp>
        <p:nvSpPr>
          <p:cNvPr id="14" name="Shape 12"/>
          <p:cNvSpPr/>
          <p:nvPr/>
        </p:nvSpPr>
        <p:spPr>
          <a:xfrm>
            <a:off x="1847088" y="1965960"/>
            <a:ext cx="585216" cy="585216"/>
          </a:xfrm>
          <a:prstGeom prst="roundRect">
            <a:avLst>
              <a:gd name="adj" fmla="val 15625"/>
            </a:avLst>
          </a:prstGeom>
          <a:solidFill>
            <a:srgbClr val="21A6B7"/>
          </a:solidFill>
          <a:ln w="12700">
            <a:solidFill>
              <a:srgbClr val="21A6B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 rot="2700000">
            <a:off x="2209922" y="2363907"/>
            <a:ext cx="128748" cy="35113"/>
          </a:xfrm>
          <a:prstGeom prst="rect">
            <a:avLst/>
          </a:prstGeom>
          <a:solidFill>
            <a:srgbClr val="FFFFFF">
              <a:alpha val="6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847088" y="2112264"/>
            <a:ext cx="585216" cy="1053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1664208" y="2624328"/>
            <a:ext cx="9509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20" dirty="0">
                <a:solidFill>
                  <a:srgbClr val="1720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社員</a:t>
            </a:r>
            <a:endParaRPr lang="en-US" sz="620" dirty="0"/>
          </a:p>
        </p:txBody>
      </p:sp>
      <p:sp>
        <p:nvSpPr>
          <p:cNvPr id="18" name="Shape 16"/>
          <p:cNvSpPr/>
          <p:nvPr/>
        </p:nvSpPr>
        <p:spPr>
          <a:xfrm>
            <a:off x="3154680" y="2377440"/>
            <a:ext cx="548640" cy="438912"/>
          </a:xfrm>
          <a:prstGeom prst="chevron">
            <a:avLst/>
          </a:prstGeom>
          <a:solidFill>
            <a:srgbClr val="F8C400"/>
          </a:solidFill>
          <a:ln w="12700">
            <a:solidFill>
              <a:srgbClr val="F8C40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977640" y="1051560"/>
            <a:ext cx="4251960" cy="3063240"/>
          </a:xfrm>
          <a:prstGeom prst="roundRect">
            <a:avLst>
              <a:gd name="adj" fmla="val 2985"/>
            </a:avLst>
          </a:prstGeom>
          <a:solidFill>
            <a:srgbClr val="FFF9E8"/>
          </a:solidFill>
          <a:ln w="13970">
            <a:solidFill>
              <a:srgbClr val="F8C40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285232" y="1298448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720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業務アプリ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526280" y="1847088"/>
            <a:ext cx="585216" cy="585216"/>
          </a:xfrm>
          <a:prstGeom prst="roundRect">
            <a:avLst>
              <a:gd name="adj" fmla="val 15625"/>
            </a:avLst>
          </a:prstGeom>
          <a:solidFill>
            <a:srgbClr val="4BAE65"/>
          </a:solidFill>
          <a:ln w="12700">
            <a:solidFill>
              <a:srgbClr val="4BAE6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 rot="2700000">
            <a:off x="4889114" y="2245035"/>
            <a:ext cx="128748" cy="35113"/>
          </a:xfrm>
          <a:prstGeom prst="rect">
            <a:avLst/>
          </a:prstGeom>
          <a:solidFill>
            <a:srgbClr val="FFFFFF">
              <a:alpha val="6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26280" y="1993392"/>
            <a:ext cx="585216" cy="1053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OK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4343400" y="2505456"/>
            <a:ext cx="9509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20" dirty="0">
                <a:solidFill>
                  <a:srgbClr val="1720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申請</a:t>
            </a:r>
            <a:endParaRPr lang="en-US" sz="620" dirty="0"/>
          </a:p>
        </p:txBody>
      </p:sp>
      <p:sp>
        <p:nvSpPr>
          <p:cNvPr id="25" name="Shape 23"/>
          <p:cNvSpPr/>
          <p:nvPr/>
        </p:nvSpPr>
        <p:spPr>
          <a:xfrm>
            <a:off x="5285232" y="1847088"/>
            <a:ext cx="585216" cy="585216"/>
          </a:xfrm>
          <a:prstGeom prst="roundRect">
            <a:avLst>
              <a:gd name="adj" fmla="val 15625"/>
            </a:avLst>
          </a:prstGeom>
          <a:solidFill>
            <a:srgbClr val="E65A4F"/>
          </a:solidFill>
          <a:ln w="12700">
            <a:solidFill>
              <a:srgbClr val="E65A4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 rot="2700000">
            <a:off x="5648066" y="2245035"/>
            <a:ext cx="128748" cy="35113"/>
          </a:xfrm>
          <a:prstGeom prst="rect">
            <a:avLst/>
          </a:prstGeom>
          <a:solidFill>
            <a:srgbClr val="FFFFFF">
              <a:alpha val="6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285232" y="1993392"/>
            <a:ext cx="585216" cy="1053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!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5102352" y="2505456"/>
            <a:ext cx="9509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20" dirty="0">
                <a:solidFill>
                  <a:srgbClr val="1720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承認</a:t>
            </a:r>
            <a:endParaRPr lang="en-US" sz="620" dirty="0"/>
          </a:p>
        </p:txBody>
      </p:sp>
      <p:sp>
        <p:nvSpPr>
          <p:cNvPr id="29" name="Shape 27"/>
          <p:cNvSpPr/>
          <p:nvPr/>
        </p:nvSpPr>
        <p:spPr>
          <a:xfrm>
            <a:off x="6044184" y="1847088"/>
            <a:ext cx="585216" cy="585216"/>
          </a:xfrm>
          <a:prstGeom prst="roundRect">
            <a:avLst>
              <a:gd name="adj" fmla="val 15625"/>
            </a:avLst>
          </a:prstGeom>
          <a:solidFill>
            <a:srgbClr val="3B82C4"/>
          </a:solidFill>
          <a:ln w="12700">
            <a:solidFill>
              <a:srgbClr val="3B82C4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 rot="2700000">
            <a:off x="6407018" y="2245035"/>
            <a:ext cx="128748" cy="35113"/>
          </a:xfrm>
          <a:prstGeom prst="rect">
            <a:avLst/>
          </a:prstGeom>
          <a:solidFill>
            <a:srgbClr val="FFFFFF">
              <a:alpha val="6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044184" y="1993392"/>
            <a:ext cx="585216" cy="1053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UP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5861304" y="2505456"/>
            <a:ext cx="9509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20" dirty="0">
                <a:solidFill>
                  <a:srgbClr val="1720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報告</a:t>
            </a:r>
            <a:endParaRPr lang="en-US" sz="620" dirty="0"/>
          </a:p>
        </p:txBody>
      </p:sp>
      <p:sp>
        <p:nvSpPr>
          <p:cNvPr id="33" name="Shape 31"/>
          <p:cNvSpPr/>
          <p:nvPr/>
        </p:nvSpPr>
        <p:spPr>
          <a:xfrm>
            <a:off x="6803136" y="1847088"/>
            <a:ext cx="585216" cy="585216"/>
          </a:xfrm>
          <a:prstGeom prst="roundRect">
            <a:avLst>
              <a:gd name="adj" fmla="val 15625"/>
            </a:avLst>
          </a:prstGeom>
          <a:solidFill>
            <a:srgbClr val="21A6B7"/>
          </a:solidFill>
          <a:ln w="12700">
            <a:solidFill>
              <a:srgbClr val="21A6B7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 rot="2700000">
            <a:off x="7165970" y="2245035"/>
            <a:ext cx="128748" cy="35113"/>
          </a:xfrm>
          <a:prstGeom prst="rect">
            <a:avLst/>
          </a:prstGeom>
          <a:solidFill>
            <a:srgbClr val="FFFFFF">
              <a:alpha val="6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803136" y="1993392"/>
            <a:ext cx="585216" cy="1053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DB</a:t>
            </a:r>
            <a:endParaRPr lang="en-US" sz="1250" dirty="0"/>
          </a:p>
        </p:txBody>
      </p:sp>
      <p:sp>
        <p:nvSpPr>
          <p:cNvPr id="36" name="Text 34"/>
          <p:cNvSpPr/>
          <p:nvPr/>
        </p:nvSpPr>
        <p:spPr>
          <a:xfrm>
            <a:off x="6620256" y="2505456"/>
            <a:ext cx="9509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20" dirty="0">
                <a:solidFill>
                  <a:srgbClr val="1720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集計</a:t>
            </a:r>
            <a:endParaRPr lang="en-US" sz="620" dirty="0"/>
          </a:p>
        </p:txBody>
      </p:sp>
      <p:sp>
        <p:nvSpPr>
          <p:cNvPr id="37" name="Shape 35"/>
          <p:cNvSpPr/>
          <p:nvPr/>
        </p:nvSpPr>
        <p:spPr>
          <a:xfrm>
            <a:off x="4892040" y="2852928"/>
            <a:ext cx="585216" cy="585216"/>
          </a:xfrm>
          <a:prstGeom prst="roundRect">
            <a:avLst>
              <a:gd name="adj" fmla="val 15625"/>
            </a:avLst>
          </a:prstGeom>
          <a:solidFill>
            <a:srgbClr val="F19A2A"/>
          </a:solidFill>
          <a:ln w="12700">
            <a:solidFill>
              <a:srgbClr val="F19A2A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 rot="2700000">
            <a:off x="5254874" y="3250875"/>
            <a:ext cx="128748" cy="35113"/>
          </a:xfrm>
          <a:prstGeom prst="rect">
            <a:avLst/>
          </a:prstGeom>
          <a:solidFill>
            <a:srgbClr val="FFFFFF">
              <a:alpha val="6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892040" y="2999232"/>
            <a:ext cx="585216" cy="1053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%</a:t>
            </a:r>
            <a:endParaRPr lang="en-US" sz="1250" dirty="0"/>
          </a:p>
        </p:txBody>
      </p:sp>
      <p:sp>
        <p:nvSpPr>
          <p:cNvPr id="40" name="Text 38"/>
          <p:cNvSpPr/>
          <p:nvPr/>
        </p:nvSpPr>
        <p:spPr>
          <a:xfrm>
            <a:off x="4709160" y="3511296"/>
            <a:ext cx="9509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20" dirty="0">
                <a:solidFill>
                  <a:srgbClr val="1720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分析</a:t>
            </a:r>
            <a:endParaRPr lang="en-US" sz="620" dirty="0"/>
          </a:p>
        </p:txBody>
      </p:sp>
      <p:sp>
        <p:nvSpPr>
          <p:cNvPr id="41" name="Shape 39"/>
          <p:cNvSpPr/>
          <p:nvPr/>
        </p:nvSpPr>
        <p:spPr>
          <a:xfrm>
            <a:off x="6437376" y="2852928"/>
            <a:ext cx="585216" cy="585216"/>
          </a:xfrm>
          <a:prstGeom prst="roundRect">
            <a:avLst>
              <a:gd name="adj" fmla="val 15625"/>
            </a:avLst>
          </a:prstGeom>
          <a:solidFill>
            <a:srgbClr val="4BAE65"/>
          </a:solidFill>
          <a:ln w="12700">
            <a:solidFill>
              <a:srgbClr val="4BAE65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 rot="2700000">
            <a:off x="6800210" y="3250875"/>
            <a:ext cx="128748" cy="35113"/>
          </a:xfrm>
          <a:prstGeom prst="rect">
            <a:avLst/>
          </a:prstGeom>
          <a:solidFill>
            <a:srgbClr val="FFFFFF">
              <a:alpha val="6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437376" y="2999232"/>
            <a:ext cx="585216" cy="1053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</a:t>
            </a:r>
            <a:endParaRPr lang="en-US" sz="1250" dirty="0"/>
          </a:p>
        </p:txBody>
      </p:sp>
      <p:sp>
        <p:nvSpPr>
          <p:cNvPr id="44" name="Text 42"/>
          <p:cNvSpPr/>
          <p:nvPr/>
        </p:nvSpPr>
        <p:spPr>
          <a:xfrm>
            <a:off x="6254496" y="3511296"/>
            <a:ext cx="9509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20" dirty="0">
                <a:solidFill>
                  <a:srgbClr val="1720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改善</a:t>
            </a:r>
            <a:endParaRPr lang="en-US" sz="620" dirty="0"/>
          </a:p>
        </p:txBody>
      </p:sp>
      <p:sp>
        <p:nvSpPr>
          <p:cNvPr id="45" name="Shape 43"/>
          <p:cNvSpPr/>
          <p:nvPr/>
        </p:nvSpPr>
        <p:spPr>
          <a:xfrm>
            <a:off x="4297680" y="3776472"/>
            <a:ext cx="3611880" cy="164592"/>
          </a:xfrm>
          <a:prstGeom prst="rect">
            <a:avLst/>
          </a:prstGeom>
          <a:solidFill>
            <a:srgbClr val="F8C400"/>
          </a:solidFill>
          <a:ln w="12700">
            <a:solidFill>
              <a:srgbClr val="F8C40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462272" y="3813048"/>
            <a:ext cx="327355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30" b="1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 pack map: repeatable, editable, not screenshot-first</a:t>
            </a:r>
            <a:endParaRPr lang="en-US" sz="63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5720"/>
            <a:ext cx="9144000" cy="73152"/>
          </a:xfrm>
          <a:prstGeom prst="rect">
            <a:avLst/>
          </a:prstGeom>
          <a:solidFill>
            <a:srgbClr val="F8C400"/>
          </a:solidFill>
          <a:ln w="12700">
            <a:solidFill>
              <a:srgbClr val="F8C4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10912"/>
            <a:ext cx="9144000" cy="73152"/>
          </a:xfrm>
          <a:prstGeom prst="rect">
            <a:avLst/>
          </a:prstGeom>
          <a:solidFill>
            <a:srgbClr val="F8C400"/>
          </a:solidFill>
          <a:ln w="12700">
            <a:solidFill>
              <a:srgbClr val="F8C4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438912"/>
            <a:ext cx="128016" cy="109728"/>
          </a:xfrm>
          <a:prstGeom prst="rect">
            <a:avLst/>
          </a:prstGeom>
          <a:solidFill>
            <a:srgbClr val="F8C400"/>
          </a:solidFill>
          <a:ln w="12700">
            <a:solidFill>
              <a:srgbClr val="F8C4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13232" y="292608"/>
            <a:ext cx="6949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1720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Workflow / process components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713232" y="658368"/>
            <a:ext cx="39319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cybozu-ish component library</a:t>
            </a:r>
            <a:endParaRPr lang="en-US" sz="680" dirty="0"/>
          </a:p>
        </p:txBody>
      </p:sp>
      <p:sp>
        <p:nvSpPr>
          <p:cNvPr id="7" name="Text 5"/>
          <p:cNvSpPr/>
          <p:nvPr/>
        </p:nvSpPr>
        <p:spPr>
          <a:xfrm>
            <a:off x="8183880" y="4736592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20" b="1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720" dirty="0"/>
          </a:p>
        </p:txBody>
      </p:sp>
      <p:sp>
        <p:nvSpPr>
          <p:cNvPr id="8" name="Shape 6"/>
          <p:cNvSpPr/>
          <p:nvPr/>
        </p:nvSpPr>
        <p:spPr>
          <a:xfrm>
            <a:off x="713232" y="1508760"/>
            <a:ext cx="1481328" cy="1115568"/>
          </a:xfrm>
          <a:prstGeom prst="roundRect">
            <a:avLst>
              <a:gd name="adj" fmla="val 6557"/>
            </a:avLst>
          </a:prstGeom>
          <a:solidFill>
            <a:srgbClr val="FFFFFF"/>
          </a:solidFill>
          <a:ln w="17780">
            <a:solidFill>
              <a:srgbClr val="F8C40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207008" y="960120"/>
            <a:ext cx="493776" cy="493776"/>
          </a:xfrm>
          <a:prstGeom prst="ellipse">
            <a:avLst/>
          </a:prstGeom>
          <a:solidFill>
            <a:srgbClr val="F8C400"/>
          </a:solidFill>
          <a:ln w="12700">
            <a:solidFill>
              <a:srgbClr val="F8C4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07008" y="1088136"/>
            <a:ext cx="49377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920" dirty="0"/>
          </a:p>
        </p:txBody>
      </p:sp>
      <p:sp>
        <p:nvSpPr>
          <p:cNvPr id="11" name="Text 9"/>
          <p:cNvSpPr/>
          <p:nvPr/>
        </p:nvSpPr>
        <p:spPr>
          <a:xfrm>
            <a:off x="914400" y="1755648"/>
            <a:ext cx="10789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720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申請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914400" y="2121408"/>
            <a:ext cx="10789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4A556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現場が入力</a:t>
            </a:r>
            <a:endParaRPr lang="en-US" sz="700" dirty="0"/>
          </a:p>
        </p:txBody>
      </p:sp>
      <p:sp>
        <p:nvSpPr>
          <p:cNvPr id="13" name="Shape 11"/>
          <p:cNvSpPr/>
          <p:nvPr/>
        </p:nvSpPr>
        <p:spPr>
          <a:xfrm>
            <a:off x="2322576" y="1901952"/>
            <a:ext cx="402336" cy="237744"/>
          </a:xfrm>
          <a:prstGeom prst="rightArrow">
            <a:avLst/>
          </a:prstGeom>
          <a:solidFill>
            <a:srgbClr val="F8C400"/>
          </a:solidFill>
          <a:ln w="12700">
            <a:solidFill>
              <a:srgbClr val="F8C40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770632" y="1508760"/>
            <a:ext cx="1481328" cy="1115568"/>
          </a:xfrm>
          <a:prstGeom prst="roundRect">
            <a:avLst>
              <a:gd name="adj" fmla="val 6557"/>
            </a:avLst>
          </a:prstGeom>
          <a:solidFill>
            <a:srgbClr val="FFFFFF"/>
          </a:solidFill>
          <a:ln w="17780">
            <a:solidFill>
              <a:srgbClr val="21A6B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264408" y="960120"/>
            <a:ext cx="493776" cy="493776"/>
          </a:xfrm>
          <a:prstGeom prst="ellipse">
            <a:avLst/>
          </a:prstGeom>
          <a:solidFill>
            <a:srgbClr val="21A6B7"/>
          </a:solidFill>
          <a:ln w="12700">
            <a:solidFill>
              <a:srgbClr val="21A6B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64408" y="1088136"/>
            <a:ext cx="49377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920" dirty="0"/>
          </a:p>
        </p:txBody>
      </p:sp>
      <p:sp>
        <p:nvSpPr>
          <p:cNvPr id="17" name="Text 15"/>
          <p:cNvSpPr/>
          <p:nvPr/>
        </p:nvSpPr>
        <p:spPr>
          <a:xfrm>
            <a:off x="2971800" y="1755648"/>
            <a:ext cx="10789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720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確認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2971800" y="2121408"/>
            <a:ext cx="10789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4A556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担当が確認</a:t>
            </a:r>
            <a:endParaRPr lang="en-US" sz="700" dirty="0"/>
          </a:p>
        </p:txBody>
      </p:sp>
      <p:sp>
        <p:nvSpPr>
          <p:cNvPr id="19" name="Shape 17"/>
          <p:cNvSpPr/>
          <p:nvPr/>
        </p:nvSpPr>
        <p:spPr>
          <a:xfrm>
            <a:off x="4379976" y="1901952"/>
            <a:ext cx="402336" cy="237744"/>
          </a:xfrm>
          <a:prstGeom prst="rightArrow">
            <a:avLst/>
          </a:prstGeom>
          <a:solidFill>
            <a:srgbClr val="F8C400"/>
          </a:solidFill>
          <a:ln w="12700">
            <a:solidFill>
              <a:srgbClr val="F8C40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828032" y="1508760"/>
            <a:ext cx="1481328" cy="1115568"/>
          </a:xfrm>
          <a:prstGeom prst="roundRect">
            <a:avLst>
              <a:gd name="adj" fmla="val 6557"/>
            </a:avLst>
          </a:prstGeom>
          <a:solidFill>
            <a:srgbClr val="FFFFFF"/>
          </a:solidFill>
          <a:ln w="17780">
            <a:solidFill>
              <a:srgbClr val="F19A2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321808" y="960120"/>
            <a:ext cx="493776" cy="493776"/>
          </a:xfrm>
          <a:prstGeom prst="ellipse">
            <a:avLst/>
          </a:prstGeom>
          <a:solidFill>
            <a:srgbClr val="F19A2A"/>
          </a:solidFill>
          <a:ln w="12700">
            <a:solidFill>
              <a:srgbClr val="F19A2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321808" y="1088136"/>
            <a:ext cx="49377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920" dirty="0"/>
          </a:p>
        </p:txBody>
      </p:sp>
      <p:sp>
        <p:nvSpPr>
          <p:cNvPr id="23" name="Text 21"/>
          <p:cNvSpPr/>
          <p:nvPr/>
        </p:nvSpPr>
        <p:spPr>
          <a:xfrm>
            <a:off x="5029200" y="1755648"/>
            <a:ext cx="10789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720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承認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5029200" y="2121408"/>
            <a:ext cx="10789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4A556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上長が判断</a:t>
            </a:r>
            <a:endParaRPr lang="en-US" sz="700" dirty="0"/>
          </a:p>
        </p:txBody>
      </p:sp>
      <p:sp>
        <p:nvSpPr>
          <p:cNvPr id="25" name="Shape 23"/>
          <p:cNvSpPr/>
          <p:nvPr/>
        </p:nvSpPr>
        <p:spPr>
          <a:xfrm>
            <a:off x="6437376" y="1901952"/>
            <a:ext cx="402336" cy="237744"/>
          </a:xfrm>
          <a:prstGeom prst="rightArrow">
            <a:avLst/>
          </a:prstGeom>
          <a:solidFill>
            <a:srgbClr val="F8C400"/>
          </a:solidFill>
          <a:ln w="12700">
            <a:solidFill>
              <a:srgbClr val="F8C40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885432" y="1508760"/>
            <a:ext cx="1481328" cy="1115568"/>
          </a:xfrm>
          <a:prstGeom prst="roundRect">
            <a:avLst>
              <a:gd name="adj" fmla="val 6557"/>
            </a:avLst>
          </a:prstGeom>
          <a:solidFill>
            <a:srgbClr val="FFFFFF"/>
          </a:solidFill>
          <a:ln w="17780">
            <a:solidFill>
              <a:srgbClr val="4BAE65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379208" y="960120"/>
            <a:ext cx="493776" cy="493776"/>
          </a:xfrm>
          <a:prstGeom prst="ellipse">
            <a:avLst/>
          </a:prstGeom>
          <a:solidFill>
            <a:srgbClr val="4BAE65"/>
          </a:solidFill>
          <a:ln w="12700">
            <a:solidFill>
              <a:srgbClr val="4BAE6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379208" y="1088136"/>
            <a:ext cx="49377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920" dirty="0"/>
          </a:p>
        </p:txBody>
      </p:sp>
      <p:sp>
        <p:nvSpPr>
          <p:cNvPr id="29" name="Text 27"/>
          <p:cNvSpPr/>
          <p:nvPr/>
        </p:nvSpPr>
        <p:spPr>
          <a:xfrm>
            <a:off x="7086600" y="1755648"/>
            <a:ext cx="10789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720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集計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7086600" y="2121408"/>
            <a:ext cx="10789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4A556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自動で可視化</a:t>
            </a:r>
            <a:endParaRPr lang="en-US" sz="700" dirty="0"/>
          </a:p>
        </p:txBody>
      </p:sp>
      <p:sp>
        <p:nvSpPr>
          <p:cNvPr id="31" name="Shape 29"/>
          <p:cNvSpPr/>
          <p:nvPr/>
        </p:nvSpPr>
        <p:spPr>
          <a:xfrm>
            <a:off x="1097280" y="3401568"/>
            <a:ext cx="6949440" cy="530352"/>
          </a:xfrm>
          <a:prstGeom prst="roundRect">
            <a:avLst>
              <a:gd name="adj" fmla="val 27586"/>
            </a:avLst>
          </a:prstGeom>
          <a:solidFill>
            <a:srgbClr val="F8C400"/>
          </a:solidFill>
          <a:ln w="12700">
            <a:solidFill>
              <a:srgbClr val="F8C40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280160" y="3566160"/>
            <a:ext cx="6583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720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抜け漏れを減らし、進捗と証跡を同じ画面で確認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5720"/>
            <a:ext cx="9144000" cy="73152"/>
          </a:xfrm>
          <a:prstGeom prst="rect">
            <a:avLst/>
          </a:prstGeom>
          <a:solidFill>
            <a:srgbClr val="F8C400"/>
          </a:solidFill>
          <a:ln w="12700">
            <a:solidFill>
              <a:srgbClr val="F8C4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10912"/>
            <a:ext cx="9144000" cy="73152"/>
          </a:xfrm>
          <a:prstGeom prst="rect">
            <a:avLst/>
          </a:prstGeom>
          <a:solidFill>
            <a:srgbClr val="F8C400"/>
          </a:solidFill>
          <a:ln w="12700">
            <a:solidFill>
              <a:srgbClr val="F8C4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438912"/>
            <a:ext cx="128016" cy="109728"/>
          </a:xfrm>
          <a:prstGeom prst="rect">
            <a:avLst/>
          </a:prstGeom>
          <a:solidFill>
            <a:srgbClr val="F8C400"/>
          </a:solidFill>
          <a:ln w="12700">
            <a:solidFill>
              <a:srgbClr val="F8C4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13232" y="292608"/>
            <a:ext cx="6949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1720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Dashboard mockup + callout pattern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713232" y="658368"/>
            <a:ext cx="39319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cybozu-ish component library</a:t>
            </a:r>
            <a:endParaRPr lang="en-US" sz="680" dirty="0"/>
          </a:p>
        </p:txBody>
      </p:sp>
      <p:sp>
        <p:nvSpPr>
          <p:cNvPr id="7" name="Text 5"/>
          <p:cNvSpPr/>
          <p:nvPr/>
        </p:nvSpPr>
        <p:spPr>
          <a:xfrm>
            <a:off x="8183880" y="4736592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20" b="1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</a:t>
            </a:r>
            <a:endParaRPr lang="en-US" sz="720" dirty="0"/>
          </a:p>
        </p:txBody>
      </p:sp>
      <p:sp>
        <p:nvSpPr>
          <p:cNvPr id="8" name="Shape 6"/>
          <p:cNvSpPr/>
          <p:nvPr/>
        </p:nvSpPr>
        <p:spPr>
          <a:xfrm>
            <a:off x="713232" y="1143000"/>
            <a:ext cx="4069080" cy="2816352"/>
          </a:xfrm>
          <a:prstGeom prst="roundRect">
            <a:avLst>
              <a:gd name="adj" fmla="val 2597"/>
            </a:avLst>
          </a:prstGeom>
          <a:solidFill>
            <a:srgbClr val="FFFFFF"/>
          </a:solidFill>
          <a:ln w="12700">
            <a:solidFill>
              <a:srgbClr val="D9DEE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13232" y="1143000"/>
            <a:ext cx="4069080" cy="329184"/>
          </a:xfrm>
          <a:prstGeom prst="rect">
            <a:avLst/>
          </a:prstGeom>
          <a:solidFill>
            <a:srgbClr val="F6F8FA"/>
          </a:solidFill>
          <a:ln w="12700">
            <a:solidFill>
              <a:srgbClr val="F6F8F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77824" y="1261872"/>
            <a:ext cx="822960" cy="82296"/>
          </a:xfrm>
          <a:prstGeom prst="rect">
            <a:avLst/>
          </a:prstGeom>
          <a:solidFill>
            <a:srgbClr val="F8C400"/>
          </a:solidFill>
          <a:ln w="12700">
            <a:solidFill>
              <a:srgbClr val="F8C40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069080" y="1234440"/>
            <a:ext cx="420624" cy="128016"/>
          </a:xfrm>
          <a:prstGeom prst="roundRect">
            <a:avLst>
              <a:gd name="adj" fmla="val 28571"/>
            </a:avLst>
          </a:prstGeom>
          <a:solidFill>
            <a:srgbClr val="D9DEE7"/>
          </a:solidFill>
          <a:ln w="12700">
            <a:solidFill>
              <a:srgbClr val="D9DEE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14400" y="1673352"/>
            <a:ext cx="1709014" cy="2066544"/>
          </a:xfrm>
          <a:prstGeom prst="roundRect">
            <a:avLst>
              <a:gd name="adj" fmla="val 2140"/>
            </a:avLst>
          </a:prstGeom>
          <a:solidFill>
            <a:srgbClr val="F6F8FA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60704" y="1856232"/>
            <a:ext cx="118872" cy="118872"/>
          </a:xfrm>
          <a:prstGeom prst="ellipse">
            <a:avLst/>
          </a:prstGeom>
          <a:solidFill>
            <a:srgbClr val="F8C40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261872" y="1883664"/>
            <a:ext cx="1057961" cy="45720"/>
          </a:xfrm>
          <a:prstGeom prst="rect">
            <a:avLst/>
          </a:prstGeom>
          <a:solidFill>
            <a:srgbClr val="D9DEE7"/>
          </a:solidFill>
          <a:ln w="12700">
            <a:solidFill>
              <a:srgbClr val="D9DEE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261872" y="1984248"/>
            <a:ext cx="732434" cy="36576"/>
          </a:xfrm>
          <a:prstGeom prst="rect">
            <a:avLst/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60704" y="2176272"/>
            <a:ext cx="118872" cy="118872"/>
          </a:xfrm>
          <a:prstGeom prst="ellipse">
            <a:avLst/>
          </a:prstGeom>
          <a:solidFill>
            <a:srgbClr val="21A6B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261872" y="2203704"/>
            <a:ext cx="1057961" cy="45720"/>
          </a:xfrm>
          <a:prstGeom prst="rect">
            <a:avLst/>
          </a:prstGeom>
          <a:solidFill>
            <a:srgbClr val="D9DEE7"/>
          </a:solidFill>
          <a:ln w="12700">
            <a:solidFill>
              <a:srgbClr val="D9DEE7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261872" y="2304288"/>
            <a:ext cx="732434" cy="36576"/>
          </a:xfrm>
          <a:prstGeom prst="rect">
            <a:avLst/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60704" y="2496312"/>
            <a:ext cx="118872" cy="118872"/>
          </a:xfrm>
          <a:prstGeom prst="ellipse">
            <a:avLst/>
          </a:prstGeom>
          <a:solidFill>
            <a:srgbClr val="F19A2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261872" y="2523744"/>
            <a:ext cx="1057961" cy="45720"/>
          </a:xfrm>
          <a:prstGeom prst="rect">
            <a:avLst/>
          </a:prstGeom>
          <a:solidFill>
            <a:srgbClr val="D9DEE7"/>
          </a:solidFill>
          <a:ln w="12700">
            <a:solidFill>
              <a:srgbClr val="D9DEE7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261872" y="2624328"/>
            <a:ext cx="732434" cy="36576"/>
          </a:xfrm>
          <a:prstGeom prst="rect">
            <a:avLst/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060704" y="2816352"/>
            <a:ext cx="118872" cy="118872"/>
          </a:xfrm>
          <a:prstGeom prst="ellipse">
            <a:avLst/>
          </a:prstGeom>
          <a:solidFill>
            <a:srgbClr val="4BAE6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261872" y="2843784"/>
            <a:ext cx="1057961" cy="45720"/>
          </a:xfrm>
          <a:prstGeom prst="rect">
            <a:avLst/>
          </a:prstGeom>
          <a:solidFill>
            <a:srgbClr val="D9DEE7"/>
          </a:solidFill>
          <a:ln w="12700">
            <a:solidFill>
              <a:srgbClr val="D9DEE7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261872" y="2944368"/>
            <a:ext cx="732434" cy="36576"/>
          </a:xfrm>
          <a:prstGeom prst="rect">
            <a:avLst/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060704" y="3136392"/>
            <a:ext cx="118872" cy="118872"/>
          </a:xfrm>
          <a:prstGeom prst="ellipse">
            <a:avLst/>
          </a:prstGeom>
          <a:solidFill>
            <a:srgbClr val="3B82C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261872" y="3163824"/>
            <a:ext cx="1057961" cy="45720"/>
          </a:xfrm>
          <a:prstGeom prst="rect">
            <a:avLst/>
          </a:prstGeom>
          <a:solidFill>
            <a:srgbClr val="D9DEE7"/>
          </a:solidFill>
          <a:ln w="12700">
            <a:solidFill>
              <a:srgbClr val="D9DEE7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261872" y="3264408"/>
            <a:ext cx="732434" cy="36576"/>
          </a:xfrm>
          <a:prstGeom prst="rect">
            <a:avLst/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910535" y="3246120"/>
            <a:ext cx="182880" cy="457200"/>
          </a:xfrm>
          <a:prstGeom prst="roundRect">
            <a:avLst>
              <a:gd name="adj" fmla="val 15000"/>
            </a:avLst>
          </a:prstGeom>
          <a:solidFill>
            <a:srgbClr val="F8C40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221431" y="3108960"/>
            <a:ext cx="182880" cy="594360"/>
          </a:xfrm>
          <a:prstGeom prst="roundRect">
            <a:avLst>
              <a:gd name="adj" fmla="val 15000"/>
            </a:avLst>
          </a:prstGeom>
          <a:solidFill>
            <a:srgbClr val="21A6B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532327" y="2971800"/>
            <a:ext cx="182880" cy="731520"/>
          </a:xfrm>
          <a:prstGeom prst="roundRect">
            <a:avLst>
              <a:gd name="adj" fmla="val 15000"/>
            </a:avLst>
          </a:prstGeom>
          <a:solidFill>
            <a:srgbClr val="4BAE6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843223" y="2834640"/>
            <a:ext cx="182880" cy="868680"/>
          </a:xfrm>
          <a:prstGeom prst="roundRect">
            <a:avLst>
              <a:gd name="adj" fmla="val 15000"/>
            </a:avLst>
          </a:prstGeom>
          <a:solidFill>
            <a:srgbClr val="F19A2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794760" y="2926080"/>
            <a:ext cx="621792" cy="621792"/>
          </a:xfrm>
          <a:prstGeom prst="ellipse">
            <a:avLst/>
          </a:prstGeom>
          <a:solidFill>
            <a:srgbClr val="F8C400"/>
          </a:solidFill>
          <a:ln w="12700">
            <a:solidFill>
              <a:srgbClr val="F8C40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922776" y="3054096"/>
            <a:ext cx="365760" cy="365760"/>
          </a:xfrm>
          <a:prstGeom prst="ellipse">
            <a:avLst/>
          </a:prstGeom>
          <a:solidFill>
            <a:srgbClr val="4BAE65"/>
          </a:solidFill>
          <a:ln w="12700">
            <a:solidFill>
              <a:srgbClr val="4BAE65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138928" y="1170432"/>
            <a:ext cx="315468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5240">
            <a:solidFill>
              <a:srgbClr val="F8C40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 rot="16200000">
            <a:off x="5029200" y="1412931"/>
            <a:ext cx="182880" cy="164592"/>
          </a:xfrm>
          <a:prstGeom prst="triangle">
            <a:avLst/>
          </a:prstGeom>
          <a:solidFill>
            <a:srgbClr val="FFFFFF"/>
          </a:solidFill>
          <a:ln w="12700">
            <a:solidFill>
              <a:srgbClr val="F8C40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285232" y="1289304"/>
            <a:ext cx="28986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1720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状況を一画面で確認</a:t>
            </a:r>
            <a:endParaRPr lang="en-US" sz="880" dirty="0"/>
          </a:p>
        </p:txBody>
      </p:sp>
      <p:sp>
        <p:nvSpPr>
          <p:cNvPr id="37" name="Text 35"/>
          <p:cNvSpPr/>
          <p:nvPr/>
        </p:nvSpPr>
        <p:spPr>
          <a:xfrm>
            <a:off x="5285232" y="1536192"/>
            <a:ext cx="28986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4A556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一覧、グラフ、アラートを同じ文脈で見せる。</a:t>
            </a:r>
            <a:endParaRPr lang="en-US" sz="680" dirty="0"/>
          </a:p>
        </p:txBody>
      </p:sp>
      <p:sp>
        <p:nvSpPr>
          <p:cNvPr id="38" name="Shape 36"/>
          <p:cNvSpPr/>
          <p:nvPr/>
        </p:nvSpPr>
        <p:spPr>
          <a:xfrm>
            <a:off x="5138928" y="2176272"/>
            <a:ext cx="315468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5240">
            <a:solidFill>
              <a:srgbClr val="21A6B7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 rot="16200000">
            <a:off x="5029200" y="2418771"/>
            <a:ext cx="182880" cy="164592"/>
          </a:xfrm>
          <a:prstGeom prst="triangle">
            <a:avLst/>
          </a:prstGeom>
          <a:solidFill>
            <a:srgbClr val="FFFFFF"/>
          </a:solidFill>
          <a:ln w="12700">
            <a:solidFill>
              <a:srgbClr val="21A6B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285232" y="2295144"/>
            <a:ext cx="28986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1720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改善ポイントを共有</a:t>
            </a:r>
            <a:endParaRPr lang="en-US" sz="880" dirty="0"/>
          </a:p>
        </p:txBody>
      </p:sp>
      <p:sp>
        <p:nvSpPr>
          <p:cNvPr id="41" name="Text 39"/>
          <p:cNvSpPr/>
          <p:nvPr/>
        </p:nvSpPr>
        <p:spPr>
          <a:xfrm>
            <a:off x="5285232" y="2542032"/>
            <a:ext cx="28986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4A556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担当、期限、次アクションを短い言葉で固定する。</a:t>
            </a:r>
            <a:endParaRPr lang="en-US" sz="680" dirty="0"/>
          </a:p>
        </p:txBody>
      </p:sp>
      <p:sp>
        <p:nvSpPr>
          <p:cNvPr id="42" name="Shape 40"/>
          <p:cNvSpPr/>
          <p:nvPr/>
        </p:nvSpPr>
        <p:spPr>
          <a:xfrm>
            <a:off x="5138928" y="3182112"/>
            <a:ext cx="315468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5240">
            <a:solidFill>
              <a:srgbClr val="F19A2A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 rot="16200000">
            <a:off x="5029200" y="3424611"/>
            <a:ext cx="182880" cy="164592"/>
          </a:xfrm>
          <a:prstGeom prst="triangle">
            <a:avLst/>
          </a:prstGeom>
          <a:solidFill>
            <a:srgbClr val="FFFFFF"/>
          </a:solidFill>
          <a:ln w="12700">
            <a:solidFill>
              <a:srgbClr val="F19A2A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285232" y="3300984"/>
            <a:ext cx="28986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1720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横展開しやすい型</a:t>
            </a:r>
            <a:endParaRPr lang="en-US" sz="880" dirty="0"/>
          </a:p>
        </p:txBody>
      </p:sp>
      <p:sp>
        <p:nvSpPr>
          <p:cNvPr id="45" name="Text 43"/>
          <p:cNvSpPr/>
          <p:nvPr/>
        </p:nvSpPr>
        <p:spPr>
          <a:xfrm>
            <a:off x="5285232" y="3547872"/>
            <a:ext cx="28986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4A556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業務ごとに同じ構造を使い回せるようにする。</a:t>
            </a:r>
            <a:endParaRPr lang="en-US" sz="68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5720"/>
            <a:ext cx="9144000" cy="73152"/>
          </a:xfrm>
          <a:prstGeom prst="rect">
            <a:avLst/>
          </a:prstGeom>
          <a:solidFill>
            <a:srgbClr val="F8C400"/>
          </a:solidFill>
          <a:ln w="12700">
            <a:solidFill>
              <a:srgbClr val="F8C4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10912"/>
            <a:ext cx="9144000" cy="73152"/>
          </a:xfrm>
          <a:prstGeom prst="rect">
            <a:avLst/>
          </a:prstGeom>
          <a:solidFill>
            <a:srgbClr val="F8C400"/>
          </a:solidFill>
          <a:ln w="12700">
            <a:solidFill>
              <a:srgbClr val="F8C4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438912"/>
            <a:ext cx="128016" cy="109728"/>
          </a:xfrm>
          <a:prstGeom prst="rect">
            <a:avLst/>
          </a:prstGeom>
          <a:solidFill>
            <a:srgbClr val="F8C400"/>
          </a:solidFill>
          <a:ln w="12700">
            <a:solidFill>
              <a:srgbClr val="F8C4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13232" y="292608"/>
            <a:ext cx="6949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1720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Solution map / before-after modules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713232" y="658368"/>
            <a:ext cx="39319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cybozu-ish component library</a:t>
            </a:r>
            <a:endParaRPr lang="en-US" sz="680" dirty="0"/>
          </a:p>
        </p:txBody>
      </p:sp>
      <p:sp>
        <p:nvSpPr>
          <p:cNvPr id="7" name="Text 5"/>
          <p:cNvSpPr/>
          <p:nvPr/>
        </p:nvSpPr>
        <p:spPr>
          <a:xfrm>
            <a:off x="8183880" y="4736592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20" b="1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</a:t>
            </a:r>
            <a:endParaRPr lang="en-US" sz="720" dirty="0"/>
          </a:p>
        </p:txBody>
      </p:sp>
      <p:sp>
        <p:nvSpPr>
          <p:cNvPr id="8" name="Shape 6"/>
          <p:cNvSpPr/>
          <p:nvPr/>
        </p:nvSpPr>
        <p:spPr>
          <a:xfrm>
            <a:off x="731520" y="1097280"/>
            <a:ext cx="786384" cy="292608"/>
          </a:xfrm>
          <a:prstGeom prst="roundRect">
            <a:avLst>
              <a:gd name="adj" fmla="val 37500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41248" y="1179210"/>
            <a:ext cx="566928" cy="994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4A556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Before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4892040" y="1097280"/>
            <a:ext cx="713232" cy="292608"/>
          </a:xfrm>
          <a:prstGeom prst="roundRect">
            <a:avLst>
              <a:gd name="adj" fmla="val 37500"/>
            </a:avLst>
          </a:prstGeom>
          <a:solidFill>
            <a:srgbClr val="F8C400"/>
          </a:solidFill>
          <a:ln w="12700">
            <a:solidFill>
              <a:srgbClr val="F8C4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01768" y="1179210"/>
            <a:ext cx="493776" cy="994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720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After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868680" y="1874520"/>
            <a:ext cx="713232" cy="38404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9DEE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68680" y="1993392"/>
            <a:ext cx="71323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dirty="0">
                <a:solidFill>
                  <a:srgbClr val="4A556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紙</a:t>
            </a:r>
            <a:endParaRPr lang="en-US" sz="720" dirty="0"/>
          </a:p>
        </p:txBody>
      </p:sp>
      <p:sp>
        <p:nvSpPr>
          <p:cNvPr id="14" name="Shape 12"/>
          <p:cNvSpPr/>
          <p:nvPr/>
        </p:nvSpPr>
        <p:spPr>
          <a:xfrm>
            <a:off x="1655064" y="2532888"/>
            <a:ext cx="713232" cy="38404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9DEE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655064" y="2651760"/>
            <a:ext cx="71323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dirty="0">
                <a:solidFill>
                  <a:srgbClr val="4A556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Excel</a:t>
            </a:r>
            <a:endParaRPr lang="en-US" sz="720" dirty="0"/>
          </a:p>
        </p:txBody>
      </p:sp>
      <p:sp>
        <p:nvSpPr>
          <p:cNvPr id="16" name="Shape 14"/>
          <p:cNvSpPr/>
          <p:nvPr/>
        </p:nvSpPr>
        <p:spPr>
          <a:xfrm>
            <a:off x="2441448" y="1874520"/>
            <a:ext cx="713232" cy="38404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9DEE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441448" y="1993392"/>
            <a:ext cx="71323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dirty="0">
                <a:solidFill>
                  <a:srgbClr val="4A556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メール</a:t>
            </a:r>
            <a:endParaRPr lang="en-US" sz="720" dirty="0"/>
          </a:p>
        </p:txBody>
      </p:sp>
      <p:sp>
        <p:nvSpPr>
          <p:cNvPr id="18" name="Shape 16"/>
          <p:cNvSpPr/>
          <p:nvPr/>
        </p:nvSpPr>
        <p:spPr>
          <a:xfrm>
            <a:off x="3227832" y="2532888"/>
            <a:ext cx="713232" cy="38404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9DEE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27832" y="2651760"/>
            <a:ext cx="71323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dirty="0">
                <a:solidFill>
                  <a:srgbClr val="4A556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個別確認</a:t>
            </a:r>
            <a:endParaRPr lang="en-US" sz="720" dirty="0"/>
          </a:p>
        </p:txBody>
      </p:sp>
      <p:sp>
        <p:nvSpPr>
          <p:cNvPr id="20" name="Shape 18"/>
          <p:cNvSpPr/>
          <p:nvPr/>
        </p:nvSpPr>
        <p:spPr>
          <a:xfrm>
            <a:off x="4023360" y="2240280"/>
            <a:ext cx="530352" cy="310896"/>
          </a:xfrm>
          <a:prstGeom prst="rightArrow">
            <a:avLst/>
          </a:prstGeom>
          <a:solidFill>
            <a:srgbClr val="F8C400"/>
          </a:solidFill>
          <a:ln w="12700">
            <a:solidFill>
              <a:srgbClr val="F8C40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892040" y="1664208"/>
            <a:ext cx="3456432" cy="1938528"/>
          </a:xfrm>
          <a:prstGeom prst="roundRect">
            <a:avLst>
              <a:gd name="adj" fmla="val 4717"/>
            </a:avLst>
          </a:prstGeom>
          <a:solidFill>
            <a:srgbClr val="FFF9E8"/>
          </a:solidFill>
          <a:ln w="15240">
            <a:solidFill>
              <a:srgbClr val="F8C40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257800" y="2084832"/>
            <a:ext cx="384048" cy="384048"/>
          </a:xfrm>
          <a:prstGeom prst="ellipse">
            <a:avLst/>
          </a:prstGeom>
          <a:solidFill>
            <a:srgbClr val="F8C400"/>
          </a:solidFill>
          <a:ln w="12700">
            <a:solidFill>
              <a:srgbClr val="F8C40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93208" y="2587752"/>
            <a:ext cx="71323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1720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申請</a:t>
            </a:r>
            <a:endParaRPr lang="en-US" sz="650" dirty="0"/>
          </a:p>
        </p:txBody>
      </p:sp>
      <p:sp>
        <p:nvSpPr>
          <p:cNvPr id="24" name="Shape 22"/>
          <p:cNvSpPr/>
          <p:nvPr/>
        </p:nvSpPr>
        <p:spPr>
          <a:xfrm>
            <a:off x="5989320" y="2084832"/>
            <a:ext cx="384048" cy="384048"/>
          </a:xfrm>
          <a:prstGeom prst="ellipse">
            <a:avLst/>
          </a:prstGeom>
          <a:solidFill>
            <a:srgbClr val="21A6B7"/>
          </a:solidFill>
          <a:ln w="12700">
            <a:solidFill>
              <a:srgbClr val="21A6B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824728" y="2587752"/>
            <a:ext cx="71323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1720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承認</a:t>
            </a:r>
            <a:endParaRPr lang="en-US" sz="650" dirty="0"/>
          </a:p>
        </p:txBody>
      </p:sp>
      <p:sp>
        <p:nvSpPr>
          <p:cNvPr id="26" name="Shape 24"/>
          <p:cNvSpPr/>
          <p:nvPr/>
        </p:nvSpPr>
        <p:spPr>
          <a:xfrm>
            <a:off x="6720840" y="2084832"/>
            <a:ext cx="384048" cy="384048"/>
          </a:xfrm>
          <a:prstGeom prst="ellipse">
            <a:avLst/>
          </a:prstGeom>
          <a:solidFill>
            <a:srgbClr val="4BAE65"/>
          </a:solidFill>
          <a:ln w="12700">
            <a:solidFill>
              <a:srgbClr val="4BAE6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556248" y="2587752"/>
            <a:ext cx="71323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1720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集計</a:t>
            </a:r>
            <a:endParaRPr lang="en-US" sz="650" dirty="0"/>
          </a:p>
        </p:txBody>
      </p:sp>
      <p:sp>
        <p:nvSpPr>
          <p:cNvPr id="28" name="Shape 26"/>
          <p:cNvSpPr/>
          <p:nvPr/>
        </p:nvSpPr>
        <p:spPr>
          <a:xfrm>
            <a:off x="7452360" y="2084832"/>
            <a:ext cx="384048" cy="384048"/>
          </a:xfrm>
          <a:prstGeom prst="ellipse">
            <a:avLst/>
          </a:prstGeom>
          <a:solidFill>
            <a:srgbClr val="F19A2A"/>
          </a:solidFill>
          <a:ln w="12700">
            <a:solidFill>
              <a:srgbClr val="F19A2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287768" y="2587752"/>
            <a:ext cx="71323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1720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改善</a:t>
            </a:r>
            <a:endParaRPr lang="en-US" sz="650" dirty="0"/>
          </a:p>
        </p:txBody>
      </p:sp>
      <p:sp>
        <p:nvSpPr>
          <p:cNvPr id="30" name="Text 28"/>
          <p:cNvSpPr/>
          <p:nvPr/>
        </p:nvSpPr>
        <p:spPr>
          <a:xfrm>
            <a:off x="5532120" y="3072384"/>
            <a:ext cx="2194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 shared kintone work system</a:t>
            </a:r>
            <a:endParaRPr lang="en-US" sz="78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5720"/>
            <a:ext cx="9144000" cy="73152"/>
          </a:xfrm>
          <a:prstGeom prst="rect">
            <a:avLst/>
          </a:prstGeom>
          <a:solidFill>
            <a:srgbClr val="F8C400"/>
          </a:solidFill>
          <a:ln w="12700">
            <a:solidFill>
              <a:srgbClr val="F8C4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10912"/>
            <a:ext cx="9144000" cy="73152"/>
          </a:xfrm>
          <a:prstGeom prst="rect">
            <a:avLst/>
          </a:prstGeom>
          <a:solidFill>
            <a:srgbClr val="F8C400"/>
          </a:solidFill>
          <a:ln w="12700">
            <a:solidFill>
              <a:srgbClr val="F8C4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438912"/>
            <a:ext cx="128016" cy="109728"/>
          </a:xfrm>
          <a:prstGeom prst="rect">
            <a:avLst/>
          </a:prstGeom>
          <a:solidFill>
            <a:srgbClr val="F8C400"/>
          </a:solidFill>
          <a:ln w="12700">
            <a:solidFill>
              <a:srgbClr val="F8C4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13232" y="292608"/>
            <a:ext cx="6949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1720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Simple business role placeholders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713232" y="658368"/>
            <a:ext cx="39319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cybozu-ish component library</a:t>
            </a:r>
            <a:endParaRPr lang="en-US" sz="680" dirty="0"/>
          </a:p>
        </p:txBody>
      </p:sp>
      <p:sp>
        <p:nvSpPr>
          <p:cNvPr id="7" name="Text 5"/>
          <p:cNvSpPr/>
          <p:nvPr/>
        </p:nvSpPr>
        <p:spPr>
          <a:xfrm>
            <a:off x="8183880" y="4736592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20" b="1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08</a:t>
            </a:r>
            <a:endParaRPr lang="en-US" sz="720" dirty="0"/>
          </a:p>
        </p:txBody>
      </p:sp>
      <p:sp>
        <p:nvSpPr>
          <p:cNvPr id="8" name="Text 6"/>
          <p:cNvSpPr/>
          <p:nvPr/>
        </p:nvSpPr>
        <p:spPr>
          <a:xfrm>
            <a:off x="713232" y="1033272"/>
            <a:ext cx="6217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4A556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源 PPT 的小人风格不统一。这里保留“业务场景角色”的位置，但用干净、统一、可重绘的占位体系。</a:t>
            </a:r>
            <a:endParaRPr lang="en-US" sz="920" dirty="0"/>
          </a:p>
        </p:txBody>
      </p:sp>
      <p:sp>
        <p:nvSpPr>
          <p:cNvPr id="9" name="Shape 7"/>
          <p:cNvSpPr/>
          <p:nvPr/>
        </p:nvSpPr>
        <p:spPr>
          <a:xfrm>
            <a:off x="1152144" y="1828800"/>
            <a:ext cx="256032" cy="256032"/>
          </a:xfrm>
          <a:prstGeom prst="ellipse">
            <a:avLst/>
          </a:prstGeom>
          <a:solidFill>
            <a:srgbClr val="FFFFFF"/>
          </a:solidFill>
          <a:ln w="13970">
            <a:solidFill>
              <a:srgbClr val="4A556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78992" y="2130552"/>
            <a:ext cx="411480" cy="512064"/>
          </a:xfrm>
          <a:prstGeom prst="roundRect">
            <a:avLst>
              <a:gd name="adj" fmla="val 26667"/>
            </a:avLst>
          </a:prstGeom>
          <a:solidFill>
            <a:srgbClr val="F8C400"/>
          </a:solidFill>
          <a:ln w="12700">
            <a:solidFill>
              <a:srgbClr val="F8C40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 rot="19500000">
            <a:off x="905256" y="2340864"/>
            <a:ext cx="301752" cy="27432"/>
          </a:xfrm>
          <a:prstGeom prst="rect">
            <a:avLst/>
          </a:prstGeom>
          <a:solidFill>
            <a:srgbClr val="4A5568"/>
          </a:solidFill>
          <a:ln w="12700">
            <a:solidFill>
              <a:srgbClr val="4A556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 rot="19500000">
            <a:off x="1426464" y="2231136"/>
            <a:ext cx="310896" cy="27432"/>
          </a:xfrm>
          <a:prstGeom prst="rect">
            <a:avLst/>
          </a:prstGeom>
          <a:solidFill>
            <a:srgbClr val="4A5568"/>
          </a:solidFill>
          <a:ln w="12700">
            <a:solidFill>
              <a:srgbClr val="4A556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 rot="18000000">
            <a:off x="1069848" y="2761488"/>
            <a:ext cx="310896" cy="27432"/>
          </a:xfrm>
          <a:prstGeom prst="rect">
            <a:avLst/>
          </a:prstGeom>
          <a:solidFill>
            <a:srgbClr val="4A5568"/>
          </a:solidFill>
          <a:ln w="12700">
            <a:solidFill>
              <a:srgbClr val="4A556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 rot="3600000">
            <a:off x="1316736" y="2761488"/>
            <a:ext cx="310896" cy="27432"/>
          </a:xfrm>
          <a:prstGeom prst="rect">
            <a:avLst/>
          </a:prstGeom>
          <a:solidFill>
            <a:srgbClr val="4A5568"/>
          </a:solidFill>
          <a:ln w="12700">
            <a:solidFill>
              <a:srgbClr val="4A556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1520" y="3035808"/>
            <a:ext cx="1097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30" dirty="0">
                <a:solidFill>
                  <a:srgbClr val="4A556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field user</a:t>
            </a:r>
            <a:endParaRPr lang="en-US" sz="630" dirty="0"/>
          </a:p>
        </p:txBody>
      </p:sp>
      <p:sp>
        <p:nvSpPr>
          <p:cNvPr id="16" name="Shape 14"/>
          <p:cNvSpPr/>
          <p:nvPr/>
        </p:nvSpPr>
        <p:spPr>
          <a:xfrm>
            <a:off x="2478024" y="1828800"/>
            <a:ext cx="256032" cy="256032"/>
          </a:xfrm>
          <a:prstGeom prst="ellipse">
            <a:avLst/>
          </a:prstGeom>
          <a:solidFill>
            <a:srgbClr val="FFFFFF"/>
          </a:solidFill>
          <a:ln w="13970">
            <a:solidFill>
              <a:srgbClr val="4A556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404872" y="2130552"/>
            <a:ext cx="411480" cy="512064"/>
          </a:xfrm>
          <a:prstGeom prst="roundRect">
            <a:avLst>
              <a:gd name="adj" fmla="val 26667"/>
            </a:avLst>
          </a:prstGeom>
          <a:solidFill>
            <a:srgbClr val="21A6B7"/>
          </a:solidFill>
          <a:ln w="12700">
            <a:solidFill>
              <a:srgbClr val="21A6B7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 rot="19500000">
            <a:off x="2231136" y="2340864"/>
            <a:ext cx="301752" cy="27432"/>
          </a:xfrm>
          <a:prstGeom prst="rect">
            <a:avLst/>
          </a:prstGeom>
          <a:solidFill>
            <a:srgbClr val="4A5568"/>
          </a:solidFill>
          <a:ln w="12700">
            <a:solidFill>
              <a:srgbClr val="4A556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 rot="19500000">
            <a:off x="2752344" y="2231136"/>
            <a:ext cx="310896" cy="27432"/>
          </a:xfrm>
          <a:prstGeom prst="rect">
            <a:avLst/>
          </a:prstGeom>
          <a:solidFill>
            <a:srgbClr val="4A5568"/>
          </a:solidFill>
          <a:ln w="12700">
            <a:solidFill>
              <a:srgbClr val="4A556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 rot="18000000">
            <a:off x="2395728" y="2761488"/>
            <a:ext cx="310896" cy="27432"/>
          </a:xfrm>
          <a:prstGeom prst="rect">
            <a:avLst/>
          </a:prstGeom>
          <a:solidFill>
            <a:srgbClr val="4A5568"/>
          </a:solidFill>
          <a:ln w="12700">
            <a:solidFill>
              <a:srgbClr val="4A556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 rot="3600000">
            <a:off x="2642616" y="2761488"/>
            <a:ext cx="310896" cy="27432"/>
          </a:xfrm>
          <a:prstGeom prst="rect">
            <a:avLst/>
          </a:prstGeom>
          <a:solidFill>
            <a:srgbClr val="4A5568"/>
          </a:solidFill>
          <a:ln w="12700">
            <a:solidFill>
              <a:srgbClr val="4A556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057400" y="3035808"/>
            <a:ext cx="1097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30" dirty="0">
                <a:solidFill>
                  <a:srgbClr val="4A556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manager</a:t>
            </a:r>
            <a:endParaRPr lang="en-US" sz="630" dirty="0"/>
          </a:p>
        </p:txBody>
      </p:sp>
      <p:sp>
        <p:nvSpPr>
          <p:cNvPr id="23" name="Shape 21"/>
          <p:cNvSpPr/>
          <p:nvPr/>
        </p:nvSpPr>
        <p:spPr>
          <a:xfrm>
            <a:off x="3803904" y="1828800"/>
            <a:ext cx="256032" cy="256032"/>
          </a:xfrm>
          <a:prstGeom prst="ellipse">
            <a:avLst/>
          </a:prstGeom>
          <a:solidFill>
            <a:srgbClr val="FFFFFF"/>
          </a:solidFill>
          <a:ln w="13970">
            <a:solidFill>
              <a:srgbClr val="4A556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730752" y="2130552"/>
            <a:ext cx="411480" cy="512064"/>
          </a:xfrm>
          <a:prstGeom prst="roundRect">
            <a:avLst>
              <a:gd name="adj" fmla="val 26667"/>
            </a:avLst>
          </a:prstGeom>
          <a:solidFill>
            <a:srgbClr val="F19A2A"/>
          </a:solidFill>
          <a:ln w="12700">
            <a:solidFill>
              <a:srgbClr val="F19A2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 rot="19500000">
            <a:off x="3557016" y="2340864"/>
            <a:ext cx="301752" cy="27432"/>
          </a:xfrm>
          <a:prstGeom prst="rect">
            <a:avLst/>
          </a:prstGeom>
          <a:solidFill>
            <a:srgbClr val="4A5568"/>
          </a:solidFill>
          <a:ln w="12700">
            <a:solidFill>
              <a:srgbClr val="4A556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 rot="19500000">
            <a:off x="4078224" y="2231136"/>
            <a:ext cx="310896" cy="27432"/>
          </a:xfrm>
          <a:prstGeom prst="rect">
            <a:avLst/>
          </a:prstGeom>
          <a:solidFill>
            <a:srgbClr val="4A5568"/>
          </a:solidFill>
          <a:ln w="12700">
            <a:solidFill>
              <a:srgbClr val="4A556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 rot="18000000">
            <a:off x="3721608" y="2761488"/>
            <a:ext cx="310896" cy="27432"/>
          </a:xfrm>
          <a:prstGeom prst="rect">
            <a:avLst/>
          </a:prstGeom>
          <a:solidFill>
            <a:srgbClr val="4A5568"/>
          </a:solidFill>
          <a:ln w="12700">
            <a:solidFill>
              <a:srgbClr val="4A556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 rot="3600000">
            <a:off x="3968496" y="2761488"/>
            <a:ext cx="310896" cy="27432"/>
          </a:xfrm>
          <a:prstGeom prst="rect">
            <a:avLst/>
          </a:prstGeom>
          <a:solidFill>
            <a:srgbClr val="4A5568"/>
          </a:solidFill>
          <a:ln w="12700">
            <a:solidFill>
              <a:srgbClr val="4A556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383280" y="3035808"/>
            <a:ext cx="1097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30" dirty="0">
                <a:solidFill>
                  <a:srgbClr val="4A556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admin</a:t>
            </a:r>
            <a:endParaRPr lang="en-US" sz="630" dirty="0"/>
          </a:p>
        </p:txBody>
      </p:sp>
      <p:sp>
        <p:nvSpPr>
          <p:cNvPr id="30" name="Shape 28"/>
          <p:cNvSpPr/>
          <p:nvPr/>
        </p:nvSpPr>
        <p:spPr>
          <a:xfrm>
            <a:off x="5129784" y="1828800"/>
            <a:ext cx="256032" cy="256032"/>
          </a:xfrm>
          <a:prstGeom prst="ellipse">
            <a:avLst/>
          </a:prstGeom>
          <a:solidFill>
            <a:srgbClr val="FFFFFF"/>
          </a:solidFill>
          <a:ln w="13970">
            <a:solidFill>
              <a:srgbClr val="4A5568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056632" y="2130552"/>
            <a:ext cx="411480" cy="512064"/>
          </a:xfrm>
          <a:prstGeom prst="roundRect">
            <a:avLst>
              <a:gd name="adj" fmla="val 26667"/>
            </a:avLst>
          </a:prstGeom>
          <a:solidFill>
            <a:srgbClr val="4BAE65"/>
          </a:solidFill>
          <a:ln w="12700">
            <a:solidFill>
              <a:srgbClr val="4BAE65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 rot="19500000">
            <a:off x="4882896" y="2340864"/>
            <a:ext cx="301752" cy="27432"/>
          </a:xfrm>
          <a:prstGeom prst="rect">
            <a:avLst/>
          </a:prstGeom>
          <a:solidFill>
            <a:srgbClr val="4A5568"/>
          </a:solidFill>
          <a:ln w="12700">
            <a:solidFill>
              <a:srgbClr val="4A5568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 rot="19500000">
            <a:off x="5404104" y="2231136"/>
            <a:ext cx="310896" cy="27432"/>
          </a:xfrm>
          <a:prstGeom prst="rect">
            <a:avLst/>
          </a:prstGeom>
          <a:solidFill>
            <a:srgbClr val="4A5568"/>
          </a:solidFill>
          <a:ln w="12700">
            <a:solidFill>
              <a:srgbClr val="4A5568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 rot="18000000">
            <a:off x="5047488" y="2761488"/>
            <a:ext cx="310896" cy="27432"/>
          </a:xfrm>
          <a:prstGeom prst="rect">
            <a:avLst/>
          </a:prstGeom>
          <a:solidFill>
            <a:srgbClr val="4A5568"/>
          </a:solidFill>
          <a:ln w="12700">
            <a:solidFill>
              <a:srgbClr val="4A5568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 rot="3600000">
            <a:off x="5294376" y="2761488"/>
            <a:ext cx="310896" cy="27432"/>
          </a:xfrm>
          <a:prstGeom prst="rect">
            <a:avLst/>
          </a:prstGeom>
          <a:solidFill>
            <a:srgbClr val="4A5568"/>
          </a:solidFill>
          <a:ln w="12700">
            <a:solidFill>
              <a:srgbClr val="4A556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709160" y="3035808"/>
            <a:ext cx="1097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30" dirty="0">
                <a:solidFill>
                  <a:srgbClr val="4A556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customer</a:t>
            </a:r>
            <a:endParaRPr lang="en-US" sz="630" dirty="0"/>
          </a:p>
        </p:txBody>
      </p:sp>
      <p:sp>
        <p:nvSpPr>
          <p:cNvPr id="37" name="Shape 35"/>
          <p:cNvSpPr/>
          <p:nvPr/>
        </p:nvSpPr>
        <p:spPr>
          <a:xfrm>
            <a:off x="6455664" y="1828800"/>
            <a:ext cx="256032" cy="256032"/>
          </a:xfrm>
          <a:prstGeom prst="ellipse">
            <a:avLst/>
          </a:prstGeom>
          <a:solidFill>
            <a:srgbClr val="FFFFFF"/>
          </a:solidFill>
          <a:ln w="13970">
            <a:solidFill>
              <a:srgbClr val="4A5568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382512" y="2130552"/>
            <a:ext cx="411480" cy="512064"/>
          </a:xfrm>
          <a:prstGeom prst="roundRect">
            <a:avLst>
              <a:gd name="adj" fmla="val 26667"/>
            </a:avLst>
          </a:prstGeom>
          <a:solidFill>
            <a:srgbClr val="3B82C4"/>
          </a:solidFill>
          <a:ln w="12700">
            <a:solidFill>
              <a:srgbClr val="3B82C4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 rot="19500000">
            <a:off x="6208776" y="2340864"/>
            <a:ext cx="301752" cy="27432"/>
          </a:xfrm>
          <a:prstGeom prst="rect">
            <a:avLst/>
          </a:prstGeom>
          <a:solidFill>
            <a:srgbClr val="4A5568"/>
          </a:solidFill>
          <a:ln w="12700">
            <a:solidFill>
              <a:srgbClr val="4A5568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 rot="19500000">
            <a:off x="6729984" y="2231136"/>
            <a:ext cx="310896" cy="27432"/>
          </a:xfrm>
          <a:prstGeom prst="rect">
            <a:avLst/>
          </a:prstGeom>
          <a:solidFill>
            <a:srgbClr val="4A5568"/>
          </a:solidFill>
          <a:ln w="12700">
            <a:solidFill>
              <a:srgbClr val="4A5568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 rot="18000000">
            <a:off x="6373368" y="2761488"/>
            <a:ext cx="310896" cy="27432"/>
          </a:xfrm>
          <a:prstGeom prst="rect">
            <a:avLst/>
          </a:prstGeom>
          <a:solidFill>
            <a:srgbClr val="4A5568"/>
          </a:solidFill>
          <a:ln w="12700">
            <a:solidFill>
              <a:srgbClr val="4A5568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 rot="3600000">
            <a:off x="6620256" y="2761488"/>
            <a:ext cx="310896" cy="27432"/>
          </a:xfrm>
          <a:prstGeom prst="rect">
            <a:avLst/>
          </a:prstGeom>
          <a:solidFill>
            <a:srgbClr val="4A5568"/>
          </a:solidFill>
          <a:ln w="12700">
            <a:solidFill>
              <a:srgbClr val="4A5568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035040" y="3035808"/>
            <a:ext cx="1097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30" dirty="0">
                <a:solidFill>
                  <a:srgbClr val="4A556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support</a:t>
            </a:r>
            <a:endParaRPr lang="en-US" sz="630" dirty="0"/>
          </a:p>
        </p:txBody>
      </p:sp>
      <p:sp>
        <p:nvSpPr>
          <p:cNvPr id="44" name="Shape 42"/>
          <p:cNvSpPr/>
          <p:nvPr/>
        </p:nvSpPr>
        <p:spPr>
          <a:xfrm>
            <a:off x="841248" y="4041648"/>
            <a:ext cx="7406640" cy="347472"/>
          </a:xfrm>
          <a:prstGeom prst="roundRect">
            <a:avLst>
              <a:gd name="adj" fmla="val 31579"/>
            </a:avLst>
          </a:prstGeom>
          <a:solidFill>
            <a:srgbClr val="FFF4CC"/>
          </a:solidFill>
          <a:ln w="12700">
            <a:solidFill>
              <a:srgbClr val="FFF4CC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1042416" y="4160520"/>
            <a:ext cx="699516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dirty="0">
                <a:solidFill>
                  <a:srgbClr val="4A55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these as placeholders until approved character or mascot assets exist.</a:t>
            </a:r>
            <a:endParaRPr lang="en-US" sz="68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5720"/>
            <a:ext cx="9144000" cy="73152"/>
          </a:xfrm>
          <a:prstGeom prst="rect">
            <a:avLst/>
          </a:prstGeom>
          <a:solidFill>
            <a:srgbClr val="F8C400"/>
          </a:solidFill>
          <a:ln w="12700">
            <a:solidFill>
              <a:srgbClr val="F8C4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10912"/>
            <a:ext cx="9144000" cy="73152"/>
          </a:xfrm>
          <a:prstGeom prst="rect">
            <a:avLst/>
          </a:prstGeom>
          <a:solidFill>
            <a:srgbClr val="F8C400"/>
          </a:solidFill>
          <a:ln w="12700">
            <a:solidFill>
              <a:srgbClr val="F8C4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438912"/>
            <a:ext cx="128016" cy="109728"/>
          </a:xfrm>
          <a:prstGeom prst="rect">
            <a:avLst/>
          </a:prstGeom>
          <a:solidFill>
            <a:srgbClr val="F8C400"/>
          </a:solidFill>
          <a:ln w="12700">
            <a:solidFill>
              <a:srgbClr val="F8C4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13232" y="292608"/>
            <a:ext cx="6949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1720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Product intro page skeleton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713232" y="658368"/>
            <a:ext cx="39319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cybozu-ish component library</a:t>
            </a:r>
            <a:endParaRPr lang="en-US" sz="680" dirty="0"/>
          </a:p>
        </p:txBody>
      </p:sp>
      <p:sp>
        <p:nvSpPr>
          <p:cNvPr id="7" name="Text 5"/>
          <p:cNvSpPr/>
          <p:nvPr/>
        </p:nvSpPr>
        <p:spPr>
          <a:xfrm>
            <a:off x="8183880" y="4736592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20" b="1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09</a:t>
            </a:r>
            <a:endParaRPr lang="en-US" sz="720" dirty="0"/>
          </a:p>
        </p:txBody>
      </p:sp>
      <p:sp>
        <p:nvSpPr>
          <p:cNvPr id="8" name="Shape 6"/>
          <p:cNvSpPr/>
          <p:nvPr/>
        </p:nvSpPr>
        <p:spPr>
          <a:xfrm>
            <a:off x="658368" y="960120"/>
            <a:ext cx="841248" cy="310896"/>
          </a:xfrm>
          <a:prstGeom prst="roundRect">
            <a:avLst>
              <a:gd name="adj" fmla="val 35294"/>
            </a:avLst>
          </a:prstGeom>
          <a:solidFill>
            <a:srgbClr val="F8C400"/>
          </a:solidFill>
          <a:ln w="12700">
            <a:solidFill>
              <a:srgbClr val="F8C4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68096" y="1047171"/>
            <a:ext cx="621792" cy="105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720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製品紹介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713232" y="1481328"/>
            <a:ext cx="3749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1720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現場の情報を一つの業務アプリに集約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731520" y="2212848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4A556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Screenshot-first ではなく、必要な画面だけを枠に入れ、周辺説明は editable な callout として残す。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4864608" y="1024128"/>
            <a:ext cx="3401568" cy="2423160"/>
          </a:xfrm>
          <a:prstGeom prst="roundRect">
            <a:avLst>
              <a:gd name="adj" fmla="val 3019"/>
            </a:avLst>
          </a:prstGeom>
          <a:solidFill>
            <a:srgbClr val="FFFFFF"/>
          </a:solidFill>
          <a:ln w="12700">
            <a:solidFill>
              <a:srgbClr val="D9DEE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864608" y="1024128"/>
            <a:ext cx="3401568" cy="329184"/>
          </a:xfrm>
          <a:prstGeom prst="rect">
            <a:avLst/>
          </a:prstGeom>
          <a:solidFill>
            <a:srgbClr val="F6F8FA"/>
          </a:solidFill>
          <a:ln w="12700">
            <a:solidFill>
              <a:srgbClr val="F6F8F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029200" y="1143000"/>
            <a:ext cx="822960" cy="82296"/>
          </a:xfrm>
          <a:prstGeom prst="rect">
            <a:avLst/>
          </a:prstGeom>
          <a:solidFill>
            <a:srgbClr val="F8C400"/>
          </a:solidFill>
          <a:ln w="12700">
            <a:solidFill>
              <a:srgbClr val="F8C40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552944" y="1115568"/>
            <a:ext cx="420624" cy="128016"/>
          </a:xfrm>
          <a:prstGeom prst="roundRect">
            <a:avLst>
              <a:gd name="adj" fmla="val 28571"/>
            </a:avLst>
          </a:prstGeom>
          <a:solidFill>
            <a:srgbClr val="D9DEE7"/>
          </a:solidFill>
          <a:ln w="12700">
            <a:solidFill>
              <a:srgbClr val="D9DEE7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065776" y="1554480"/>
            <a:ext cx="1428659" cy="1673352"/>
          </a:xfrm>
          <a:prstGeom prst="roundRect">
            <a:avLst>
              <a:gd name="adj" fmla="val 2560"/>
            </a:avLst>
          </a:prstGeom>
          <a:solidFill>
            <a:srgbClr val="F6F8FA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212080" y="1737360"/>
            <a:ext cx="118872" cy="118872"/>
          </a:xfrm>
          <a:prstGeom prst="ellipse">
            <a:avLst/>
          </a:prstGeom>
          <a:solidFill>
            <a:srgbClr val="F8C40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413248" y="1764792"/>
            <a:ext cx="884408" cy="45720"/>
          </a:xfrm>
          <a:prstGeom prst="rect">
            <a:avLst/>
          </a:prstGeom>
          <a:solidFill>
            <a:srgbClr val="D9DEE7"/>
          </a:solidFill>
          <a:ln w="12700">
            <a:solidFill>
              <a:srgbClr val="D9DEE7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413248" y="1865376"/>
            <a:ext cx="612282" cy="36576"/>
          </a:xfrm>
          <a:prstGeom prst="rect">
            <a:avLst/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212080" y="2057400"/>
            <a:ext cx="118872" cy="118872"/>
          </a:xfrm>
          <a:prstGeom prst="ellipse">
            <a:avLst/>
          </a:prstGeom>
          <a:solidFill>
            <a:srgbClr val="21A6B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413248" y="2084832"/>
            <a:ext cx="884408" cy="45720"/>
          </a:xfrm>
          <a:prstGeom prst="rect">
            <a:avLst/>
          </a:prstGeom>
          <a:solidFill>
            <a:srgbClr val="D9DEE7"/>
          </a:solidFill>
          <a:ln w="12700">
            <a:solidFill>
              <a:srgbClr val="D9DEE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413248" y="2185416"/>
            <a:ext cx="612282" cy="36576"/>
          </a:xfrm>
          <a:prstGeom prst="rect">
            <a:avLst/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212080" y="2377440"/>
            <a:ext cx="118872" cy="118872"/>
          </a:xfrm>
          <a:prstGeom prst="ellipse">
            <a:avLst/>
          </a:prstGeom>
          <a:solidFill>
            <a:srgbClr val="F19A2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413248" y="2404872"/>
            <a:ext cx="884408" cy="45720"/>
          </a:xfrm>
          <a:prstGeom prst="rect">
            <a:avLst/>
          </a:prstGeom>
          <a:solidFill>
            <a:srgbClr val="D9DEE7"/>
          </a:solidFill>
          <a:ln w="12700">
            <a:solidFill>
              <a:srgbClr val="D9DEE7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413248" y="2505456"/>
            <a:ext cx="612282" cy="36576"/>
          </a:xfrm>
          <a:prstGeom prst="rect">
            <a:avLst/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212080" y="2697480"/>
            <a:ext cx="118872" cy="118872"/>
          </a:xfrm>
          <a:prstGeom prst="ellipse">
            <a:avLst/>
          </a:prstGeom>
          <a:solidFill>
            <a:srgbClr val="4BAE6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413248" y="2724912"/>
            <a:ext cx="884408" cy="45720"/>
          </a:xfrm>
          <a:prstGeom prst="rect">
            <a:avLst/>
          </a:prstGeom>
          <a:solidFill>
            <a:srgbClr val="D9DEE7"/>
          </a:solidFill>
          <a:ln w="12700">
            <a:solidFill>
              <a:srgbClr val="D9DEE7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413248" y="2825496"/>
            <a:ext cx="612282" cy="36576"/>
          </a:xfrm>
          <a:prstGeom prst="rect">
            <a:avLst/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212080" y="3017520"/>
            <a:ext cx="118872" cy="118872"/>
          </a:xfrm>
          <a:prstGeom prst="ellipse">
            <a:avLst/>
          </a:prstGeom>
          <a:solidFill>
            <a:srgbClr val="3B82C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413248" y="3044952"/>
            <a:ext cx="884408" cy="45720"/>
          </a:xfrm>
          <a:prstGeom prst="rect">
            <a:avLst/>
          </a:prstGeom>
          <a:solidFill>
            <a:srgbClr val="D9DEE7"/>
          </a:solidFill>
          <a:ln w="12700">
            <a:solidFill>
              <a:srgbClr val="D9DEE7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413248" y="3145536"/>
            <a:ext cx="612282" cy="36576"/>
          </a:xfrm>
          <a:prstGeom prst="rect">
            <a:avLst/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701455" y="2734056"/>
            <a:ext cx="182880" cy="457200"/>
          </a:xfrm>
          <a:prstGeom prst="roundRect">
            <a:avLst>
              <a:gd name="adj" fmla="val 15000"/>
            </a:avLst>
          </a:prstGeom>
          <a:solidFill>
            <a:srgbClr val="F8C40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012351" y="2596896"/>
            <a:ext cx="182880" cy="594360"/>
          </a:xfrm>
          <a:prstGeom prst="roundRect">
            <a:avLst>
              <a:gd name="adj" fmla="val 15000"/>
            </a:avLst>
          </a:prstGeom>
          <a:solidFill>
            <a:srgbClr val="21A6B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7323247" y="2459736"/>
            <a:ext cx="182880" cy="731520"/>
          </a:xfrm>
          <a:prstGeom prst="roundRect">
            <a:avLst>
              <a:gd name="adj" fmla="val 15000"/>
            </a:avLst>
          </a:prstGeom>
          <a:solidFill>
            <a:srgbClr val="4BAE6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634143" y="2322576"/>
            <a:ext cx="182880" cy="868680"/>
          </a:xfrm>
          <a:prstGeom prst="roundRect">
            <a:avLst>
              <a:gd name="adj" fmla="val 15000"/>
            </a:avLst>
          </a:prstGeom>
          <a:solidFill>
            <a:srgbClr val="F19A2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278624" y="2414016"/>
            <a:ext cx="621792" cy="621792"/>
          </a:xfrm>
          <a:prstGeom prst="ellipse">
            <a:avLst/>
          </a:prstGeom>
          <a:solidFill>
            <a:srgbClr val="F8C400"/>
          </a:solidFill>
          <a:ln w="12700">
            <a:solidFill>
              <a:srgbClr val="F8C40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7406640" y="2542032"/>
            <a:ext cx="365760" cy="365760"/>
          </a:xfrm>
          <a:prstGeom prst="ellipse">
            <a:avLst/>
          </a:prstGeom>
          <a:solidFill>
            <a:srgbClr val="4BAE65"/>
          </a:solidFill>
          <a:ln w="12700">
            <a:solidFill>
              <a:srgbClr val="4BAE65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960120" y="3127248"/>
            <a:ext cx="310896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5240">
            <a:solidFill>
              <a:srgbClr val="F8C40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 rot="16200000">
            <a:off x="850392" y="3369747"/>
            <a:ext cx="182880" cy="164592"/>
          </a:xfrm>
          <a:prstGeom prst="triangle">
            <a:avLst/>
          </a:prstGeom>
          <a:solidFill>
            <a:srgbClr val="FFFFFF"/>
          </a:solidFill>
          <a:ln w="12700">
            <a:solidFill>
              <a:srgbClr val="F8C40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106424" y="3246120"/>
            <a:ext cx="2852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1720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入力・一覧・集計を同じ場所に</a:t>
            </a:r>
            <a:endParaRPr lang="en-US" sz="880" dirty="0"/>
          </a:p>
        </p:txBody>
      </p:sp>
      <p:sp>
        <p:nvSpPr>
          <p:cNvPr id="41" name="Text 39"/>
          <p:cNvSpPr/>
          <p:nvPr/>
        </p:nvSpPr>
        <p:spPr>
          <a:xfrm>
            <a:off x="1106424" y="3493008"/>
            <a:ext cx="2852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4A556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提案資料では UI の忠実再現より、何が変わるかを短く示す。</a:t>
            </a:r>
            <a:endParaRPr lang="en-US" sz="680" dirty="0"/>
          </a:p>
        </p:txBody>
      </p:sp>
      <p:sp>
        <p:nvSpPr>
          <p:cNvPr id="42" name="Shape 40"/>
          <p:cNvSpPr/>
          <p:nvPr/>
        </p:nvSpPr>
        <p:spPr>
          <a:xfrm>
            <a:off x="4133088" y="2816352"/>
            <a:ext cx="694944" cy="658368"/>
          </a:xfrm>
          <a:prstGeom prst="line">
            <a:avLst/>
          </a:prstGeom>
          <a:noFill/>
          <a:ln w="15240">
            <a:solidFill>
              <a:srgbClr val="E8AA00"/>
            </a:solidFill>
            <a:prstDash val="solid"/>
            <a:headEnd type="none"/>
            <a:tailEnd type="triangle"/>
          </a:ln>
        </p:spPr>
      </p:sp>
      <p:sp>
        <p:nvSpPr>
          <p:cNvPr id="43" name="Shape 41"/>
          <p:cNvSpPr/>
          <p:nvPr/>
        </p:nvSpPr>
        <p:spPr>
          <a:xfrm>
            <a:off x="7808976" y="3584448"/>
            <a:ext cx="256032" cy="256032"/>
          </a:xfrm>
          <a:prstGeom prst="ellipse">
            <a:avLst/>
          </a:prstGeom>
          <a:solidFill>
            <a:srgbClr val="FFFFFF"/>
          </a:solidFill>
          <a:ln w="13970">
            <a:solidFill>
              <a:srgbClr val="4A5568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7735824" y="3886200"/>
            <a:ext cx="411480" cy="512064"/>
          </a:xfrm>
          <a:prstGeom prst="roundRect">
            <a:avLst>
              <a:gd name="adj" fmla="val 26667"/>
            </a:avLst>
          </a:prstGeom>
          <a:solidFill>
            <a:srgbClr val="F8C400"/>
          </a:solidFill>
          <a:ln w="12700">
            <a:solidFill>
              <a:srgbClr val="F8C400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 rot="19500000">
            <a:off x="7562088" y="4096512"/>
            <a:ext cx="301752" cy="27432"/>
          </a:xfrm>
          <a:prstGeom prst="rect">
            <a:avLst/>
          </a:prstGeom>
          <a:solidFill>
            <a:srgbClr val="4A5568"/>
          </a:solidFill>
          <a:ln w="12700">
            <a:solidFill>
              <a:srgbClr val="4A5568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 rot="19500000">
            <a:off x="8083296" y="3986784"/>
            <a:ext cx="310896" cy="27432"/>
          </a:xfrm>
          <a:prstGeom prst="rect">
            <a:avLst/>
          </a:prstGeom>
          <a:solidFill>
            <a:srgbClr val="4A5568"/>
          </a:solidFill>
          <a:ln w="12700">
            <a:solidFill>
              <a:srgbClr val="4A5568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 rot="18000000">
            <a:off x="7726680" y="4517136"/>
            <a:ext cx="310896" cy="27432"/>
          </a:xfrm>
          <a:prstGeom prst="rect">
            <a:avLst/>
          </a:prstGeom>
          <a:solidFill>
            <a:srgbClr val="4A5568"/>
          </a:solidFill>
          <a:ln w="12700">
            <a:solidFill>
              <a:srgbClr val="4A5568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 rot="3600000">
            <a:off x="7973568" y="4517136"/>
            <a:ext cx="310896" cy="27432"/>
          </a:xfrm>
          <a:prstGeom prst="rect">
            <a:avLst/>
          </a:prstGeom>
          <a:solidFill>
            <a:srgbClr val="4A5568"/>
          </a:solidFill>
          <a:ln w="12700">
            <a:solidFill>
              <a:srgbClr val="4A5568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7388352" y="4791456"/>
            <a:ext cx="1097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30" dirty="0">
                <a:solidFill>
                  <a:srgbClr val="4A556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user</a:t>
            </a:r>
            <a:endParaRPr lang="en-US" sz="63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5720"/>
            <a:ext cx="9144000" cy="73152"/>
          </a:xfrm>
          <a:prstGeom prst="rect">
            <a:avLst/>
          </a:prstGeom>
          <a:solidFill>
            <a:srgbClr val="F8C400"/>
          </a:solidFill>
          <a:ln w="12700">
            <a:solidFill>
              <a:srgbClr val="F8C4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10912"/>
            <a:ext cx="9144000" cy="73152"/>
          </a:xfrm>
          <a:prstGeom prst="rect">
            <a:avLst/>
          </a:prstGeom>
          <a:solidFill>
            <a:srgbClr val="F8C400"/>
          </a:solidFill>
          <a:ln w="12700">
            <a:solidFill>
              <a:srgbClr val="F8C4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438912"/>
            <a:ext cx="128016" cy="109728"/>
          </a:xfrm>
          <a:prstGeom prst="rect">
            <a:avLst/>
          </a:prstGeom>
          <a:solidFill>
            <a:srgbClr val="F8C400"/>
          </a:solidFill>
          <a:ln w="12700">
            <a:solidFill>
              <a:srgbClr val="F8C4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13232" y="292608"/>
            <a:ext cx="6949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1720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Industry proposal one-pager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713232" y="658368"/>
            <a:ext cx="39319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cybozu-ish component library</a:t>
            </a:r>
            <a:endParaRPr lang="en-US" sz="680" dirty="0"/>
          </a:p>
        </p:txBody>
      </p:sp>
      <p:sp>
        <p:nvSpPr>
          <p:cNvPr id="7" name="Text 5"/>
          <p:cNvSpPr/>
          <p:nvPr/>
        </p:nvSpPr>
        <p:spPr>
          <a:xfrm>
            <a:off x="8183880" y="4736592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20" b="1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</a:t>
            </a:r>
            <a:endParaRPr lang="en-US" sz="720" dirty="0"/>
          </a:p>
        </p:txBody>
      </p:sp>
      <p:sp>
        <p:nvSpPr>
          <p:cNvPr id="8" name="Shape 6"/>
          <p:cNvSpPr/>
          <p:nvPr/>
        </p:nvSpPr>
        <p:spPr>
          <a:xfrm>
            <a:off x="658368" y="941832"/>
            <a:ext cx="960120" cy="310896"/>
          </a:xfrm>
          <a:prstGeom prst="roundRect">
            <a:avLst>
              <a:gd name="adj" fmla="val 35294"/>
            </a:avLst>
          </a:prstGeom>
          <a:solidFill>
            <a:srgbClr val="F8C400"/>
          </a:solidFill>
          <a:ln w="12700">
            <a:solidFill>
              <a:srgbClr val="F8C4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68096" y="1028883"/>
            <a:ext cx="740664" cy="105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720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製造業向け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713232" y="1426464"/>
            <a:ext cx="5394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720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設備・品質・受発注の現場データを横断管理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731520" y="1847088"/>
            <a:ext cx="4206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dirty="0">
                <a:solidFill>
                  <a:srgbClr val="4A556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 枚で課題、パック構成、導入後の見え方を示す提案骨格。</a:t>
            </a:r>
            <a:endParaRPr lang="en-US" sz="840" dirty="0"/>
          </a:p>
        </p:txBody>
      </p:sp>
      <p:sp>
        <p:nvSpPr>
          <p:cNvPr id="12" name="Shape 10"/>
          <p:cNvSpPr/>
          <p:nvPr/>
        </p:nvSpPr>
        <p:spPr>
          <a:xfrm>
            <a:off x="731520" y="2359152"/>
            <a:ext cx="2395728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D9DEE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31520" y="2359152"/>
            <a:ext cx="73152" cy="960120"/>
          </a:xfrm>
          <a:prstGeom prst="rect">
            <a:avLst/>
          </a:prstGeom>
          <a:solidFill>
            <a:srgbClr val="F8C400"/>
          </a:solidFill>
          <a:ln w="12700">
            <a:solidFill>
              <a:srgbClr val="F8C40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78408" y="2587752"/>
            <a:ext cx="384048" cy="384048"/>
          </a:xfrm>
          <a:prstGeom prst="ellipse">
            <a:avLst/>
          </a:prstGeom>
          <a:solidFill>
            <a:srgbClr val="F8C400"/>
          </a:solidFill>
          <a:ln w="12700">
            <a:solidFill>
              <a:srgbClr val="F8C4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78408" y="2688336"/>
            <a:ext cx="3840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740" dirty="0"/>
          </a:p>
        </p:txBody>
      </p:sp>
      <p:sp>
        <p:nvSpPr>
          <p:cNvPr id="16" name="Text 14"/>
          <p:cNvSpPr/>
          <p:nvPr/>
        </p:nvSpPr>
        <p:spPr>
          <a:xfrm>
            <a:off x="1517904" y="2569464"/>
            <a:ext cx="14081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b="1" dirty="0">
                <a:solidFill>
                  <a:srgbClr val="1720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現場入力</a:t>
            </a:r>
            <a:endParaRPr lang="en-US" sz="1120" dirty="0"/>
          </a:p>
        </p:txBody>
      </p:sp>
      <p:sp>
        <p:nvSpPr>
          <p:cNvPr id="17" name="Text 15"/>
          <p:cNvSpPr/>
          <p:nvPr/>
        </p:nvSpPr>
        <p:spPr>
          <a:xfrm>
            <a:off x="1517904" y="2926080"/>
            <a:ext cx="140817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30" dirty="0">
                <a:solidFill>
                  <a:srgbClr val="4A556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設備点検、不良、作業記録を標準フォーム化。</a:t>
            </a:r>
            <a:endParaRPr lang="en-US" sz="730" dirty="0"/>
          </a:p>
        </p:txBody>
      </p:sp>
      <p:sp>
        <p:nvSpPr>
          <p:cNvPr id="18" name="Shape 16"/>
          <p:cNvSpPr/>
          <p:nvPr/>
        </p:nvSpPr>
        <p:spPr>
          <a:xfrm>
            <a:off x="3401568" y="2359152"/>
            <a:ext cx="2395728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D9DEE7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401568" y="2359152"/>
            <a:ext cx="73152" cy="960120"/>
          </a:xfrm>
          <a:prstGeom prst="rect">
            <a:avLst/>
          </a:prstGeom>
          <a:solidFill>
            <a:srgbClr val="F19A2A"/>
          </a:solidFill>
          <a:ln w="12700">
            <a:solidFill>
              <a:srgbClr val="F19A2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648456" y="2587752"/>
            <a:ext cx="384048" cy="384048"/>
          </a:xfrm>
          <a:prstGeom prst="ellipse">
            <a:avLst/>
          </a:prstGeom>
          <a:solidFill>
            <a:srgbClr val="F19A2A"/>
          </a:solidFill>
          <a:ln w="12700">
            <a:solidFill>
              <a:srgbClr val="F19A2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48456" y="2688336"/>
            <a:ext cx="3840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740" dirty="0"/>
          </a:p>
        </p:txBody>
      </p:sp>
      <p:sp>
        <p:nvSpPr>
          <p:cNvPr id="22" name="Text 20"/>
          <p:cNvSpPr/>
          <p:nvPr/>
        </p:nvSpPr>
        <p:spPr>
          <a:xfrm>
            <a:off x="4187952" y="2569464"/>
            <a:ext cx="14081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b="1" dirty="0">
                <a:solidFill>
                  <a:srgbClr val="1720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承認・通知</a:t>
            </a:r>
            <a:endParaRPr lang="en-US" sz="1120" dirty="0"/>
          </a:p>
        </p:txBody>
      </p:sp>
      <p:sp>
        <p:nvSpPr>
          <p:cNvPr id="23" name="Text 21"/>
          <p:cNvSpPr/>
          <p:nvPr/>
        </p:nvSpPr>
        <p:spPr>
          <a:xfrm>
            <a:off x="4187952" y="2926080"/>
            <a:ext cx="140817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30" dirty="0">
                <a:solidFill>
                  <a:srgbClr val="4A556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異常値や差戻しを担当者へすぐ共有。</a:t>
            </a:r>
            <a:endParaRPr lang="en-US" sz="730" dirty="0"/>
          </a:p>
        </p:txBody>
      </p:sp>
      <p:sp>
        <p:nvSpPr>
          <p:cNvPr id="24" name="Shape 22"/>
          <p:cNvSpPr/>
          <p:nvPr/>
        </p:nvSpPr>
        <p:spPr>
          <a:xfrm>
            <a:off x="6071616" y="2359152"/>
            <a:ext cx="2395728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D9DEE7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071616" y="2359152"/>
            <a:ext cx="73152" cy="960120"/>
          </a:xfrm>
          <a:prstGeom prst="rect">
            <a:avLst/>
          </a:prstGeom>
          <a:solidFill>
            <a:srgbClr val="21A6B7"/>
          </a:solidFill>
          <a:ln w="12700">
            <a:solidFill>
              <a:srgbClr val="21A6B7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318504" y="2587752"/>
            <a:ext cx="384048" cy="384048"/>
          </a:xfrm>
          <a:prstGeom prst="ellipse">
            <a:avLst/>
          </a:prstGeom>
          <a:solidFill>
            <a:srgbClr val="21A6B7"/>
          </a:solidFill>
          <a:ln w="12700">
            <a:solidFill>
              <a:srgbClr val="21A6B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318504" y="2688336"/>
            <a:ext cx="3840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740" dirty="0"/>
          </a:p>
        </p:txBody>
      </p:sp>
      <p:sp>
        <p:nvSpPr>
          <p:cNvPr id="28" name="Text 26"/>
          <p:cNvSpPr/>
          <p:nvPr/>
        </p:nvSpPr>
        <p:spPr>
          <a:xfrm>
            <a:off x="6858000" y="2569464"/>
            <a:ext cx="14081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b="1" dirty="0">
                <a:solidFill>
                  <a:srgbClr val="1720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改善分析</a:t>
            </a:r>
            <a:endParaRPr lang="en-US" sz="1120" dirty="0"/>
          </a:p>
        </p:txBody>
      </p:sp>
      <p:sp>
        <p:nvSpPr>
          <p:cNvPr id="29" name="Text 27"/>
          <p:cNvSpPr/>
          <p:nvPr/>
        </p:nvSpPr>
        <p:spPr>
          <a:xfrm>
            <a:off x="6858000" y="2926080"/>
            <a:ext cx="140817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30" dirty="0">
                <a:solidFill>
                  <a:srgbClr val="4A556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月次集計と改善アクションを同じ型で管理。</a:t>
            </a:r>
            <a:endParaRPr lang="en-US" sz="730" dirty="0"/>
          </a:p>
        </p:txBody>
      </p:sp>
      <p:sp>
        <p:nvSpPr>
          <p:cNvPr id="30" name="Shape 28"/>
          <p:cNvSpPr/>
          <p:nvPr/>
        </p:nvSpPr>
        <p:spPr>
          <a:xfrm>
            <a:off x="749808" y="3767328"/>
            <a:ext cx="7662672" cy="384048"/>
          </a:xfrm>
          <a:prstGeom prst="roundRect">
            <a:avLst>
              <a:gd name="adj" fmla="val 28571"/>
            </a:avLst>
          </a:prstGeom>
          <a:solidFill>
            <a:srgbClr val="FFF4CC"/>
          </a:solidFill>
          <a:ln w="12700">
            <a:solidFill>
              <a:srgbClr val="FFF4C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60120" y="3904488"/>
            <a:ext cx="722376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dirty="0">
                <a:solidFill>
                  <a:srgbClr val="4A55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Proposal rule: fewer screenshots, stronger claim title, editable business structure.</a:t>
            </a:r>
            <a:endParaRPr lang="en-US" sz="68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5720"/>
            <a:ext cx="9144000" cy="73152"/>
          </a:xfrm>
          <a:prstGeom prst="rect">
            <a:avLst/>
          </a:prstGeom>
          <a:solidFill>
            <a:srgbClr val="F8C400"/>
          </a:solidFill>
          <a:ln w="12700">
            <a:solidFill>
              <a:srgbClr val="F8C4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10912"/>
            <a:ext cx="9144000" cy="73152"/>
          </a:xfrm>
          <a:prstGeom prst="rect">
            <a:avLst/>
          </a:prstGeom>
          <a:solidFill>
            <a:srgbClr val="F8C400"/>
          </a:solidFill>
          <a:ln w="12700">
            <a:solidFill>
              <a:srgbClr val="F8C4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438912"/>
            <a:ext cx="128016" cy="109728"/>
          </a:xfrm>
          <a:prstGeom prst="rect">
            <a:avLst/>
          </a:prstGeom>
          <a:solidFill>
            <a:srgbClr val="F8C400"/>
          </a:solidFill>
          <a:ln w="12700">
            <a:solidFill>
              <a:srgbClr val="F8C4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13232" y="292608"/>
            <a:ext cx="6949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1720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Implementation path / next action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713232" y="658368"/>
            <a:ext cx="39319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cybozu-ish component library</a:t>
            </a:r>
            <a:endParaRPr lang="en-US" sz="680" dirty="0"/>
          </a:p>
        </p:txBody>
      </p:sp>
      <p:sp>
        <p:nvSpPr>
          <p:cNvPr id="7" name="Text 5"/>
          <p:cNvSpPr/>
          <p:nvPr/>
        </p:nvSpPr>
        <p:spPr>
          <a:xfrm>
            <a:off x="8183880" y="4736592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20" b="1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</a:t>
            </a:r>
            <a:endParaRPr lang="en-US" sz="720" dirty="0"/>
          </a:p>
        </p:txBody>
      </p:sp>
      <p:sp>
        <p:nvSpPr>
          <p:cNvPr id="8" name="Shape 6"/>
          <p:cNvSpPr/>
          <p:nvPr/>
        </p:nvSpPr>
        <p:spPr>
          <a:xfrm>
            <a:off x="658368" y="960120"/>
            <a:ext cx="1078992" cy="310896"/>
          </a:xfrm>
          <a:prstGeom prst="roundRect">
            <a:avLst>
              <a:gd name="adj" fmla="val 35294"/>
            </a:avLst>
          </a:prstGeom>
          <a:solidFill>
            <a:srgbClr val="F8C400"/>
          </a:solidFill>
          <a:ln w="12700">
            <a:solidFill>
              <a:srgbClr val="F8C4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68096" y="1047171"/>
            <a:ext cx="859536" cy="105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720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導入ステップ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1252728" y="1572768"/>
            <a:ext cx="475488" cy="475488"/>
          </a:xfrm>
          <a:prstGeom prst="ellipse">
            <a:avLst/>
          </a:prstGeom>
          <a:solidFill>
            <a:srgbClr val="F8C400"/>
          </a:solidFill>
          <a:ln w="12700">
            <a:solidFill>
              <a:srgbClr val="F8C4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252728" y="1700784"/>
            <a:ext cx="47548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749808" y="2231136"/>
            <a:ext cx="1481328" cy="950976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9DEE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32688" y="2450592"/>
            <a:ext cx="11155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720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現状整理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932688" y="2743200"/>
            <a:ext cx="11155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50" dirty="0">
                <a:solidFill>
                  <a:srgbClr val="4A556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対象業務と帳票を確認</a:t>
            </a:r>
            <a:endParaRPr lang="en-US" sz="650" dirty="0"/>
          </a:p>
        </p:txBody>
      </p:sp>
      <p:sp>
        <p:nvSpPr>
          <p:cNvPr id="15" name="Shape 13"/>
          <p:cNvSpPr/>
          <p:nvPr/>
        </p:nvSpPr>
        <p:spPr>
          <a:xfrm>
            <a:off x="2359152" y="2542032"/>
            <a:ext cx="347472" cy="201168"/>
          </a:xfrm>
          <a:prstGeom prst="rightArrow">
            <a:avLst/>
          </a:prstGeom>
          <a:solidFill>
            <a:srgbClr val="F8C400"/>
          </a:solidFill>
          <a:ln w="12700">
            <a:solidFill>
              <a:srgbClr val="F8C40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291840" y="1572768"/>
            <a:ext cx="475488" cy="475488"/>
          </a:xfrm>
          <a:prstGeom prst="ellipse">
            <a:avLst/>
          </a:prstGeom>
          <a:solidFill>
            <a:srgbClr val="21A6B7"/>
          </a:solidFill>
          <a:ln w="12700">
            <a:solidFill>
              <a:srgbClr val="21A6B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91840" y="1700784"/>
            <a:ext cx="47548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2788920" y="2231136"/>
            <a:ext cx="1481328" cy="950976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9DEE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971800" y="2450592"/>
            <a:ext cx="11155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720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小さく構築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2971800" y="2743200"/>
            <a:ext cx="11155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50" dirty="0">
                <a:solidFill>
                  <a:srgbClr val="4A556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 業務からアプリ化</a:t>
            </a:r>
            <a:endParaRPr lang="en-US" sz="650" dirty="0"/>
          </a:p>
        </p:txBody>
      </p:sp>
      <p:sp>
        <p:nvSpPr>
          <p:cNvPr id="21" name="Shape 19"/>
          <p:cNvSpPr/>
          <p:nvPr/>
        </p:nvSpPr>
        <p:spPr>
          <a:xfrm>
            <a:off x="4398264" y="2542032"/>
            <a:ext cx="347472" cy="201168"/>
          </a:xfrm>
          <a:prstGeom prst="rightArrow">
            <a:avLst/>
          </a:prstGeom>
          <a:solidFill>
            <a:srgbClr val="F8C400"/>
          </a:solidFill>
          <a:ln w="12700">
            <a:solidFill>
              <a:srgbClr val="F8C40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330952" y="1572768"/>
            <a:ext cx="475488" cy="475488"/>
          </a:xfrm>
          <a:prstGeom prst="ellipse">
            <a:avLst/>
          </a:prstGeom>
          <a:solidFill>
            <a:srgbClr val="F19A2A"/>
          </a:solidFill>
          <a:ln w="12700">
            <a:solidFill>
              <a:srgbClr val="F19A2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330952" y="1700784"/>
            <a:ext cx="47548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828032" y="2231136"/>
            <a:ext cx="1481328" cy="950976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9DEE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10912" y="2450592"/>
            <a:ext cx="11155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720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現場検証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5010912" y="2743200"/>
            <a:ext cx="11155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50" dirty="0">
                <a:solidFill>
                  <a:srgbClr val="4A556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入力負荷と権限を調整</a:t>
            </a:r>
            <a:endParaRPr lang="en-US" sz="650" dirty="0"/>
          </a:p>
        </p:txBody>
      </p:sp>
      <p:sp>
        <p:nvSpPr>
          <p:cNvPr id="27" name="Shape 25"/>
          <p:cNvSpPr/>
          <p:nvPr/>
        </p:nvSpPr>
        <p:spPr>
          <a:xfrm>
            <a:off x="6437376" y="2542032"/>
            <a:ext cx="347472" cy="201168"/>
          </a:xfrm>
          <a:prstGeom prst="rightArrow">
            <a:avLst/>
          </a:prstGeom>
          <a:solidFill>
            <a:srgbClr val="F8C400"/>
          </a:solidFill>
          <a:ln w="12700">
            <a:solidFill>
              <a:srgbClr val="F8C40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370064" y="1572768"/>
            <a:ext cx="475488" cy="475488"/>
          </a:xfrm>
          <a:prstGeom prst="ellipse">
            <a:avLst/>
          </a:prstGeom>
          <a:solidFill>
            <a:srgbClr val="4BAE65"/>
          </a:solidFill>
          <a:ln w="12700">
            <a:solidFill>
              <a:srgbClr val="4BAE6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370064" y="1700784"/>
            <a:ext cx="47548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6867144" y="2231136"/>
            <a:ext cx="1481328" cy="950976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9DEE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050024" y="2450592"/>
            <a:ext cx="11155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720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横展開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7050024" y="2743200"/>
            <a:ext cx="11155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50" dirty="0">
                <a:solidFill>
                  <a:srgbClr val="4A556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成功パターンを他部門へ</a:t>
            </a:r>
            <a:endParaRPr lang="en-US" sz="650" dirty="0"/>
          </a:p>
        </p:txBody>
      </p:sp>
      <p:sp>
        <p:nvSpPr>
          <p:cNvPr id="33" name="Shape 31"/>
          <p:cNvSpPr/>
          <p:nvPr/>
        </p:nvSpPr>
        <p:spPr>
          <a:xfrm>
            <a:off x="1024128" y="3886200"/>
            <a:ext cx="7086600" cy="475488"/>
          </a:xfrm>
          <a:prstGeom prst="roundRect">
            <a:avLst>
              <a:gd name="adj" fmla="val 26923"/>
            </a:avLst>
          </a:prstGeom>
          <a:solidFill>
            <a:srgbClr val="F8C400"/>
          </a:solidFill>
          <a:ln w="12700">
            <a:solidFill>
              <a:srgbClr val="F8C40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225296" y="4041648"/>
            <a:ext cx="6675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720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次のアクション: 対象業務を 1 つ選び、30 分で画面と運用を確認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Yu Gothi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Yu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cybozu-style-ppt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cybozu-ish editable PPT components</dc:title>
  <dc:subject>Editable cybozu-ish PowerPoint component library</dc:subject>
  <dc:creator>cybozu-style-ppt</dc:creator>
  <cp:lastModifiedBy>cybozu-style-ppt</cp:lastModifiedBy>
  <cp:revision>1</cp:revision>
  <dcterms:created xsi:type="dcterms:W3CDTF">2026-06-16T09:17:58Z</dcterms:created>
  <dcterms:modified xsi:type="dcterms:W3CDTF">2026-06-16T09:17:58Z</dcterms:modified>
</cp:coreProperties>
</file>